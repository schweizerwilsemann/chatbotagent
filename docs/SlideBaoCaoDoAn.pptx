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</p:sldMasterIdLst>
  <p:notesMasterIdLst>
    <p:notesMasterId r:id="rId25"/>
  </p:notesMasterIdLst>
  <p:sldIdLst>
    <p:sldId id="258" r:id="rId4"/>
    <p:sldId id="259" r:id="rId5"/>
    <p:sldId id="271" r:id="rId6"/>
    <p:sldId id="273" r:id="rId7"/>
    <p:sldId id="274" r:id="rId8"/>
    <p:sldId id="275" r:id="rId9"/>
    <p:sldId id="276" r:id="rId10"/>
    <p:sldId id="277" r:id="rId11"/>
    <p:sldId id="278" r:id="rId12"/>
    <p:sldId id="272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86" r:id="rId21"/>
    <p:sldId id="287" r:id="rId22"/>
    <p:sldId id="288" r:id="rId23"/>
    <p:sldId id="27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96451A0-F9FE-46B3-A449-3600EA90B9C8}">
          <p14:sldIdLst>
            <p14:sldId id="258"/>
            <p14:sldId id="259"/>
            <p14:sldId id="271"/>
            <p14:sldId id="273"/>
            <p14:sldId id="274"/>
            <p14:sldId id="275"/>
            <p14:sldId id="276"/>
            <p14:sldId id="277"/>
            <p14:sldId id="278"/>
            <p14:sldId id="272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176D"/>
    <a:srgbClr val="FFFFFF"/>
    <a:srgbClr val="D4D9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94" autoAdjust="0"/>
  </p:normalViewPr>
  <p:slideViewPr>
    <p:cSldViewPr snapToGrid="0">
      <p:cViewPr varScale="1">
        <p:scale>
          <a:sx n="111" d="100"/>
          <a:sy n="111" d="100"/>
        </p:scale>
        <p:origin x="5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718691-4BB2-4AA2-95A3-198F465037B1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361C00-6DC7-474C-B4C4-7E932159BA1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392D1-2731-4A64-A8C4-800CF188616C}" type="datetime2">
              <a:rPr lang="vi-VN" smtClean="0"/>
              <a:t>Thứ Tư, 24 Tháng Sáu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FCFE7-4CFC-4698-A5C8-57D6C94FD84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BE161-68ED-4DEA-9665-A74B08172C26}" type="datetime2">
              <a:rPr lang="vi-VN" smtClean="0"/>
              <a:t>Thứ Tư, 24 Tháng Sáu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FCFE7-4CFC-4698-A5C8-57D6C94FD84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697FD-D854-4D7F-B4CA-EB7783D507AC}" type="datetime2">
              <a:rPr lang="vi-VN" smtClean="0"/>
              <a:t>Thứ Tư, 24 Tháng Sáu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FCFE7-4CFC-4698-A5C8-57D6C94FD84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B67CD-3063-439B-8E52-0BBC8E73A9A7}" type="datetime2">
              <a:rPr lang="vi-VN" smtClean="0"/>
              <a:t>Thứ Tư, 24 Tháng Sáu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FCFE7-4CFC-4698-A5C8-57D6C94FD84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7A71D-9DCB-4CA2-9314-BE609F467B08}" type="datetime2">
              <a:rPr lang="vi-VN" smtClean="0"/>
              <a:t>Thứ Tư, 24 Tháng Sáu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FCFE7-4CFC-4698-A5C8-57D6C94FD84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3A53-3039-4EB0-97CB-04F9EFF33D80}" type="datetime2">
              <a:rPr lang="vi-VN" smtClean="0"/>
              <a:t>Thứ Tư, 24 Tháng Sáu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FCFE7-4CFC-4698-A5C8-57D6C94FD84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58572-5F3E-4CAD-8778-D7B776F292A4}" type="datetime2">
              <a:rPr lang="vi-VN" smtClean="0"/>
              <a:t>Thứ Tư, 24 Tháng Sáu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FCFE7-4CFC-4698-A5C8-57D6C94FD84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FA384-BEAC-4CFC-B669-BC2EAC7CFBD1}" type="datetime2">
              <a:rPr lang="vi-VN" smtClean="0"/>
              <a:t>Thứ Tư, 24 Tháng Sáu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FCFE7-4CFC-4698-A5C8-57D6C94FD84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9875D-58A0-46FF-8AE7-ECA31B1CDE80}" type="datetime2">
              <a:rPr lang="vi-VN" smtClean="0"/>
              <a:t>Thứ Tư, 24 Tháng Sáu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FCFE7-4CFC-4698-A5C8-57D6C94FD84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0D5E2-3E21-4645-B8EE-318FC24E7F7E}" type="datetime2">
              <a:rPr lang="vi-VN" smtClean="0"/>
              <a:t>Thứ Tư, 24 Tháng Sáu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FCFE7-4CFC-4698-A5C8-57D6C94FD84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ACFD7-287C-4A68-8939-52248DE76552}" type="datetime2">
              <a:rPr lang="vi-VN" smtClean="0"/>
              <a:t>Thứ Tư, 24 Tháng Sáu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FCFE7-4CFC-4698-A5C8-57D6C94FD84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82E6D-BC7E-4260-8D42-9918E30CC348}" type="datetime2">
              <a:rPr lang="vi-VN" smtClean="0"/>
              <a:t>Thứ Tư, 24 Tháng Sáu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D144F-5DBD-9A48-9660-8470FF1D8E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C6EBD-68D7-4BC6-A4E8-DE7CD36ACB89}" type="datetime2">
              <a:rPr lang="vi-VN" smtClean="0"/>
              <a:t>Thứ Tư, 24 Tháng Sáu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D144F-5DBD-9A48-9660-8470FF1D8E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8C559-7BD2-4B1E-9CCA-817EE2AA86AE}" type="datetime2">
              <a:rPr lang="vi-VN" smtClean="0"/>
              <a:t>Thứ Tư, 24 Tháng Sáu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D144F-5DBD-9A48-9660-8470FF1D8E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F3CD6-B548-4451-BF5C-B0EFF6413070}" type="datetime2">
              <a:rPr lang="vi-VN" smtClean="0"/>
              <a:t>Thứ Tư, 24 Tháng Sáu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D144F-5DBD-9A48-9660-8470FF1D8E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1B683-1099-4598-9C4F-040B0666EBBC}" type="datetime2">
              <a:rPr lang="vi-VN" smtClean="0"/>
              <a:t>Thứ Tư, 24 Tháng Sáu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D144F-5DBD-9A48-9660-8470FF1D8E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D1380-5B30-43E6-9ACA-5F9B2107494E}" type="datetime2">
              <a:rPr lang="vi-VN" smtClean="0"/>
              <a:t>Thứ Tư, 24 Tháng Sáu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D144F-5DBD-9A48-9660-8470FF1D8E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3A539-19D5-459E-988F-826301A9A2CD}" type="datetime2">
              <a:rPr lang="vi-VN" smtClean="0"/>
              <a:t>Thứ Tư, 24 Tháng Sáu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D144F-5DBD-9A48-9660-8470FF1D8E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24F5D-C21F-4E9B-AC28-ADE41CE5CFB8}" type="datetime2">
              <a:rPr lang="vi-VN" smtClean="0"/>
              <a:t>Thứ Tư, 24 Tháng Sáu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D144F-5DBD-9A48-9660-8470FF1D8E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103C6-677D-4DE6-81C8-6505CE54935C}" type="datetime2">
              <a:rPr lang="vi-VN" smtClean="0"/>
              <a:t>Thứ Tư, 24 Tháng Sáu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D144F-5DBD-9A48-9660-8470FF1D8E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7BBFD-A564-4468-8F88-53A40B637CAB}" type="datetime2">
              <a:rPr lang="vi-VN" smtClean="0"/>
              <a:t>Thứ Tư, 24 Tháng Sáu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D144F-5DBD-9A48-9660-8470FF1D8E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D8D36-1192-48C3-83C6-EFA598854226}" type="datetime2">
              <a:rPr lang="vi-VN" smtClean="0"/>
              <a:t>Thứ Tư, 24 Tháng Sáu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D144F-5DBD-9A48-9660-8470FF1D8E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51B88-6D05-4440-A477-A46E69C12E4D}" type="datetime2">
              <a:rPr lang="vi-VN" smtClean="0"/>
              <a:t>Thứ Tư, 24 Tháng Sáu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96F03-A6A2-FB47-A0B4-5ACFB75DEAD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29833-C20C-45E4-A0FC-87A90C410AC6}" type="datetime2">
              <a:rPr lang="vi-VN" smtClean="0"/>
              <a:t>Thứ Tư, 24 Tháng Sáu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96F03-A6A2-FB47-A0B4-5ACFB75DEAD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F0921-1BAA-48C0-ACDE-2D002D88DABE}" type="datetime2">
              <a:rPr lang="vi-VN" smtClean="0"/>
              <a:t>Thứ Tư, 24 Tháng Sáu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96F03-A6A2-FB47-A0B4-5ACFB75DEAD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F11BE-FB3B-4869-94C8-74C2FA22BDDF}" type="datetime2">
              <a:rPr lang="vi-VN" smtClean="0"/>
              <a:t>Thứ Tư, 24 Tháng Sáu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96F03-A6A2-FB47-A0B4-5ACFB75DEAD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DCCD5-AAEB-4BFE-BFE6-DD6BC603A9FD}" type="datetime2">
              <a:rPr lang="vi-VN" smtClean="0"/>
              <a:t>Thứ Tư, 24 Tháng Sáu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96F03-A6A2-FB47-A0B4-5ACFB75DEAD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45AC4-38DE-49E4-9EDF-803C30777E51}" type="datetime2">
              <a:rPr lang="vi-VN" smtClean="0"/>
              <a:t>Thứ Tư, 24 Tháng Sáu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96F03-A6A2-FB47-A0B4-5ACFB75DEAD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D256A-84D8-4CF7-969C-24C1BD1587DC}" type="datetime2">
              <a:rPr lang="vi-VN" smtClean="0"/>
              <a:t>Thứ Tư, 24 Tháng Sáu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96F03-A6A2-FB47-A0B4-5ACFB75DEAD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85F16-F2C7-405E-AA94-81813848A326}" type="datetime2">
              <a:rPr lang="vi-VN" smtClean="0"/>
              <a:t>Thứ Tư, 24 Tháng Sáu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96F03-A6A2-FB47-A0B4-5ACFB75DEAD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5A3AA-76DB-450E-BC59-10DD81A42448}" type="datetime2">
              <a:rPr lang="vi-VN" smtClean="0"/>
              <a:t>Thứ Tư, 24 Tháng Sáu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96F03-A6A2-FB47-A0B4-5ACFB75DEAD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A0EC2-CD3B-4AE3-A2BA-CA233B0DED36}" type="datetime2">
              <a:rPr lang="vi-VN" smtClean="0"/>
              <a:t>Thứ Tư, 24 Tháng Sáu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96F03-A6A2-FB47-A0B4-5ACFB75DEAD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3F50C-4769-4249-9001-5C03F329B2FF}" type="datetime2">
              <a:rPr lang="vi-VN" smtClean="0"/>
              <a:t>Thứ Tư, 24 Tháng Sáu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96F03-A6A2-FB47-A0B4-5ACFB75DEAD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CFA0E9-C7F1-4DCC-8B80-2EB93FE8F2B3}" type="datetime2">
              <a:rPr lang="vi-VN" smtClean="0"/>
              <a:t>Thứ Tư, 24 Tháng Sáu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4FCFE7-4CFC-4698-A5C8-57D6C94FD84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-1"/>
            <a:ext cx="12192000" cy="695597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0AC20C-8ACF-4F6F-8CE4-B50830E8F553}" type="datetime2">
              <a:rPr lang="vi-VN" smtClean="0"/>
              <a:t>Thứ Tư, 24 Tháng Sáu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2D144F-5DBD-9A48-9660-8470FF1D8E9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F86E70-9E99-48DB-9843-E462830FC812}" type="datetime2">
              <a:rPr lang="vi-VN" smtClean="0"/>
              <a:t>Thứ Tư, 24 Tháng Sáu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496F03-A6A2-FB47-A0B4-5ACFB75DEAD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50719" y="356486"/>
            <a:ext cx="8290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>
                <a:solidFill>
                  <a:schemeClr val="bg1"/>
                </a:solidFill>
                <a:latin typeface="+mj-lt"/>
              </a:rPr>
              <a:t>ĐẠI HỌC GIAO THÔNG VẬN TẢI PHÂN HIỆ</a:t>
            </a:r>
            <a:r>
              <a:rPr lang="en-US" altLang="vi-VN" b="1" dirty="0">
                <a:solidFill>
                  <a:schemeClr val="bg1"/>
                </a:solidFill>
                <a:latin typeface="+mj-lt"/>
              </a:rPr>
              <a:t>U</a:t>
            </a:r>
            <a:r>
              <a:rPr lang="vi-VN" b="1" dirty="0">
                <a:solidFill>
                  <a:schemeClr val="bg1"/>
                </a:solidFill>
                <a:latin typeface="+mj-lt"/>
              </a:rPr>
              <a:t> THÀNH PHỐ HỒ CHÍ MINH</a:t>
            </a:r>
          </a:p>
        </p:txBody>
      </p:sp>
      <p:pic>
        <p:nvPicPr>
          <p:cNvPr id="3" name="Picture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3206" y="2674233"/>
            <a:ext cx="1505585" cy="15055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47999" y="1300950"/>
            <a:ext cx="6096000" cy="1153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6725" marR="116840" indent="-6350" algn="ctr">
              <a:lnSpc>
                <a:spcPct val="107000"/>
              </a:lnSpc>
              <a:spcAft>
                <a:spcPts val="1500"/>
              </a:spcAft>
            </a:pPr>
            <a:r>
              <a:rPr lang="vi-VN" sz="1800" b="1" kern="100" dirty="0">
                <a:solidFill>
                  <a:srgbClr val="29176D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BỘ GIÁO DỤC VÀ ĐÀO TẠO </a:t>
            </a:r>
            <a:endParaRPr lang="vi-VN" sz="2000" b="1" kern="100" dirty="0">
              <a:solidFill>
                <a:srgbClr val="29176D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350" indent="-6350" algn="ctr">
              <a:lnSpc>
                <a:spcPct val="107000"/>
              </a:lnSpc>
              <a:spcAft>
                <a:spcPts val="205"/>
              </a:spcAft>
            </a:pPr>
            <a:r>
              <a:rPr lang="vi-VN" sz="1800" b="1" kern="100" dirty="0">
                <a:solidFill>
                  <a:srgbClr val="29176D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TRƯỜNG ĐẠI HỌC GIAO THÔNG VẬN TẢI PHÂN HIỆU TP. HỒ CHÍ MINH </a:t>
            </a:r>
            <a:endParaRPr lang="vi-VN" sz="1800" kern="100" dirty="0">
              <a:solidFill>
                <a:srgbClr val="29176D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89366" y="4233611"/>
            <a:ext cx="8413264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2000" b="1" i="0" dirty="0">
                <a:solidFill>
                  <a:srgbClr val="29176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BÁO CÁO </a:t>
            </a:r>
            <a:r>
              <a:rPr lang="en-US" sz="2000" b="1" dirty="0">
                <a:solidFill>
                  <a:srgbClr val="2917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 ÁN TỐT NGHIỆP</a:t>
            </a:r>
            <a:endParaRPr lang="en-US" sz="2000" dirty="0">
              <a:solidFill>
                <a:srgbClr val="29176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b="1" i="0" dirty="0">
                <a:solidFill>
                  <a:srgbClr val="29176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ĐỀ TÀI</a:t>
            </a:r>
            <a:r>
              <a:rPr lang="en-US" sz="2000" b="1" dirty="0">
                <a:solidFill>
                  <a:srgbClr val="2917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HỆ THỐNG QUẢN TRỊ CƠ SỞ THỂ THAO THÔNG MINH TÍCH HỢP GRAPH RAG VÀ AI AGENT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FCFE7-4CFC-4698-A5C8-57D6C94FD847}" type="slidenum">
              <a:rPr lang="en-US" smtClean="0"/>
              <a:t>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4A8121-A36A-42D0-1EF2-336640393061}"/>
              </a:ext>
            </a:extLst>
          </p:cNvPr>
          <p:cNvSpPr txBox="1"/>
          <p:nvPr/>
        </p:nvSpPr>
        <p:spPr>
          <a:xfrm>
            <a:off x="4047225" y="5510424"/>
            <a:ext cx="40975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2917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Sinh </a:t>
            </a:r>
            <a:r>
              <a:rPr lang="en-US" sz="1600" b="1" dirty="0" err="1">
                <a:solidFill>
                  <a:srgbClr val="2917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sz="1600" b="1" dirty="0">
                <a:solidFill>
                  <a:srgbClr val="2917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2917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1600" b="1" dirty="0">
                <a:solidFill>
                  <a:srgbClr val="2917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2917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1600" b="1" dirty="0">
                <a:solidFill>
                  <a:srgbClr val="2917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Nguyễn Đức Khoa</a:t>
            </a:r>
          </a:p>
          <a:p>
            <a:pPr algn="ctr"/>
            <a:r>
              <a:rPr lang="en-US" sz="1600" b="1" dirty="0" err="1">
                <a:solidFill>
                  <a:srgbClr val="2917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Giảng</a:t>
            </a:r>
            <a:r>
              <a:rPr lang="en-US" sz="1600" b="1" dirty="0">
                <a:solidFill>
                  <a:srgbClr val="2917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2917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sz="1600" b="1" dirty="0">
                <a:solidFill>
                  <a:srgbClr val="2917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2917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sz="1600" b="1" dirty="0">
                <a:solidFill>
                  <a:srgbClr val="2917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2917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1600" b="1" dirty="0">
                <a:solidFill>
                  <a:srgbClr val="2917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600" b="1" dirty="0" err="1">
                <a:solidFill>
                  <a:srgbClr val="2917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Th.S</a:t>
            </a:r>
            <a:r>
              <a:rPr lang="en-US" sz="1600" b="1" dirty="0">
                <a:solidFill>
                  <a:srgbClr val="2917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Lưu </a:t>
            </a:r>
            <a:r>
              <a:rPr lang="en-US" sz="1600" b="1" dirty="0" err="1">
                <a:solidFill>
                  <a:srgbClr val="2917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sz="1600" b="1" dirty="0">
                <a:solidFill>
                  <a:srgbClr val="2917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2917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endParaRPr lang="vi-V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50719" y="356486"/>
            <a:ext cx="8290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>
                <a:solidFill>
                  <a:schemeClr val="bg1"/>
                </a:solidFill>
                <a:latin typeface="+mj-lt"/>
              </a:rPr>
              <a:t>ĐẠI HỌC GIAO THÔNG VẬN TẢI PHÂN HIỆ</a:t>
            </a:r>
            <a:r>
              <a:rPr lang="en-US" altLang="vi-VN" b="1" dirty="0">
                <a:solidFill>
                  <a:schemeClr val="bg1"/>
                </a:solidFill>
                <a:latin typeface="+mj-lt"/>
              </a:rPr>
              <a:t>U</a:t>
            </a:r>
            <a:r>
              <a:rPr lang="vi-VN" b="1" dirty="0">
                <a:solidFill>
                  <a:schemeClr val="bg1"/>
                </a:solidFill>
                <a:latin typeface="+mj-lt"/>
              </a:rPr>
              <a:t> THÀNH PHỐ HỒ CHÍ MINH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FCFE7-4CFC-4698-A5C8-57D6C94FD847}" type="slidenum">
              <a:rPr lang="en-US" smtClean="0"/>
              <a:t>2</a:t>
            </a:fld>
            <a:endParaRPr lang="en-US"/>
          </a:p>
        </p:txBody>
      </p:sp>
      <p:sp>
        <p:nvSpPr>
          <p:cNvPr id="4" name="Shape 11">
            <a:extLst>
              <a:ext uri="{FF2B5EF4-FFF2-40B4-BE49-F238E27FC236}">
                <a16:creationId xmlns:a16="http://schemas.microsoft.com/office/drawing/2014/main" id="{1D512AC6-50DF-2468-8847-75447A1FC897}"/>
              </a:ext>
            </a:extLst>
          </p:cNvPr>
          <p:cNvSpPr/>
          <p:nvPr/>
        </p:nvSpPr>
        <p:spPr>
          <a:xfrm>
            <a:off x="1560310" y="2264980"/>
            <a:ext cx="594360" cy="438912"/>
          </a:xfrm>
          <a:prstGeom prst="roundRect">
            <a:avLst/>
          </a:prstGeom>
          <a:solidFill>
            <a:srgbClr val="20135A"/>
          </a:solidFill>
          <a:ln>
            <a:noFill/>
          </a:ln>
        </p:spPr>
        <p:txBody>
          <a:bodyPr/>
          <a:lstStyle/>
          <a:p>
            <a:endParaRPr sz="1600">
              <a:latin typeface="+mj-lt"/>
            </a:endParaRPr>
          </a:p>
        </p:txBody>
      </p:sp>
      <p:sp>
        <p:nvSpPr>
          <p:cNvPr id="6" name="TextBox 12">
            <a:extLst>
              <a:ext uri="{FF2B5EF4-FFF2-40B4-BE49-F238E27FC236}">
                <a16:creationId xmlns:a16="http://schemas.microsoft.com/office/drawing/2014/main" id="{DEB678EA-13A5-23C5-B74E-4534A94CD6BB}"/>
              </a:ext>
            </a:extLst>
          </p:cNvPr>
          <p:cNvSpPr txBox="1"/>
          <p:nvPr/>
        </p:nvSpPr>
        <p:spPr>
          <a:xfrm>
            <a:off x="1679182" y="2301556"/>
            <a:ext cx="475488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vi-VN" sz="1600" b="1" dirty="0">
                <a:solidFill>
                  <a:srgbClr val="FFFFFF"/>
                </a:solidFill>
                <a:latin typeface="+mj-lt"/>
                <a:ea typeface="Arial"/>
                <a:cs typeface="Arial"/>
              </a:rPr>
              <a:t>01</a:t>
            </a:r>
          </a:p>
        </p:txBody>
      </p:sp>
      <p:sp>
        <p:nvSpPr>
          <p:cNvPr id="9" name="TextBox 13">
            <a:extLst>
              <a:ext uri="{FF2B5EF4-FFF2-40B4-BE49-F238E27FC236}">
                <a16:creationId xmlns:a16="http://schemas.microsoft.com/office/drawing/2014/main" id="{AA07BF69-C616-FAA0-9A2E-2CF75642C757}"/>
              </a:ext>
            </a:extLst>
          </p:cNvPr>
          <p:cNvSpPr txBox="1"/>
          <p:nvPr/>
        </p:nvSpPr>
        <p:spPr>
          <a:xfrm>
            <a:off x="2355838" y="2246692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vi-VN" sz="16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Tổng quan đề tài</a:t>
            </a:r>
          </a:p>
        </p:txBody>
      </p:sp>
      <p:sp>
        <p:nvSpPr>
          <p:cNvPr id="11" name="Shape 15">
            <a:extLst>
              <a:ext uri="{FF2B5EF4-FFF2-40B4-BE49-F238E27FC236}">
                <a16:creationId xmlns:a16="http://schemas.microsoft.com/office/drawing/2014/main" id="{34FCF812-3D3C-7D57-B466-C1EA44802654}"/>
              </a:ext>
            </a:extLst>
          </p:cNvPr>
          <p:cNvSpPr/>
          <p:nvPr/>
        </p:nvSpPr>
        <p:spPr>
          <a:xfrm>
            <a:off x="1560310" y="3014788"/>
            <a:ext cx="594360" cy="438912"/>
          </a:xfrm>
          <a:prstGeom prst="roundRect">
            <a:avLst/>
          </a:prstGeom>
          <a:solidFill>
            <a:srgbClr val="20135A"/>
          </a:solidFill>
          <a:ln>
            <a:noFill/>
          </a:ln>
        </p:spPr>
        <p:txBody>
          <a:bodyPr/>
          <a:lstStyle/>
          <a:p>
            <a:endParaRPr sz="1600">
              <a:latin typeface="+mj-lt"/>
            </a:endParaRPr>
          </a:p>
        </p:txBody>
      </p:sp>
      <p:sp>
        <p:nvSpPr>
          <p:cNvPr id="13" name="TextBox 16">
            <a:extLst>
              <a:ext uri="{FF2B5EF4-FFF2-40B4-BE49-F238E27FC236}">
                <a16:creationId xmlns:a16="http://schemas.microsoft.com/office/drawing/2014/main" id="{FFBEC42F-1F53-22BD-DD0A-FFB6D54759EC}"/>
              </a:ext>
            </a:extLst>
          </p:cNvPr>
          <p:cNvSpPr txBox="1"/>
          <p:nvPr/>
        </p:nvSpPr>
        <p:spPr>
          <a:xfrm>
            <a:off x="1679182" y="3053118"/>
            <a:ext cx="475488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vi-VN" sz="1600" b="1" dirty="0">
                <a:solidFill>
                  <a:srgbClr val="FFFFFF"/>
                </a:solidFill>
                <a:latin typeface="+mj-lt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7">
            <a:extLst>
              <a:ext uri="{FF2B5EF4-FFF2-40B4-BE49-F238E27FC236}">
                <a16:creationId xmlns:a16="http://schemas.microsoft.com/office/drawing/2014/main" id="{0524D735-5178-96C6-602E-07AF86B0C095}"/>
              </a:ext>
            </a:extLst>
          </p:cNvPr>
          <p:cNvSpPr txBox="1"/>
          <p:nvPr/>
        </p:nvSpPr>
        <p:spPr>
          <a:xfrm>
            <a:off x="2355838" y="2996500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vi-VN" sz="16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Cơ sở lý thuyết</a:t>
            </a:r>
          </a:p>
        </p:txBody>
      </p:sp>
      <p:sp>
        <p:nvSpPr>
          <p:cNvPr id="17" name="Shape 19">
            <a:extLst>
              <a:ext uri="{FF2B5EF4-FFF2-40B4-BE49-F238E27FC236}">
                <a16:creationId xmlns:a16="http://schemas.microsoft.com/office/drawing/2014/main" id="{1179A869-618B-9A2F-FA6A-FD5C908A790B}"/>
              </a:ext>
            </a:extLst>
          </p:cNvPr>
          <p:cNvSpPr/>
          <p:nvPr/>
        </p:nvSpPr>
        <p:spPr>
          <a:xfrm>
            <a:off x="1560310" y="3764596"/>
            <a:ext cx="594360" cy="438912"/>
          </a:xfrm>
          <a:prstGeom prst="roundRect">
            <a:avLst/>
          </a:prstGeom>
          <a:solidFill>
            <a:srgbClr val="20135A"/>
          </a:solidFill>
          <a:ln>
            <a:noFill/>
          </a:ln>
        </p:spPr>
        <p:txBody>
          <a:bodyPr/>
          <a:lstStyle/>
          <a:p>
            <a:endParaRPr sz="1600">
              <a:latin typeface="+mj-lt"/>
            </a:endParaRPr>
          </a:p>
        </p:txBody>
      </p:sp>
      <p:sp>
        <p:nvSpPr>
          <p:cNvPr id="19" name="TextBox 20">
            <a:extLst>
              <a:ext uri="{FF2B5EF4-FFF2-40B4-BE49-F238E27FC236}">
                <a16:creationId xmlns:a16="http://schemas.microsoft.com/office/drawing/2014/main" id="{9B5A93BB-90E6-87CD-5B2B-C6B7D637D25C}"/>
              </a:ext>
            </a:extLst>
          </p:cNvPr>
          <p:cNvSpPr txBox="1"/>
          <p:nvPr/>
        </p:nvSpPr>
        <p:spPr>
          <a:xfrm>
            <a:off x="1647228" y="3801172"/>
            <a:ext cx="475488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vi-VN" sz="1600" b="1" dirty="0">
                <a:solidFill>
                  <a:srgbClr val="FFFFFF"/>
                </a:solidFill>
                <a:latin typeface="+mj-lt"/>
                <a:ea typeface="Arial"/>
                <a:cs typeface="Arial"/>
              </a:rPr>
              <a:t>03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A70C5613-7A02-7E30-C15D-CD9ED855D8B6}"/>
              </a:ext>
            </a:extLst>
          </p:cNvPr>
          <p:cNvSpPr txBox="1"/>
          <p:nvPr/>
        </p:nvSpPr>
        <p:spPr>
          <a:xfrm>
            <a:off x="2355838" y="374630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vi-VN" sz="16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Thiết kế hệ thống</a:t>
            </a: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C2C9AE07-4ECD-5F78-1C18-1C9493F96789}"/>
              </a:ext>
            </a:extLst>
          </p:cNvPr>
          <p:cNvSpPr/>
          <p:nvPr/>
        </p:nvSpPr>
        <p:spPr>
          <a:xfrm>
            <a:off x="1560310" y="4514404"/>
            <a:ext cx="594360" cy="438912"/>
          </a:xfrm>
          <a:prstGeom prst="roundRect">
            <a:avLst/>
          </a:prstGeom>
          <a:solidFill>
            <a:srgbClr val="20135A"/>
          </a:solidFill>
          <a:ln>
            <a:noFill/>
          </a:ln>
        </p:spPr>
        <p:txBody>
          <a:bodyPr/>
          <a:lstStyle/>
          <a:p>
            <a:endParaRPr sz="1600">
              <a:latin typeface="+mj-l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83B9DC2-0301-8F77-7B8C-C8D4E49130C3}"/>
              </a:ext>
            </a:extLst>
          </p:cNvPr>
          <p:cNvSpPr txBox="1"/>
          <p:nvPr/>
        </p:nvSpPr>
        <p:spPr>
          <a:xfrm>
            <a:off x="1652885" y="4550980"/>
            <a:ext cx="475488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vi-VN" sz="1600" b="1" dirty="0">
                <a:solidFill>
                  <a:srgbClr val="FFFFFF"/>
                </a:solidFill>
                <a:latin typeface="+mj-lt"/>
                <a:ea typeface="Arial"/>
                <a:cs typeface="Arial"/>
              </a:rPr>
              <a:t>04</a:t>
            </a:r>
          </a:p>
        </p:txBody>
      </p:sp>
      <p:sp>
        <p:nvSpPr>
          <p:cNvPr id="27" name="TextBox 25">
            <a:extLst>
              <a:ext uri="{FF2B5EF4-FFF2-40B4-BE49-F238E27FC236}">
                <a16:creationId xmlns:a16="http://schemas.microsoft.com/office/drawing/2014/main" id="{A8FA832D-0017-54CD-A433-A83C00BD21D9}"/>
              </a:ext>
            </a:extLst>
          </p:cNvPr>
          <p:cNvSpPr txBox="1"/>
          <p:nvPr/>
        </p:nvSpPr>
        <p:spPr>
          <a:xfrm>
            <a:off x="2355838" y="4496116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vi-VN" sz="16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AI đã triển khai</a:t>
            </a: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103185BC-33CE-01B3-231A-B92829B4C8E4}"/>
              </a:ext>
            </a:extLst>
          </p:cNvPr>
          <p:cNvSpPr/>
          <p:nvPr/>
        </p:nvSpPr>
        <p:spPr>
          <a:xfrm>
            <a:off x="1560310" y="5264212"/>
            <a:ext cx="594360" cy="438912"/>
          </a:xfrm>
          <a:prstGeom prst="roundRect">
            <a:avLst/>
          </a:prstGeom>
          <a:solidFill>
            <a:srgbClr val="20135A"/>
          </a:solidFill>
          <a:ln>
            <a:noFill/>
          </a:ln>
        </p:spPr>
        <p:txBody>
          <a:bodyPr/>
          <a:lstStyle/>
          <a:p>
            <a:endParaRPr sz="1600">
              <a:latin typeface="+mj-lt"/>
            </a:endParaRPr>
          </a:p>
        </p:txBody>
      </p:sp>
      <p:sp>
        <p:nvSpPr>
          <p:cNvPr id="31" name="TextBox 28">
            <a:extLst>
              <a:ext uri="{FF2B5EF4-FFF2-40B4-BE49-F238E27FC236}">
                <a16:creationId xmlns:a16="http://schemas.microsoft.com/office/drawing/2014/main" id="{C89DC0C0-76AA-BA36-5164-CD08E1DAEB2C}"/>
              </a:ext>
            </a:extLst>
          </p:cNvPr>
          <p:cNvSpPr txBox="1"/>
          <p:nvPr/>
        </p:nvSpPr>
        <p:spPr>
          <a:xfrm>
            <a:off x="1647228" y="5300788"/>
            <a:ext cx="475488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vi-VN" sz="1600" b="1" dirty="0">
                <a:solidFill>
                  <a:srgbClr val="FFFFFF"/>
                </a:solidFill>
                <a:latin typeface="+mj-lt"/>
                <a:ea typeface="Arial"/>
                <a:cs typeface="Arial"/>
              </a:rPr>
              <a:t>05</a:t>
            </a:r>
          </a:p>
        </p:txBody>
      </p:sp>
      <p:sp>
        <p:nvSpPr>
          <p:cNvPr id="33" name="TextBox 29">
            <a:extLst>
              <a:ext uri="{FF2B5EF4-FFF2-40B4-BE49-F238E27FC236}">
                <a16:creationId xmlns:a16="http://schemas.microsoft.com/office/drawing/2014/main" id="{C79C269A-CDBE-E730-F6A1-922A147163C7}"/>
              </a:ext>
            </a:extLst>
          </p:cNvPr>
          <p:cNvSpPr txBox="1"/>
          <p:nvPr/>
        </p:nvSpPr>
        <p:spPr>
          <a:xfrm>
            <a:off x="2355838" y="5245924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vi-VN" sz="16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Kết quả và hướng phát triển</a:t>
            </a:r>
          </a:p>
        </p:txBody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5D49AFBC-59C3-B94A-3268-5182FB0BC825}"/>
              </a:ext>
            </a:extLst>
          </p:cNvPr>
          <p:cNvSpPr/>
          <p:nvPr/>
        </p:nvSpPr>
        <p:spPr>
          <a:xfrm>
            <a:off x="1349998" y="1442020"/>
            <a:ext cx="73152" cy="502920"/>
          </a:xfrm>
          <a:prstGeom prst="rect">
            <a:avLst/>
          </a:prstGeom>
          <a:solidFill>
            <a:srgbClr val="F2C94C"/>
          </a:solidFill>
          <a:ln>
            <a:noFill/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37" name="TextBox 33">
            <a:extLst>
              <a:ext uri="{FF2B5EF4-FFF2-40B4-BE49-F238E27FC236}">
                <a16:creationId xmlns:a16="http://schemas.microsoft.com/office/drawing/2014/main" id="{93113EDE-BDAA-F6B8-5921-2EBC3B482440}"/>
              </a:ext>
            </a:extLst>
          </p:cNvPr>
          <p:cNvSpPr txBox="1"/>
          <p:nvPr/>
        </p:nvSpPr>
        <p:spPr>
          <a:xfrm>
            <a:off x="1514590" y="1432876"/>
            <a:ext cx="458141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vi-VN" sz="28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Nội dung trình bày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76E90-A6D1-B90F-1DDF-1E4027E3F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B37032-9652-8BCC-EC82-20AF86499B0B}"/>
              </a:ext>
            </a:extLst>
          </p:cNvPr>
          <p:cNvSpPr txBox="1"/>
          <p:nvPr/>
        </p:nvSpPr>
        <p:spPr>
          <a:xfrm>
            <a:off x="1950719" y="356486"/>
            <a:ext cx="8290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>
                <a:solidFill>
                  <a:schemeClr val="bg1"/>
                </a:solidFill>
                <a:latin typeface="+mj-lt"/>
              </a:rPr>
              <a:t>ĐẠI HỌC GIAO THÔNG VẬN TẢI PHÂN HIỆ</a:t>
            </a:r>
            <a:r>
              <a:rPr lang="en-US" altLang="vi-VN" b="1" dirty="0">
                <a:solidFill>
                  <a:schemeClr val="bg1"/>
                </a:solidFill>
                <a:latin typeface="+mj-lt"/>
              </a:rPr>
              <a:t>U</a:t>
            </a:r>
            <a:r>
              <a:rPr lang="vi-VN" b="1" dirty="0">
                <a:solidFill>
                  <a:schemeClr val="bg1"/>
                </a:solidFill>
                <a:latin typeface="+mj-lt"/>
              </a:rPr>
              <a:t> THÀNH PHỐ HỒ CHÍ MINH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709E6CD-DC7E-D103-8594-479B002DF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FCFE7-4CFC-4698-A5C8-57D6C94FD847}" type="slidenum">
              <a:rPr lang="en-US" smtClean="0"/>
              <a:t>3</a:t>
            </a:fld>
            <a:endParaRPr lang="en-US"/>
          </a:p>
        </p:txBody>
      </p:sp>
      <p:sp>
        <p:nvSpPr>
          <p:cNvPr id="4" name="Card 11">
            <a:extLst>
              <a:ext uri="{FF2B5EF4-FFF2-40B4-BE49-F238E27FC236}">
                <a16:creationId xmlns:a16="http://schemas.microsoft.com/office/drawing/2014/main" id="{D49CD0F2-23E7-DD74-1B40-DCA2E9C615CF}"/>
              </a:ext>
            </a:extLst>
          </p:cNvPr>
          <p:cNvSpPr/>
          <p:nvPr/>
        </p:nvSpPr>
        <p:spPr>
          <a:xfrm>
            <a:off x="898010" y="2300664"/>
            <a:ext cx="5212080" cy="1874520"/>
          </a:xfrm>
          <a:prstGeom prst="roundRect">
            <a:avLst/>
          </a:prstGeom>
          <a:solidFill>
            <a:srgbClr val="F7F8FB"/>
          </a:solidFill>
          <a:ln w="9000">
            <a:solidFill>
              <a:srgbClr val="D3D8E2"/>
            </a:solidFill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6" name="Accent 12">
            <a:extLst>
              <a:ext uri="{FF2B5EF4-FFF2-40B4-BE49-F238E27FC236}">
                <a16:creationId xmlns:a16="http://schemas.microsoft.com/office/drawing/2014/main" id="{1E8E814F-F272-06DF-323D-B10D18D1AD3A}"/>
              </a:ext>
            </a:extLst>
          </p:cNvPr>
          <p:cNvSpPr/>
          <p:nvPr/>
        </p:nvSpPr>
        <p:spPr>
          <a:xfrm>
            <a:off x="898010" y="2300664"/>
            <a:ext cx="64008" cy="1874520"/>
          </a:xfrm>
          <a:prstGeom prst="rect">
            <a:avLst/>
          </a:prstGeom>
          <a:solidFill>
            <a:srgbClr val="20135A"/>
          </a:solidFill>
          <a:ln>
            <a:noFill/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9" name="TextBox 13">
            <a:extLst>
              <a:ext uri="{FF2B5EF4-FFF2-40B4-BE49-F238E27FC236}">
                <a16:creationId xmlns:a16="http://schemas.microsoft.com/office/drawing/2014/main" id="{2EDCE52D-5C17-C2EB-1A3B-7BCF9C313C25}"/>
              </a:ext>
            </a:extLst>
          </p:cNvPr>
          <p:cNvSpPr txBox="1"/>
          <p:nvPr/>
        </p:nvSpPr>
        <p:spPr>
          <a:xfrm>
            <a:off x="1062602" y="2410392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92500" lnSpcReduction="20000"/>
          </a:bodyPr>
          <a:lstStyle/>
          <a:p>
            <a:pPr algn="l">
              <a:spcAft>
                <a:spcPts val="300"/>
              </a:spcAft>
            </a:pPr>
            <a:r>
              <a:rPr lang="vi-VN" sz="16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Bài toán</a:t>
            </a:r>
          </a:p>
        </p:txBody>
      </p:sp>
      <p:sp>
        <p:nvSpPr>
          <p:cNvPr id="11" name="TextBox 14">
            <a:extLst>
              <a:ext uri="{FF2B5EF4-FFF2-40B4-BE49-F238E27FC236}">
                <a16:creationId xmlns:a16="http://schemas.microsoft.com/office/drawing/2014/main" id="{B59F9DBE-0380-F41D-1835-5510C7065523}"/>
              </a:ext>
            </a:extLst>
          </p:cNvPr>
          <p:cNvSpPr txBox="1"/>
          <p:nvPr/>
        </p:nvSpPr>
        <p:spPr>
          <a:xfrm>
            <a:off x="1062602" y="2776152"/>
            <a:ext cx="4937760" cy="1307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92500"/>
          </a:bodyPr>
          <a:lstStyle/>
          <a:p>
            <a:pPr algn="l">
              <a:spcAft>
                <a:spcPts val="300"/>
              </a:spcAft>
            </a:pPr>
            <a:r>
              <a:rPr lang="vi-VN" sz="14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Cơ sở bida, pickleball, cầu lông cần tự động hóa tư vấn và vận hành.</a:t>
            </a:r>
          </a:p>
          <a:p>
            <a:pPr algn="l">
              <a:spcAft>
                <a:spcPts val="300"/>
              </a:spcAft>
            </a:pPr>
            <a:r>
              <a:rPr lang="vi-VN" sz="14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Khách muốn hỏi luật/kỹ thuật, đặt sân, gọi món, thanh toán và gọi nhân viên bằng ngôn ngữ tự nhiên.</a:t>
            </a:r>
          </a:p>
          <a:p>
            <a:pPr algn="l">
              <a:spcAft>
                <a:spcPts val="300"/>
              </a:spcAft>
            </a:pPr>
            <a:r>
              <a:rPr lang="vi-VN" sz="14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Dữ liệu động như lịch sân, giá và đơn hàng phải lấy từ hệ thống thật, không để LLM tự đoán.</a:t>
            </a:r>
          </a:p>
        </p:txBody>
      </p:sp>
      <p:sp>
        <p:nvSpPr>
          <p:cNvPr id="13" name="Card 15">
            <a:extLst>
              <a:ext uri="{FF2B5EF4-FFF2-40B4-BE49-F238E27FC236}">
                <a16:creationId xmlns:a16="http://schemas.microsoft.com/office/drawing/2014/main" id="{C7836630-3FA2-CAD3-3854-3CF766071257}"/>
              </a:ext>
            </a:extLst>
          </p:cNvPr>
          <p:cNvSpPr/>
          <p:nvPr/>
        </p:nvSpPr>
        <p:spPr>
          <a:xfrm>
            <a:off x="6292970" y="2300664"/>
            <a:ext cx="5212080" cy="1874520"/>
          </a:xfrm>
          <a:prstGeom prst="roundRect">
            <a:avLst/>
          </a:prstGeom>
          <a:solidFill>
            <a:srgbClr val="F7F8FB"/>
          </a:solidFill>
          <a:ln w="9000">
            <a:solidFill>
              <a:srgbClr val="D3D8E2"/>
            </a:solidFill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15" name="Accent 16">
            <a:extLst>
              <a:ext uri="{FF2B5EF4-FFF2-40B4-BE49-F238E27FC236}">
                <a16:creationId xmlns:a16="http://schemas.microsoft.com/office/drawing/2014/main" id="{0C90F29B-8837-4A92-297F-C4E2B6AC51D4}"/>
              </a:ext>
            </a:extLst>
          </p:cNvPr>
          <p:cNvSpPr/>
          <p:nvPr/>
        </p:nvSpPr>
        <p:spPr>
          <a:xfrm>
            <a:off x="6292970" y="2300664"/>
            <a:ext cx="64008" cy="18745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4E2B8D2-222F-222F-9719-0B474E6A9228}"/>
              </a:ext>
            </a:extLst>
          </p:cNvPr>
          <p:cNvSpPr txBox="1"/>
          <p:nvPr/>
        </p:nvSpPr>
        <p:spPr>
          <a:xfrm>
            <a:off x="6457562" y="2410392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92500" lnSpcReduction="20000"/>
          </a:bodyPr>
          <a:lstStyle/>
          <a:p>
            <a:pPr algn="l">
              <a:spcAft>
                <a:spcPts val="300"/>
              </a:spcAft>
            </a:pPr>
            <a:r>
              <a:rPr lang="vi-VN" sz="1600" b="1" dirty="0">
                <a:solidFill>
                  <a:srgbClr val="0F766E"/>
                </a:solidFill>
                <a:latin typeface="+mj-lt"/>
                <a:ea typeface="Arial"/>
                <a:cs typeface="Arial"/>
              </a:rPr>
              <a:t>Mục tiêu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31FD3F-F13C-930C-365B-DCC75F3A0EAB}"/>
              </a:ext>
            </a:extLst>
          </p:cNvPr>
          <p:cNvSpPr txBox="1"/>
          <p:nvPr/>
        </p:nvSpPr>
        <p:spPr>
          <a:xfrm>
            <a:off x="6457562" y="2776152"/>
            <a:ext cx="4937760" cy="1307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lang="vi-VN" sz="13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Xây dựng mobile app đa vai trò: khách hàng, nhân viên, quản trị viên, đối tác F&amp;B.</a:t>
            </a:r>
          </a:p>
          <a:p>
            <a:pPr algn="l">
              <a:spcAft>
                <a:spcPts val="300"/>
              </a:spcAft>
            </a:pPr>
            <a:r>
              <a:rPr lang="vi-VN" sz="13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Tích hợp AI Agent có khả năng gọi tool để thực hiện nghiệp vụ.</a:t>
            </a:r>
          </a:p>
          <a:p>
            <a:pPr algn="l">
              <a:spcAft>
                <a:spcPts val="300"/>
              </a:spcAft>
            </a:pPr>
            <a:r>
              <a:rPr lang="vi-VN" sz="13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Tổ chức tri thức thể thao bằng Knowledge Graph và truy hồi Graph RAG.</a:t>
            </a:r>
          </a:p>
        </p:txBody>
      </p:sp>
      <p:sp>
        <p:nvSpPr>
          <p:cNvPr id="21" name="Card 19">
            <a:extLst>
              <a:ext uri="{FF2B5EF4-FFF2-40B4-BE49-F238E27FC236}">
                <a16:creationId xmlns:a16="http://schemas.microsoft.com/office/drawing/2014/main" id="{ABD70C42-B9A2-55FF-24C3-3A00C2163682}"/>
              </a:ext>
            </a:extLst>
          </p:cNvPr>
          <p:cNvSpPr/>
          <p:nvPr/>
        </p:nvSpPr>
        <p:spPr>
          <a:xfrm>
            <a:off x="898010" y="4495224"/>
            <a:ext cx="10607040" cy="1417320"/>
          </a:xfrm>
          <a:prstGeom prst="roundRect">
            <a:avLst/>
          </a:prstGeom>
          <a:solidFill>
            <a:srgbClr val="F7F8FB"/>
          </a:solidFill>
          <a:ln w="9000">
            <a:solidFill>
              <a:srgbClr val="D3D8E2"/>
            </a:solidFill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23" name="Accent 20">
            <a:extLst>
              <a:ext uri="{FF2B5EF4-FFF2-40B4-BE49-F238E27FC236}">
                <a16:creationId xmlns:a16="http://schemas.microsoft.com/office/drawing/2014/main" id="{D2332BC4-DD72-DAB0-325F-AA84EBC2B2C7}"/>
              </a:ext>
            </a:extLst>
          </p:cNvPr>
          <p:cNvSpPr/>
          <p:nvPr/>
        </p:nvSpPr>
        <p:spPr>
          <a:xfrm>
            <a:off x="898010" y="4495224"/>
            <a:ext cx="64008" cy="14173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25" name="TextBox 21">
            <a:extLst>
              <a:ext uri="{FF2B5EF4-FFF2-40B4-BE49-F238E27FC236}">
                <a16:creationId xmlns:a16="http://schemas.microsoft.com/office/drawing/2014/main" id="{89DA8146-34FF-7DCB-5F3B-80D90BD6E4D4}"/>
              </a:ext>
            </a:extLst>
          </p:cNvPr>
          <p:cNvSpPr txBox="1"/>
          <p:nvPr/>
        </p:nvSpPr>
        <p:spPr>
          <a:xfrm>
            <a:off x="1062602" y="4604952"/>
            <a:ext cx="103327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92500" lnSpcReduction="20000"/>
          </a:bodyPr>
          <a:lstStyle/>
          <a:p>
            <a:pPr algn="l">
              <a:spcAft>
                <a:spcPts val="300"/>
              </a:spcAft>
            </a:pPr>
            <a:r>
              <a:rPr lang="vi-VN" sz="1600" b="1" dirty="0">
                <a:solidFill>
                  <a:srgbClr val="B45309"/>
                </a:solidFill>
                <a:latin typeface="+mj-lt"/>
                <a:ea typeface="Arial"/>
                <a:cs typeface="Arial"/>
              </a:rPr>
              <a:t>Phạm vi triển khai</a:t>
            </a:r>
          </a:p>
        </p:txBody>
      </p:sp>
      <p:sp>
        <p:nvSpPr>
          <p:cNvPr id="27" name="TextBox 22">
            <a:extLst>
              <a:ext uri="{FF2B5EF4-FFF2-40B4-BE49-F238E27FC236}">
                <a16:creationId xmlns:a16="http://schemas.microsoft.com/office/drawing/2014/main" id="{0E41130C-BF21-8CE8-5DA8-6A06F9625D5A}"/>
              </a:ext>
            </a:extLst>
          </p:cNvPr>
          <p:cNvSpPr txBox="1"/>
          <p:nvPr/>
        </p:nvSpPr>
        <p:spPr>
          <a:xfrm>
            <a:off x="1062602" y="4970712"/>
            <a:ext cx="10332720" cy="8503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lang="vi-VN" sz="13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Backend FastAPI monolith phân tầng; Flutter app dùng Riverpod, GoRouter và Dio.</a:t>
            </a:r>
          </a:p>
          <a:p>
            <a:pPr algn="l">
              <a:spcAft>
                <a:spcPts val="300"/>
              </a:spcAft>
            </a:pPr>
            <a:r>
              <a:rPr lang="vi-VN" sz="13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PostgreSQL lưu giao dịch; Neo4j lưu tri thức; Redis lưu session, cache và realtime.</a:t>
            </a:r>
          </a:p>
          <a:p>
            <a:pPr algn="l">
              <a:spcAft>
                <a:spcPts val="300"/>
              </a:spcAft>
            </a:pPr>
            <a:r>
              <a:rPr lang="vi-VN" sz="13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Stripe test mode đã tích hợp; VNPay ở mức prototype nghiên cứu do thiếu merchant credentials.</a:t>
            </a:r>
          </a:p>
        </p:txBody>
      </p:sp>
      <p:sp>
        <p:nvSpPr>
          <p:cNvPr id="29" name="Shape 24">
            <a:extLst>
              <a:ext uri="{FF2B5EF4-FFF2-40B4-BE49-F238E27FC236}">
                <a16:creationId xmlns:a16="http://schemas.microsoft.com/office/drawing/2014/main" id="{CC02BFCA-C27B-555E-67C7-DC363F4D70E5}"/>
              </a:ext>
            </a:extLst>
          </p:cNvPr>
          <p:cNvSpPr/>
          <p:nvPr/>
        </p:nvSpPr>
        <p:spPr>
          <a:xfrm>
            <a:off x="891627" y="1384139"/>
            <a:ext cx="73152" cy="502920"/>
          </a:xfrm>
          <a:prstGeom prst="rect">
            <a:avLst/>
          </a:prstGeom>
          <a:solidFill>
            <a:srgbClr val="F2C94C"/>
          </a:solidFill>
          <a:ln>
            <a:noFill/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31" name="TextBox 25">
            <a:extLst>
              <a:ext uri="{FF2B5EF4-FFF2-40B4-BE49-F238E27FC236}">
                <a16:creationId xmlns:a16="http://schemas.microsoft.com/office/drawing/2014/main" id="{D1C2BA73-0AD6-A53E-C1AA-B3344115CD30}"/>
              </a:ext>
            </a:extLst>
          </p:cNvPr>
          <p:cNvSpPr txBox="1"/>
          <p:nvPr/>
        </p:nvSpPr>
        <p:spPr>
          <a:xfrm>
            <a:off x="943730" y="1413696"/>
            <a:ext cx="101498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lnSpcReduction="10000"/>
          </a:bodyPr>
          <a:lstStyle/>
          <a:p>
            <a:pPr algn="l">
              <a:spcAft>
                <a:spcPts val="300"/>
              </a:spcAft>
            </a:pPr>
            <a:r>
              <a:rPr lang="vi-VN" sz="28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Tổng quan đề tài</a:t>
            </a:r>
          </a:p>
        </p:txBody>
      </p:sp>
    </p:spTree>
    <p:extLst>
      <p:ext uri="{BB962C8B-B14F-4D97-AF65-F5344CB8AC3E}">
        <p14:creationId xmlns:p14="http://schemas.microsoft.com/office/powerpoint/2010/main" val="3763760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4B7EE-8792-0258-E953-D04F07AF4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8E1C2E-C1F6-3F5C-94F1-A5BCF51177F3}"/>
              </a:ext>
            </a:extLst>
          </p:cNvPr>
          <p:cNvSpPr txBox="1"/>
          <p:nvPr/>
        </p:nvSpPr>
        <p:spPr>
          <a:xfrm>
            <a:off x="1950719" y="356486"/>
            <a:ext cx="8290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>
                <a:solidFill>
                  <a:schemeClr val="bg1"/>
                </a:solidFill>
                <a:latin typeface="+mj-lt"/>
              </a:rPr>
              <a:t>ĐẠI HỌC GIAO THÔNG VẬN TẢI PHÂN HIỆ</a:t>
            </a:r>
            <a:r>
              <a:rPr lang="en-US" altLang="vi-VN" b="1" dirty="0">
                <a:solidFill>
                  <a:schemeClr val="bg1"/>
                </a:solidFill>
                <a:latin typeface="+mj-lt"/>
              </a:rPr>
              <a:t>U</a:t>
            </a:r>
            <a:r>
              <a:rPr lang="vi-VN" b="1" dirty="0">
                <a:solidFill>
                  <a:schemeClr val="bg1"/>
                </a:solidFill>
                <a:latin typeface="+mj-lt"/>
              </a:rPr>
              <a:t> THÀNH PHỐ HỒ CHÍ MINH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72F86F5-F9DA-1653-0521-5260F3E32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FCFE7-4CFC-4698-A5C8-57D6C94FD847}" type="slidenum">
              <a:rPr lang="en-US" smtClean="0"/>
              <a:t>4</a:t>
            </a:fld>
            <a:endParaRPr lang="en-US"/>
          </a:p>
        </p:txBody>
      </p:sp>
      <p:sp>
        <p:nvSpPr>
          <p:cNvPr id="4" name="Shape 11">
            <a:extLst>
              <a:ext uri="{FF2B5EF4-FFF2-40B4-BE49-F238E27FC236}">
                <a16:creationId xmlns:a16="http://schemas.microsoft.com/office/drawing/2014/main" id="{7106023D-2FAE-B083-22F3-ACF3A0AEC382}"/>
              </a:ext>
            </a:extLst>
          </p:cNvPr>
          <p:cNvSpPr/>
          <p:nvPr/>
        </p:nvSpPr>
        <p:spPr>
          <a:xfrm>
            <a:off x="1249680" y="2438688"/>
            <a:ext cx="1691640" cy="713232"/>
          </a:xfrm>
          <a:prstGeom prst="roundRect">
            <a:avLst/>
          </a:prstGeom>
          <a:solidFill>
            <a:srgbClr val="EEF2FF"/>
          </a:solidFill>
          <a:ln w="10000">
            <a:solidFill>
              <a:srgbClr val="C7D2FE"/>
            </a:solidFill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6" name="TextBox 12">
            <a:extLst>
              <a:ext uri="{FF2B5EF4-FFF2-40B4-BE49-F238E27FC236}">
                <a16:creationId xmlns:a16="http://schemas.microsoft.com/office/drawing/2014/main" id="{9CB596D9-6944-F022-5774-9E5C8AF248E0}"/>
              </a:ext>
            </a:extLst>
          </p:cNvPr>
          <p:cNvSpPr txBox="1"/>
          <p:nvPr/>
        </p:nvSpPr>
        <p:spPr>
          <a:xfrm>
            <a:off x="1322832" y="2566704"/>
            <a:ext cx="1545336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lang="vi-VN" sz="1200" b="1" dirty="0">
                <a:solidFill>
                  <a:srgbClr val="2E1A73"/>
                </a:solidFill>
                <a:latin typeface="+mj-lt"/>
                <a:ea typeface="Arial"/>
                <a:cs typeface="Arial"/>
              </a:rPr>
              <a:t>User message</a:t>
            </a:r>
          </a:p>
        </p:txBody>
      </p:sp>
      <p:sp>
        <p:nvSpPr>
          <p:cNvPr id="9" name="TextBox 13">
            <a:extLst>
              <a:ext uri="{FF2B5EF4-FFF2-40B4-BE49-F238E27FC236}">
                <a16:creationId xmlns:a16="http://schemas.microsoft.com/office/drawing/2014/main" id="{143E2C9C-AF56-3B70-F2C4-BD0B8D680FC2}"/>
              </a:ext>
            </a:extLst>
          </p:cNvPr>
          <p:cNvSpPr txBox="1"/>
          <p:nvPr/>
        </p:nvSpPr>
        <p:spPr>
          <a:xfrm>
            <a:off x="2987040" y="2603280"/>
            <a:ext cx="292608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70000" lnSpcReduction="20000"/>
          </a:bodyPr>
          <a:lstStyle/>
          <a:p>
            <a:pPr algn="l">
              <a:spcAft>
                <a:spcPts val="300"/>
              </a:spcAft>
            </a:pPr>
            <a:r>
              <a:rPr lang="vi-VN" sz="2000" b="1" dirty="0">
                <a:solidFill>
                  <a:srgbClr val="64748B"/>
                </a:solidFill>
                <a:latin typeface="+mj-lt"/>
                <a:ea typeface="Arial"/>
                <a:cs typeface="Arial"/>
              </a:rPr>
              <a:t>→</a:t>
            </a:r>
          </a:p>
        </p:txBody>
      </p:sp>
      <p:sp>
        <p:nvSpPr>
          <p:cNvPr id="11" name="Shape 14">
            <a:extLst>
              <a:ext uri="{FF2B5EF4-FFF2-40B4-BE49-F238E27FC236}">
                <a16:creationId xmlns:a16="http://schemas.microsoft.com/office/drawing/2014/main" id="{68BA5BCF-ED05-68DF-0B17-FA5240801C0A}"/>
              </a:ext>
            </a:extLst>
          </p:cNvPr>
          <p:cNvSpPr/>
          <p:nvPr/>
        </p:nvSpPr>
        <p:spPr>
          <a:xfrm>
            <a:off x="3325368" y="2438688"/>
            <a:ext cx="1691640" cy="713232"/>
          </a:xfrm>
          <a:prstGeom prst="roundRect">
            <a:avLst/>
          </a:prstGeom>
          <a:solidFill>
            <a:srgbClr val="EEF2FF"/>
          </a:solidFill>
          <a:ln w="10000">
            <a:solidFill>
              <a:srgbClr val="C7D2FE"/>
            </a:solidFill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13" name="TextBox 15">
            <a:extLst>
              <a:ext uri="{FF2B5EF4-FFF2-40B4-BE49-F238E27FC236}">
                <a16:creationId xmlns:a16="http://schemas.microsoft.com/office/drawing/2014/main" id="{DED0ADD2-5372-F187-116C-72D833258C66}"/>
              </a:ext>
            </a:extLst>
          </p:cNvPr>
          <p:cNvSpPr txBox="1"/>
          <p:nvPr/>
        </p:nvSpPr>
        <p:spPr>
          <a:xfrm>
            <a:off x="3398520" y="2566704"/>
            <a:ext cx="1545336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lang="vi-VN" sz="1200" b="1" dirty="0">
                <a:solidFill>
                  <a:srgbClr val="2E1A73"/>
                </a:solidFill>
                <a:latin typeface="+mj-lt"/>
                <a:ea typeface="Arial"/>
                <a:cs typeface="Arial"/>
              </a:rPr>
              <a:t>LLM suy luận</a:t>
            </a:r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9FF04526-B25A-33D5-B53A-EED0572F65A3}"/>
              </a:ext>
            </a:extLst>
          </p:cNvPr>
          <p:cNvSpPr txBox="1"/>
          <p:nvPr/>
        </p:nvSpPr>
        <p:spPr>
          <a:xfrm>
            <a:off x="5062728" y="2603280"/>
            <a:ext cx="292608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70000" lnSpcReduction="20000"/>
          </a:bodyPr>
          <a:lstStyle/>
          <a:p>
            <a:pPr algn="l">
              <a:spcAft>
                <a:spcPts val="300"/>
              </a:spcAft>
            </a:pPr>
            <a:r>
              <a:rPr lang="vi-VN" sz="2000" b="1" dirty="0">
                <a:solidFill>
                  <a:srgbClr val="64748B"/>
                </a:solidFill>
                <a:latin typeface="+mj-lt"/>
                <a:ea typeface="Arial"/>
                <a:cs typeface="Arial"/>
              </a:rPr>
              <a:t>→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07A09BDE-CE20-2290-7E64-094508B0AB17}"/>
              </a:ext>
            </a:extLst>
          </p:cNvPr>
          <p:cNvSpPr/>
          <p:nvPr/>
        </p:nvSpPr>
        <p:spPr>
          <a:xfrm>
            <a:off x="5401056" y="2438688"/>
            <a:ext cx="1691640" cy="713232"/>
          </a:xfrm>
          <a:prstGeom prst="roundRect">
            <a:avLst/>
          </a:prstGeom>
          <a:solidFill>
            <a:srgbClr val="EEF2FF"/>
          </a:solidFill>
          <a:ln w="10000">
            <a:solidFill>
              <a:srgbClr val="C7D2FE"/>
            </a:solidFill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DF8CFD-ADE5-87C0-98E1-B3C9CEE794C6}"/>
              </a:ext>
            </a:extLst>
          </p:cNvPr>
          <p:cNvSpPr txBox="1"/>
          <p:nvPr/>
        </p:nvSpPr>
        <p:spPr>
          <a:xfrm>
            <a:off x="5474208" y="2566704"/>
            <a:ext cx="1545336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lang="vi-VN" sz="1200" b="1" dirty="0">
                <a:solidFill>
                  <a:srgbClr val="2E1A73"/>
                </a:solidFill>
                <a:latin typeface="+mj-lt"/>
                <a:ea typeface="Arial"/>
                <a:cs typeface="Arial"/>
              </a:rPr>
              <a:t>Tool call</a:t>
            </a:r>
          </a:p>
        </p:txBody>
      </p:sp>
      <p:sp>
        <p:nvSpPr>
          <p:cNvPr id="21" name="TextBox 19">
            <a:extLst>
              <a:ext uri="{FF2B5EF4-FFF2-40B4-BE49-F238E27FC236}">
                <a16:creationId xmlns:a16="http://schemas.microsoft.com/office/drawing/2014/main" id="{80D38A10-4EC2-F35F-6136-27F8020AFA80}"/>
              </a:ext>
            </a:extLst>
          </p:cNvPr>
          <p:cNvSpPr txBox="1"/>
          <p:nvPr/>
        </p:nvSpPr>
        <p:spPr>
          <a:xfrm>
            <a:off x="7138416" y="2603280"/>
            <a:ext cx="292608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70000" lnSpcReduction="20000"/>
          </a:bodyPr>
          <a:lstStyle/>
          <a:p>
            <a:pPr algn="l">
              <a:spcAft>
                <a:spcPts val="300"/>
              </a:spcAft>
            </a:pPr>
            <a:r>
              <a:rPr lang="vi-VN" sz="2000" b="1" dirty="0">
                <a:solidFill>
                  <a:srgbClr val="64748B"/>
                </a:solidFill>
                <a:latin typeface="+mj-lt"/>
                <a:ea typeface="Arial"/>
                <a:cs typeface="Arial"/>
              </a:rPr>
              <a:t>→</a:t>
            </a:r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73987F11-7677-CF47-9B04-27F3625A2226}"/>
              </a:ext>
            </a:extLst>
          </p:cNvPr>
          <p:cNvSpPr/>
          <p:nvPr/>
        </p:nvSpPr>
        <p:spPr>
          <a:xfrm>
            <a:off x="7476744" y="2438688"/>
            <a:ext cx="1691640" cy="713232"/>
          </a:xfrm>
          <a:prstGeom prst="roundRect">
            <a:avLst/>
          </a:prstGeom>
          <a:solidFill>
            <a:srgbClr val="EEF2FF"/>
          </a:solidFill>
          <a:ln w="10000">
            <a:solidFill>
              <a:srgbClr val="C7D2FE"/>
            </a:solidFill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25" name="TextBox 21">
            <a:extLst>
              <a:ext uri="{FF2B5EF4-FFF2-40B4-BE49-F238E27FC236}">
                <a16:creationId xmlns:a16="http://schemas.microsoft.com/office/drawing/2014/main" id="{F9D8E396-1E15-71F1-5EE8-0CB24B4BA66E}"/>
              </a:ext>
            </a:extLst>
          </p:cNvPr>
          <p:cNvSpPr txBox="1"/>
          <p:nvPr/>
        </p:nvSpPr>
        <p:spPr>
          <a:xfrm>
            <a:off x="7549896" y="2566704"/>
            <a:ext cx="1545336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lang="vi-VN" sz="1200" b="1" dirty="0">
                <a:solidFill>
                  <a:srgbClr val="2E1A73"/>
                </a:solidFill>
                <a:latin typeface="+mj-lt"/>
                <a:ea typeface="Arial"/>
                <a:cs typeface="Arial"/>
              </a:rPr>
              <a:t>Observation</a:t>
            </a:r>
          </a:p>
        </p:txBody>
      </p:sp>
      <p:sp>
        <p:nvSpPr>
          <p:cNvPr id="27" name="TextBox 22">
            <a:extLst>
              <a:ext uri="{FF2B5EF4-FFF2-40B4-BE49-F238E27FC236}">
                <a16:creationId xmlns:a16="http://schemas.microsoft.com/office/drawing/2014/main" id="{08D2E315-41DC-4C90-E533-7C03AB4BFC7D}"/>
              </a:ext>
            </a:extLst>
          </p:cNvPr>
          <p:cNvSpPr txBox="1"/>
          <p:nvPr/>
        </p:nvSpPr>
        <p:spPr>
          <a:xfrm>
            <a:off x="9214104" y="2603280"/>
            <a:ext cx="292608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70000" lnSpcReduction="20000"/>
          </a:bodyPr>
          <a:lstStyle/>
          <a:p>
            <a:pPr algn="l">
              <a:spcAft>
                <a:spcPts val="300"/>
              </a:spcAft>
            </a:pPr>
            <a:r>
              <a:rPr lang="vi-VN" sz="2000" b="1" dirty="0">
                <a:solidFill>
                  <a:srgbClr val="64748B"/>
                </a:solidFill>
                <a:latin typeface="+mj-lt"/>
                <a:ea typeface="Arial"/>
                <a:cs typeface="Arial"/>
              </a:rPr>
              <a:t>→</a:t>
            </a:r>
          </a:p>
        </p:txBody>
      </p:sp>
      <p:sp>
        <p:nvSpPr>
          <p:cNvPr id="29" name="Shape 23">
            <a:extLst>
              <a:ext uri="{FF2B5EF4-FFF2-40B4-BE49-F238E27FC236}">
                <a16:creationId xmlns:a16="http://schemas.microsoft.com/office/drawing/2014/main" id="{6F1DCB38-D5E1-74F8-A20C-7714926B3548}"/>
              </a:ext>
            </a:extLst>
          </p:cNvPr>
          <p:cNvSpPr/>
          <p:nvPr/>
        </p:nvSpPr>
        <p:spPr>
          <a:xfrm>
            <a:off x="9552432" y="2438688"/>
            <a:ext cx="1691640" cy="713232"/>
          </a:xfrm>
          <a:prstGeom prst="roundRect">
            <a:avLst/>
          </a:prstGeom>
          <a:solidFill>
            <a:srgbClr val="EEF2FF"/>
          </a:solidFill>
          <a:ln w="10000">
            <a:solidFill>
              <a:srgbClr val="C7D2FE"/>
            </a:solidFill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31" name="TextBox 24">
            <a:extLst>
              <a:ext uri="{FF2B5EF4-FFF2-40B4-BE49-F238E27FC236}">
                <a16:creationId xmlns:a16="http://schemas.microsoft.com/office/drawing/2014/main" id="{369F2975-64D8-4C82-D489-78D7E33D01F3}"/>
              </a:ext>
            </a:extLst>
          </p:cNvPr>
          <p:cNvSpPr txBox="1"/>
          <p:nvPr/>
        </p:nvSpPr>
        <p:spPr>
          <a:xfrm>
            <a:off x="9625584" y="2566704"/>
            <a:ext cx="1545336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lang="vi-VN" sz="1200" b="1" dirty="0">
                <a:solidFill>
                  <a:srgbClr val="2E1A73"/>
                </a:solidFill>
                <a:latin typeface="+mj-lt"/>
                <a:ea typeface="Arial"/>
                <a:cs typeface="Arial"/>
              </a:rPr>
              <a:t>Final answer</a:t>
            </a:r>
          </a:p>
        </p:txBody>
      </p:sp>
      <p:sp>
        <p:nvSpPr>
          <p:cNvPr id="33" name="Card 25">
            <a:extLst>
              <a:ext uri="{FF2B5EF4-FFF2-40B4-BE49-F238E27FC236}">
                <a16:creationId xmlns:a16="http://schemas.microsoft.com/office/drawing/2014/main" id="{B85FCBD5-7957-CB8C-3D70-DC90A849361F}"/>
              </a:ext>
            </a:extLst>
          </p:cNvPr>
          <p:cNvSpPr/>
          <p:nvPr/>
        </p:nvSpPr>
        <p:spPr>
          <a:xfrm>
            <a:off x="1158240" y="3535968"/>
            <a:ext cx="2560320" cy="1828800"/>
          </a:xfrm>
          <a:prstGeom prst="roundRect">
            <a:avLst/>
          </a:prstGeom>
          <a:solidFill>
            <a:srgbClr val="F7F8FB"/>
          </a:solidFill>
          <a:ln w="9000">
            <a:solidFill>
              <a:srgbClr val="D3D8E2"/>
            </a:solidFill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35" name="Accent 26">
            <a:extLst>
              <a:ext uri="{FF2B5EF4-FFF2-40B4-BE49-F238E27FC236}">
                <a16:creationId xmlns:a16="http://schemas.microsoft.com/office/drawing/2014/main" id="{906AE8EC-D5F8-777D-120D-6705D657DD78}"/>
              </a:ext>
            </a:extLst>
          </p:cNvPr>
          <p:cNvSpPr/>
          <p:nvPr/>
        </p:nvSpPr>
        <p:spPr>
          <a:xfrm>
            <a:off x="1158240" y="3535968"/>
            <a:ext cx="64008" cy="1828800"/>
          </a:xfrm>
          <a:prstGeom prst="rect">
            <a:avLst/>
          </a:prstGeom>
          <a:solidFill>
            <a:srgbClr val="20135A"/>
          </a:solidFill>
          <a:ln>
            <a:noFill/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37" name="TextBox 27">
            <a:extLst>
              <a:ext uri="{FF2B5EF4-FFF2-40B4-BE49-F238E27FC236}">
                <a16:creationId xmlns:a16="http://schemas.microsoft.com/office/drawing/2014/main" id="{DC9485D6-67FF-1802-209D-F60734A21EEE}"/>
              </a:ext>
            </a:extLst>
          </p:cNvPr>
          <p:cNvSpPr txBox="1"/>
          <p:nvPr/>
        </p:nvSpPr>
        <p:spPr>
          <a:xfrm>
            <a:off x="1322832" y="3645696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92500" lnSpcReduction="20000"/>
          </a:bodyPr>
          <a:lstStyle/>
          <a:p>
            <a:pPr algn="l">
              <a:spcAft>
                <a:spcPts val="300"/>
              </a:spcAft>
            </a:pPr>
            <a:r>
              <a:rPr lang="vi-VN" sz="16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LLM</a:t>
            </a:r>
          </a:p>
        </p:txBody>
      </p:sp>
      <p:sp>
        <p:nvSpPr>
          <p:cNvPr id="39" name="TextBox 28">
            <a:extLst>
              <a:ext uri="{FF2B5EF4-FFF2-40B4-BE49-F238E27FC236}">
                <a16:creationId xmlns:a16="http://schemas.microsoft.com/office/drawing/2014/main" id="{05CB52E6-0BA8-6ED2-3101-E375DA0F214C}"/>
              </a:ext>
            </a:extLst>
          </p:cNvPr>
          <p:cNvSpPr txBox="1"/>
          <p:nvPr/>
        </p:nvSpPr>
        <p:spPr>
          <a:xfrm>
            <a:off x="1322832" y="4011456"/>
            <a:ext cx="2286000" cy="126187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Mô hình sinh ngôn ngữ dựa trên ngữ cảnh và instruction.</a:t>
            </a:r>
          </a:p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Phù hợp để hiểu ý định và diễn đạt kết quả.</a:t>
            </a:r>
          </a:p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Có nguy cơ hallucination khi thiếu dữ liệu tin cậy.</a:t>
            </a:r>
          </a:p>
        </p:txBody>
      </p:sp>
      <p:sp>
        <p:nvSpPr>
          <p:cNvPr id="41" name="Card 29">
            <a:extLst>
              <a:ext uri="{FF2B5EF4-FFF2-40B4-BE49-F238E27FC236}">
                <a16:creationId xmlns:a16="http://schemas.microsoft.com/office/drawing/2014/main" id="{C4BA85DB-8B16-01C1-CD51-A9CCD683B904}"/>
              </a:ext>
            </a:extLst>
          </p:cNvPr>
          <p:cNvSpPr/>
          <p:nvPr/>
        </p:nvSpPr>
        <p:spPr>
          <a:xfrm>
            <a:off x="3947160" y="3535968"/>
            <a:ext cx="2743200" cy="1828800"/>
          </a:xfrm>
          <a:prstGeom prst="roundRect">
            <a:avLst/>
          </a:prstGeom>
          <a:solidFill>
            <a:srgbClr val="F7F8FB"/>
          </a:solidFill>
          <a:ln w="9000">
            <a:solidFill>
              <a:srgbClr val="D3D8E2"/>
            </a:solidFill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43" name="Accent 30">
            <a:extLst>
              <a:ext uri="{FF2B5EF4-FFF2-40B4-BE49-F238E27FC236}">
                <a16:creationId xmlns:a16="http://schemas.microsoft.com/office/drawing/2014/main" id="{2AE431B1-91C7-C472-B613-DF86F05C8886}"/>
              </a:ext>
            </a:extLst>
          </p:cNvPr>
          <p:cNvSpPr/>
          <p:nvPr/>
        </p:nvSpPr>
        <p:spPr>
          <a:xfrm>
            <a:off x="3947160" y="3535968"/>
            <a:ext cx="64008" cy="18288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45" name="TextBox 31">
            <a:extLst>
              <a:ext uri="{FF2B5EF4-FFF2-40B4-BE49-F238E27FC236}">
                <a16:creationId xmlns:a16="http://schemas.microsoft.com/office/drawing/2014/main" id="{C51940B3-A10B-8E55-DFC4-02F74346B8E8}"/>
              </a:ext>
            </a:extLst>
          </p:cNvPr>
          <p:cNvSpPr txBox="1"/>
          <p:nvPr/>
        </p:nvSpPr>
        <p:spPr>
          <a:xfrm>
            <a:off x="4111752" y="3645696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92500" lnSpcReduction="20000"/>
          </a:bodyPr>
          <a:lstStyle/>
          <a:p>
            <a:pPr algn="l">
              <a:spcAft>
                <a:spcPts val="300"/>
              </a:spcAft>
            </a:pPr>
            <a:r>
              <a:rPr lang="vi-VN" sz="1600" b="1" dirty="0">
                <a:solidFill>
                  <a:srgbClr val="0F766E"/>
                </a:solidFill>
                <a:latin typeface="+mj-lt"/>
                <a:ea typeface="Arial"/>
                <a:cs typeface="Arial"/>
              </a:rPr>
              <a:t>AI Agent</a:t>
            </a:r>
          </a:p>
        </p:txBody>
      </p:sp>
      <p:sp>
        <p:nvSpPr>
          <p:cNvPr id="47" name="TextBox 32">
            <a:extLst>
              <a:ext uri="{FF2B5EF4-FFF2-40B4-BE49-F238E27FC236}">
                <a16:creationId xmlns:a16="http://schemas.microsoft.com/office/drawing/2014/main" id="{805D7A7F-4FA4-4469-E29D-0EECB9689F15}"/>
              </a:ext>
            </a:extLst>
          </p:cNvPr>
          <p:cNvSpPr txBox="1"/>
          <p:nvPr/>
        </p:nvSpPr>
        <p:spPr>
          <a:xfrm>
            <a:off x="4111752" y="4011456"/>
            <a:ext cx="2468880" cy="126187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85000" lnSpcReduction="20000"/>
          </a:bodyPr>
          <a:lstStyle/>
          <a:p>
            <a:pPr algn="l">
              <a:spcAft>
                <a:spcPts val="300"/>
              </a:spcAft>
            </a:pPr>
            <a:r>
              <a:rPr lang="vi-VN" sz="14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Gồm model, prompt, memory/context, tool registry và vòng lặp điều phối.</a:t>
            </a:r>
          </a:p>
          <a:p>
            <a:pPr algn="l">
              <a:spcAft>
                <a:spcPts val="300"/>
              </a:spcAft>
            </a:pPr>
            <a:r>
              <a:rPr lang="vi-VN" sz="14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Có thể chọn hành động, quan sát kết quả, rồi tiếp tục suy luận.</a:t>
            </a:r>
          </a:p>
          <a:p>
            <a:pPr algn="l">
              <a:spcAft>
                <a:spcPts val="300"/>
              </a:spcAft>
            </a:pPr>
            <a:r>
              <a:rPr lang="vi-VN" sz="14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Không đồng nghĩa với LLM; LLM chỉ là thành phần ra quyết định.</a:t>
            </a:r>
          </a:p>
        </p:txBody>
      </p:sp>
      <p:sp>
        <p:nvSpPr>
          <p:cNvPr id="49" name="Card 33">
            <a:extLst>
              <a:ext uri="{FF2B5EF4-FFF2-40B4-BE49-F238E27FC236}">
                <a16:creationId xmlns:a16="http://schemas.microsoft.com/office/drawing/2014/main" id="{2BE634BB-7813-1324-DDB6-B8F5605A4F2D}"/>
              </a:ext>
            </a:extLst>
          </p:cNvPr>
          <p:cNvSpPr/>
          <p:nvPr/>
        </p:nvSpPr>
        <p:spPr>
          <a:xfrm>
            <a:off x="6918960" y="3535968"/>
            <a:ext cx="2514600" cy="1828800"/>
          </a:xfrm>
          <a:prstGeom prst="roundRect">
            <a:avLst/>
          </a:prstGeom>
          <a:solidFill>
            <a:srgbClr val="F7F8FB"/>
          </a:solidFill>
          <a:ln w="9000">
            <a:solidFill>
              <a:srgbClr val="D3D8E2"/>
            </a:solidFill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51" name="Accent 34">
            <a:extLst>
              <a:ext uri="{FF2B5EF4-FFF2-40B4-BE49-F238E27FC236}">
                <a16:creationId xmlns:a16="http://schemas.microsoft.com/office/drawing/2014/main" id="{D5D5609C-2B9A-C1E0-D992-3E47E8D5750B}"/>
              </a:ext>
            </a:extLst>
          </p:cNvPr>
          <p:cNvSpPr/>
          <p:nvPr/>
        </p:nvSpPr>
        <p:spPr>
          <a:xfrm>
            <a:off x="6918960" y="3535968"/>
            <a:ext cx="64008" cy="18288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53" name="TextBox 35">
            <a:extLst>
              <a:ext uri="{FF2B5EF4-FFF2-40B4-BE49-F238E27FC236}">
                <a16:creationId xmlns:a16="http://schemas.microsoft.com/office/drawing/2014/main" id="{38CD5AD9-300E-E1B2-611E-AA54B2A96AB8}"/>
              </a:ext>
            </a:extLst>
          </p:cNvPr>
          <p:cNvSpPr txBox="1"/>
          <p:nvPr/>
        </p:nvSpPr>
        <p:spPr>
          <a:xfrm>
            <a:off x="7083552" y="3645696"/>
            <a:ext cx="22402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92500" lnSpcReduction="20000"/>
          </a:bodyPr>
          <a:lstStyle/>
          <a:p>
            <a:pPr algn="l">
              <a:spcAft>
                <a:spcPts val="300"/>
              </a:spcAft>
            </a:pPr>
            <a:r>
              <a:rPr lang="vi-VN" sz="1600" b="1" dirty="0">
                <a:solidFill>
                  <a:srgbClr val="B45309"/>
                </a:solidFill>
                <a:latin typeface="+mj-lt"/>
                <a:ea typeface="Arial"/>
                <a:cs typeface="Arial"/>
              </a:rPr>
              <a:t>Tool Calling</a:t>
            </a:r>
          </a:p>
        </p:txBody>
      </p:sp>
      <p:sp>
        <p:nvSpPr>
          <p:cNvPr id="55" name="TextBox 36">
            <a:extLst>
              <a:ext uri="{FF2B5EF4-FFF2-40B4-BE49-F238E27FC236}">
                <a16:creationId xmlns:a16="http://schemas.microsoft.com/office/drawing/2014/main" id="{BFFD02A2-5713-C52D-86AE-AC76B0C46AD7}"/>
              </a:ext>
            </a:extLst>
          </p:cNvPr>
          <p:cNvSpPr txBox="1"/>
          <p:nvPr/>
        </p:nvSpPr>
        <p:spPr>
          <a:xfrm>
            <a:off x="7083552" y="4011456"/>
            <a:ext cx="2240280" cy="126187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85000" lnSpcReduction="10000"/>
          </a:bodyPr>
          <a:lstStyle/>
          <a:p>
            <a:pPr algn="l">
              <a:spcAft>
                <a:spcPts val="300"/>
              </a:spcAft>
            </a:pPr>
            <a:r>
              <a:rPr lang="vi-VN" sz="14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LLM sinh tên tool và arguments theo schema.</a:t>
            </a:r>
          </a:p>
          <a:p>
            <a:pPr algn="l">
              <a:spcAft>
                <a:spcPts val="300"/>
              </a:spcAft>
            </a:pPr>
            <a:r>
              <a:rPr lang="vi-VN" sz="14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AgentExecutor mới gọi Python function thật.</a:t>
            </a:r>
          </a:p>
          <a:p>
            <a:pPr algn="l">
              <a:spcAft>
                <a:spcPts val="300"/>
              </a:spcAft>
            </a:pPr>
            <a:r>
              <a:rPr lang="vi-VN" sz="14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Service/repository kiểm tra quyền, nghiệp vụ và transaction.</a:t>
            </a:r>
          </a:p>
        </p:txBody>
      </p:sp>
      <p:sp>
        <p:nvSpPr>
          <p:cNvPr id="57" name="Card 37">
            <a:extLst>
              <a:ext uri="{FF2B5EF4-FFF2-40B4-BE49-F238E27FC236}">
                <a16:creationId xmlns:a16="http://schemas.microsoft.com/office/drawing/2014/main" id="{F20DEB18-8B5C-27D5-128B-7DD0DC05C7E4}"/>
              </a:ext>
            </a:extLst>
          </p:cNvPr>
          <p:cNvSpPr/>
          <p:nvPr/>
        </p:nvSpPr>
        <p:spPr>
          <a:xfrm>
            <a:off x="9662160" y="3535968"/>
            <a:ext cx="2057400" cy="1828800"/>
          </a:xfrm>
          <a:prstGeom prst="roundRect">
            <a:avLst/>
          </a:prstGeom>
          <a:solidFill>
            <a:srgbClr val="F7F8FB"/>
          </a:solidFill>
          <a:ln w="9000">
            <a:solidFill>
              <a:srgbClr val="D3D8E2"/>
            </a:solidFill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59" name="Accent 38">
            <a:extLst>
              <a:ext uri="{FF2B5EF4-FFF2-40B4-BE49-F238E27FC236}">
                <a16:creationId xmlns:a16="http://schemas.microsoft.com/office/drawing/2014/main" id="{FFB863D0-4406-9B6A-CE97-C0182B47E5D8}"/>
              </a:ext>
            </a:extLst>
          </p:cNvPr>
          <p:cNvSpPr/>
          <p:nvPr/>
        </p:nvSpPr>
        <p:spPr>
          <a:xfrm>
            <a:off x="9662160" y="3535968"/>
            <a:ext cx="64008" cy="1828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61" name="TextBox 39">
            <a:extLst>
              <a:ext uri="{FF2B5EF4-FFF2-40B4-BE49-F238E27FC236}">
                <a16:creationId xmlns:a16="http://schemas.microsoft.com/office/drawing/2014/main" id="{DD8E2944-F087-742B-1CA0-899E9FF13452}"/>
              </a:ext>
            </a:extLst>
          </p:cNvPr>
          <p:cNvSpPr txBox="1"/>
          <p:nvPr/>
        </p:nvSpPr>
        <p:spPr>
          <a:xfrm>
            <a:off x="9826752" y="3645696"/>
            <a:ext cx="17830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92500" lnSpcReduction="20000"/>
          </a:bodyPr>
          <a:lstStyle/>
          <a:p>
            <a:pPr algn="l">
              <a:spcAft>
                <a:spcPts val="300"/>
              </a:spcAft>
            </a:pPr>
            <a:r>
              <a:rPr lang="vi-VN" sz="1600" b="1" dirty="0">
                <a:solidFill>
                  <a:srgbClr val="7C3AED"/>
                </a:solidFill>
                <a:latin typeface="+mj-lt"/>
                <a:ea typeface="Arial"/>
                <a:cs typeface="Arial"/>
              </a:rPr>
              <a:t>Memory</a:t>
            </a:r>
          </a:p>
        </p:txBody>
      </p:sp>
      <p:sp>
        <p:nvSpPr>
          <p:cNvPr id="63" name="TextBox 40">
            <a:extLst>
              <a:ext uri="{FF2B5EF4-FFF2-40B4-BE49-F238E27FC236}">
                <a16:creationId xmlns:a16="http://schemas.microsoft.com/office/drawing/2014/main" id="{27C11E2D-AE9F-ADA3-5167-46CA758DB855}"/>
              </a:ext>
            </a:extLst>
          </p:cNvPr>
          <p:cNvSpPr txBox="1"/>
          <p:nvPr/>
        </p:nvSpPr>
        <p:spPr>
          <a:xfrm>
            <a:off x="9826752" y="3938304"/>
            <a:ext cx="2057400" cy="126187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Chat history lưu Redis theo session TTL.</a:t>
            </a:r>
          </a:p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Trusted context do backend gắn: user, venue, thời gian, giá.</a:t>
            </a:r>
          </a:p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Scratchpad chỉ dùng trong một lượt chạy agent.</a:t>
            </a:r>
          </a:p>
        </p:txBody>
      </p:sp>
      <p:sp>
        <p:nvSpPr>
          <p:cNvPr id="65" name="Shape 42">
            <a:extLst>
              <a:ext uri="{FF2B5EF4-FFF2-40B4-BE49-F238E27FC236}">
                <a16:creationId xmlns:a16="http://schemas.microsoft.com/office/drawing/2014/main" id="{15A3AEB0-1D28-C214-C091-F193660669C6}"/>
              </a:ext>
            </a:extLst>
          </p:cNvPr>
          <p:cNvSpPr/>
          <p:nvPr/>
        </p:nvSpPr>
        <p:spPr>
          <a:xfrm>
            <a:off x="1144668" y="1551720"/>
            <a:ext cx="73152" cy="502920"/>
          </a:xfrm>
          <a:prstGeom prst="rect">
            <a:avLst/>
          </a:prstGeom>
          <a:solidFill>
            <a:srgbClr val="F2C94C"/>
          </a:solidFill>
          <a:ln>
            <a:noFill/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67" name="TextBox 43">
            <a:extLst>
              <a:ext uri="{FF2B5EF4-FFF2-40B4-BE49-F238E27FC236}">
                <a16:creationId xmlns:a16="http://schemas.microsoft.com/office/drawing/2014/main" id="{DA8116DF-1950-F878-4EDD-0DA36C11C4DD}"/>
              </a:ext>
            </a:extLst>
          </p:cNvPr>
          <p:cNvSpPr txBox="1"/>
          <p:nvPr/>
        </p:nvSpPr>
        <p:spPr>
          <a:xfrm>
            <a:off x="1203960" y="1551720"/>
            <a:ext cx="101498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lnSpcReduction="10000"/>
          </a:bodyPr>
          <a:lstStyle/>
          <a:p>
            <a:pPr algn="l">
              <a:spcAft>
                <a:spcPts val="300"/>
              </a:spcAft>
            </a:pPr>
            <a:r>
              <a:rPr lang="vi-VN" sz="28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Lý thuyết: LLM, Agent và Tool Calling</a:t>
            </a:r>
          </a:p>
        </p:txBody>
      </p:sp>
    </p:spTree>
    <p:extLst>
      <p:ext uri="{BB962C8B-B14F-4D97-AF65-F5344CB8AC3E}">
        <p14:creationId xmlns:p14="http://schemas.microsoft.com/office/powerpoint/2010/main" val="13212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41FCF-3C41-C3C8-8490-2F7D4C16A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2BA37E-03C7-6786-D904-173E4B6ABEAF}"/>
              </a:ext>
            </a:extLst>
          </p:cNvPr>
          <p:cNvSpPr txBox="1"/>
          <p:nvPr/>
        </p:nvSpPr>
        <p:spPr>
          <a:xfrm>
            <a:off x="1950719" y="356486"/>
            <a:ext cx="8290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>
                <a:solidFill>
                  <a:schemeClr val="bg1"/>
                </a:solidFill>
                <a:latin typeface="+mj-lt"/>
              </a:rPr>
              <a:t>ĐẠI HỌC GIAO THÔNG VẬN TẢI PHÂN HIỆ</a:t>
            </a:r>
            <a:r>
              <a:rPr lang="en-US" altLang="vi-VN" b="1" dirty="0">
                <a:solidFill>
                  <a:schemeClr val="bg1"/>
                </a:solidFill>
                <a:latin typeface="+mj-lt"/>
              </a:rPr>
              <a:t>U</a:t>
            </a:r>
            <a:r>
              <a:rPr lang="vi-VN" b="1" dirty="0">
                <a:solidFill>
                  <a:schemeClr val="bg1"/>
                </a:solidFill>
                <a:latin typeface="+mj-lt"/>
              </a:rPr>
              <a:t> THÀNH PHỐ HỒ CHÍ MINH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2EAE95B-2AD6-3A07-1A5A-43526EA0C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FCFE7-4CFC-4698-A5C8-57D6C94FD847}" type="slidenum">
              <a:rPr lang="en-US" smtClean="0"/>
              <a:t>5</a:t>
            </a:fld>
            <a:endParaRPr lang="en-US"/>
          </a:p>
        </p:txBody>
      </p:sp>
      <p:sp>
        <p:nvSpPr>
          <p:cNvPr id="4" name="Card 11">
            <a:extLst>
              <a:ext uri="{FF2B5EF4-FFF2-40B4-BE49-F238E27FC236}">
                <a16:creationId xmlns:a16="http://schemas.microsoft.com/office/drawing/2014/main" id="{3A2E3275-7FBB-BD2D-FAC3-E239027811D1}"/>
              </a:ext>
            </a:extLst>
          </p:cNvPr>
          <p:cNvSpPr/>
          <p:nvPr/>
        </p:nvSpPr>
        <p:spPr>
          <a:xfrm>
            <a:off x="1071975" y="2214400"/>
            <a:ext cx="5074920" cy="1737360"/>
          </a:xfrm>
          <a:prstGeom prst="roundRect">
            <a:avLst/>
          </a:prstGeom>
          <a:solidFill>
            <a:srgbClr val="F7F8FB"/>
          </a:solidFill>
          <a:ln w="9000">
            <a:solidFill>
              <a:srgbClr val="D3D8E2"/>
            </a:solidFill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6" name="Accent 12">
            <a:extLst>
              <a:ext uri="{FF2B5EF4-FFF2-40B4-BE49-F238E27FC236}">
                <a16:creationId xmlns:a16="http://schemas.microsoft.com/office/drawing/2014/main" id="{9D079DED-3232-8E73-7CC6-94D433D31069}"/>
              </a:ext>
            </a:extLst>
          </p:cNvPr>
          <p:cNvSpPr/>
          <p:nvPr/>
        </p:nvSpPr>
        <p:spPr>
          <a:xfrm>
            <a:off x="1071975" y="2214400"/>
            <a:ext cx="64008" cy="1737360"/>
          </a:xfrm>
          <a:prstGeom prst="rect">
            <a:avLst/>
          </a:prstGeom>
          <a:solidFill>
            <a:srgbClr val="20135A"/>
          </a:solidFill>
          <a:ln>
            <a:noFill/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9" name="TextBox 13">
            <a:extLst>
              <a:ext uri="{FF2B5EF4-FFF2-40B4-BE49-F238E27FC236}">
                <a16:creationId xmlns:a16="http://schemas.microsoft.com/office/drawing/2014/main" id="{DA04D9E2-025C-5125-6EA0-13F4824378F4}"/>
              </a:ext>
            </a:extLst>
          </p:cNvPr>
          <p:cNvSpPr txBox="1"/>
          <p:nvPr/>
        </p:nvSpPr>
        <p:spPr>
          <a:xfrm>
            <a:off x="1236567" y="2324128"/>
            <a:ext cx="48006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92500" lnSpcReduction="20000"/>
          </a:bodyPr>
          <a:lstStyle/>
          <a:p>
            <a:pPr algn="l">
              <a:spcAft>
                <a:spcPts val="300"/>
              </a:spcAft>
            </a:pPr>
            <a:r>
              <a:rPr lang="vi-VN" sz="16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RAG truyền thống</a:t>
            </a:r>
          </a:p>
        </p:txBody>
      </p:sp>
      <p:sp>
        <p:nvSpPr>
          <p:cNvPr id="11" name="TextBox 14">
            <a:extLst>
              <a:ext uri="{FF2B5EF4-FFF2-40B4-BE49-F238E27FC236}">
                <a16:creationId xmlns:a16="http://schemas.microsoft.com/office/drawing/2014/main" id="{8063B0BB-F5CD-A21A-2B78-5C5FED49F373}"/>
              </a:ext>
            </a:extLst>
          </p:cNvPr>
          <p:cNvSpPr txBox="1"/>
          <p:nvPr/>
        </p:nvSpPr>
        <p:spPr>
          <a:xfrm>
            <a:off x="1236567" y="2689888"/>
            <a:ext cx="4800600" cy="11704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lnSpcReduction="10000"/>
          </a:bodyPr>
          <a:lstStyle/>
          <a:p>
            <a:pPr algn="l">
              <a:spcAft>
                <a:spcPts val="300"/>
              </a:spcAft>
            </a:pPr>
            <a:r>
              <a:rPr lang="vi-VN" sz="14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Lập chỉ mục tài liệu, truy xuất top-k đoạn liên quan, đưa vào prompt cho LLM.</a:t>
            </a:r>
          </a:p>
          <a:p>
            <a:pPr algn="l">
              <a:spcAft>
                <a:spcPts val="300"/>
              </a:spcAft>
            </a:pPr>
            <a:r>
              <a:rPr lang="vi-VN" sz="14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Giúp câu trả lời có grounding thay vì chỉ dựa vào trọng số mô hình.</a:t>
            </a:r>
          </a:p>
          <a:p>
            <a:pPr algn="l">
              <a:spcAft>
                <a:spcPts val="300"/>
              </a:spcAft>
            </a:pPr>
            <a:r>
              <a:rPr lang="vi-VN" sz="14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Hạn chế khi câu hỏi cần quan hệ nhiều bước giữa các thực thể.</a:t>
            </a:r>
          </a:p>
        </p:txBody>
      </p:sp>
      <p:sp>
        <p:nvSpPr>
          <p:cNvPr id="13" name="Card 15">
            <a:extLst>
              <a:ext uri="{FF2B5EF4-FFF2-40B4-BE49-F238E27FC236}">
                <a16:creationId xmlns:a16="http://schemas.microsoft.com/office/drawing/2014/main" id="{16066558-7630-9BF1-8B0B-64295EE23E05}"/>
              </a:ext>
            </a:extLst>
          </p:cNvPr>
          <p:cNvSpPr/>
          <p:nvPr/>
        </p:nvSpPr>
        <p:spPr>
          <a:xfrm>
            <a:off x="6375495" y="2214400"/>
            <a:ext cx="5303520" cy="1737360"/>
          </a:xfrm>
          <a:prstGeom prst="roundRect">
            <a:avLst/>
          </a:prstGeom>
          <a:solidFill>
            <a:srgbClr val="F7F8FB"/>
          </a:solidFill>
          <a:ln w="9000">
            <a:solidFill>
              <a:srgbClr val="D3D8E2"/>
            </a:solidFill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15" name="Accent 16">
            <a:extLst>
              <a:ext uri="{FF2B5EF4-FFF2-40B4-BE49-F238E27FC236}">
                <a16:creationId xmlns:a16="http://schemas.microsoft.com/office/drawing/2014/main" id="{D3C03FC0-F1FA-E78B-7617-89AAC5937DC3}"/>
              </a:ext>
            </a:extLst>
          </p:cNvPr>
          <p:cNvSpPr/>
          <p:nvPr/>
        </p:nvSpPr>
        <p:spPr>
          <a:xfrm>
            <a:off x="6375495" y="2214400"/>
            <a:ext cx="64008" cy="17373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985DAE33-061B-25ED-C582-41A9A503D6F4}"/>
              </a:ext>
            </a:extLst>
          </p:cNvPr>
          <p:cNvSpPr txBox="1"/>
          <p:nvPr/>
        </p:nvSpPr>
        <p:spPr>
          <a:xfrm>
            <a:off x="6540087" y="2324128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92500" lnSpcReduction="20000"/>
          </a:bodyPr>
          <a:lstStyle/>
          <a:p>
            <a:pPr algn="l">
              <a:spcAft>
                <a:spcPts val="300"/>
              </a:spcAft>
            </a:pPr>
            <a:r>
              <a:rPr lang="vi-VN" sz="1600" b="1" dirty="0">
                <a:solidFill>
                  <a:srgbClr val="0F766E"/>
                </a:solidFill>
                <a:latin typeface="+mj-lt"/>
                <a:ea typeface="Arial"/>
                <a:cs typeface="Arial"/>
              </a:rPr>
              <a:t>Embedding và hybrid search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9F9A65-5200-6995-4608-BBE5792EC199}"/>
              </a:ext>
            </a:extLst>
          </p:cNvPr>
          <p:cNvSpPr txBox="1"/>
          <p:nvPr/>
        </p:nvSpPr>
        <p:spPr>
          <a:xfrm>
            <a:off x="6540087" y="2689888"/>
            <a:ext cx="5029200" cy="11704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lnSpcReduction="10000"/>
          </a:bodyPr>
          <a:lstStyle/>
          <a:p>
            <a:pPr algn="l">
              <a:spcAft>
                <a:spcPts val="300"/>
              </a:spcAft>
            </a:pPr>
            <a:r>
              <a:rPr lang="vi-VN" sz="14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Embedding biểu diễn văn bản thành vector; cosine đo độ gần hướng.</a:t>
            </a:r>
          </a:p>
          <a:p>
            <a:pPr algn="l">
              <a:spcAft>
                <a:spcPts val="300"/>
              </a:spcAft>
            </a:pPr>
            <a:r>
              <a:rPr lang="vi-VN" sz="14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Full-text tốt với từ khóa chính xác; vector tốt với gần nghĩa.</a:t>
            </a:r>
          </a:p>
          <a:p>
            <a:pPr algn="l">
              <a:spcAft>
                <a:spcPts val="300"/>
              </a:spcAft>
            </a:pPr>
            <a:r>
              <a:rPr lang="vi-VN" sz="14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Reciprocal Rank Fusion hợp nhất thứ hạng mà không phụ thuộc scale score.</a:t>
            </a: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4EAADB9B-81DE-A9A1-5F16-B5FF8CCC2321}"/>
              </a:ext>
            </a:extLst>
          </p:cNvPr>
          <p:cNvSpPr/>
          <p:nvPr/>
        </p:nvSpPr>
        <p:spPr>
          <a:xfrm>
            <a:off x="1163415" y="4317520"/>
            <a:ext cx="10378440" cy="1097280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CBD5E1"/>
            </a:solidFill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23" name="TextBox 20">
            <a:extLst>
              <a:ext uri="{FF2B5EF4-FFF2-40B4-BE49-F238E27FC236}">
                <a16:creationId xmlns:a16="http://schemas.microsoft.com/office/drawing/2014/main" id="{5A66D133-23DD-C877-8508-8F242310E74C}"/>
              </a:ext>
            </a:extLst>
          </p:cNvPr>
          <p:cNvSpPr txBox="1"/>
          <p:nvPr/>
        </p:nvSpPr>
        <p:spPr>
          <a:xfrm>
            <a:off x="1346295" y="4436392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92500" lnSpcReduction="20000"/>
          </a:bodyPr>
          <a:lstStyle/>
          <a:p>
            <a:pPr algn="l">
              <a:spcAft>
                <a:spcPts val="300"/>
              </a:spcAft>
            </a:pPr>
            <a:r>
              <a:rPr lang="vi-VN" sz="17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Graph RAG trong đồ án</a:t>
            </a:r>
          </a:p>
        </p:txBody>
      </p:sp>
      <p:sp>
        <p:nvSpPr>
          <p:cNvPr id="25" name="TextBox 21">
            <a:extLst>
              <a:ext uri="{FF2B5EF4-FFF2-40B4-BE49-F238E27FC236}">
                <a16:creationId xmlns:a16="http://schemas.microsoft.com/office/drawing/2014/main" id="{61433CE7-8BD4-719B-3FFA-4EA9C2D5C452}"/>
              </a:ext>
            </a:extLst>
          </p:cNvPr>
          <p:cNvSpPr txBox="1"/>
          <p:nvPr/>
        </p:nvSpPr>
        <p:spPr>
          <a:xfrm>
            <a:off x="1346295" y="4774720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lnSpcReduction="10000"/>
          </a:bodyPr>
          <a:lstStyle/>
          <a:p>
            <a:pPr algn="l">
              <a:spcAft>
                <a:spcPts val="300"/>
              </a:spcAft>
            </a:pPr>
            <a:r>
              <a:rPr lang="vi-VN" sz="1300" dirty="0">
                <a:solidFill>
                  <a:srgbClr val="334155"/>
                </a:solidFill>
                <a:latin typeface="+mj-lt"/>
                <a:ea typeface="Arial"/>
                <a:cs typeface="Arial"/>
              </a:rPr>
              <a:t>Truy xuất seed node bằng full-text/vector, sau đó duyệt quan hệ Neo4j 1-2 bước để lấy thêm luật, kỹ thuật, dụng cụ và môn liên quan. Cách này phù hợp với câu hỏi multi-hop như “kỹ thuật này dùng dụng cụ nào”, “luật nào quy định tình huống này”.</a:t>
            </a: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E0946A5C-8EFC-D12F-3DF5-0A3153B91A9C}"/>
              </a:ext>
            </a:extLst>
          </p:cNvPr>
          <p:cNvSpPr/>
          <p:nvPr/>
        </p:nvSpPr>
        <p:spPr>
          <a:xfrm>
            <a:off x="1254855" y="5661688"/>
            <a:ext cx="1664208" cy="530352"/>
          </a:xfrm>
          <a:prstGeom prst="roundRect">
            <a:avLst/>
          </a:prstGeom>
          <a:solidFill>
            <a:srgbClr val="FFF7ED"/>
          </a:solidFill>
          <a:ln w="10000">
            <a:solidFill>
              <a:srgbClr val="C7D2FE"/>
            </a:solidFill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29" name="TextBox 23">
            <a:extLst>
              <a:ext uri="{FF2B5EF4-FFF2-40B4-BE49-F238E27FC236}">
                <a16:creationId xmlns:a16="http://schemas.microsoft.com/office/drawing/2014/main" id="{25B41A11-5BAC-49AD-C9DF-225563CB44D7}"/>
              </a:ext>
            </a:extLst>
          </p:cNvPr>
          <p:cNvSpPr txBox="1"/>
          <p:nvPr/>
        </p:nvSpPr>
        <p:spPr>
          <a:xfrm>
            <a:off x="1328007" y="5789704"/>
            <a:ext cx="1517904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lang="vi-VN" sz="1100" b="1" dirty="0">
                <a:solidFill>
                  <a:srgbClr val="9A3412"/>
                </a:solidFill>
                <a:latin typeface="+mj-lt"/>
                <a:ea typeface="Arial"/>
                <a:cs typeface="Arial"/>
              </a:rPr>
              <a:t>Question</a:t>
            </a:r>
          </a:p>
        </p:txBody>
      </p:sp>
      <p:sp>
        <p:nvSpPr>
          <p:cNvPr id="31" name="TextBox 24">
            <a:extLst>
              <a:ext uri="{FF2B5EF4-FFF2-40B4-BE49-F238E27FC236}">
                <a16:creationId xmlns:a16="http://schemas.microsoft.com/office/drawing/2014/main" id="{1291048A-4A57-98E8-5ED3-545AEF4DFBA9}"/>
              </a:ext>
            </a:extLst>
          </p:cNvPr>
          <p:cNvSpPr txBox="1"/>
          <p:nvPr/>
        </p:nvSpPr>
        <p:spPr>
          <a:xfrm>
            <a:off x="2964783" y="5826280"/>
            <a:ext cx="292608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70000" lnSpcReduction="20000"/>
          </a:bodyPr>
          <a:lstStyle/>
          <a:p>
            <a:pPr algn="l">
              <a:spcAft>
                <a:spcPts val="300"/>
              </a:spcAft>
            </a:pPr>
            <a:r>
              <a:rPr lang="vi-VN" sz="2000" b="1" dirty="0">
                <a:solidFill>
                  <a:srgbClr val="64748B"/>
                </a:solidFill>
                <a:latin typeface="+mj-lt"/>
                <a:ea typeface="Arial"/>
                <a:cs typeface="Arial"/>
              </a:rPr>
              <a:t>→</a:t>
            </a:r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D7C346FF-8630-32BA-681E-639474870388}"/>
              </a:ext>
            </a:extLst>
          </p:cNvPr>
          <p:cNvSpPr/>
          <p:nvPr/>
        </p:nvSpPr>
        <p:spPr>
          <a:xfrm>
            <a:off x="3303111" y="5661688"/>
            <a:ext cx="1664208" cy="530352"/>
          </a:xfrm>
          <a:prstGeom prst="roundRect">
            <a:avLst/>
          </a:prstGeom>
          <a:solidFill>
            <a:srgbClr val="FFF7ED"/>
          </a:solidFill>
          <a:ln w="10000">
            <a:solidFill>
              <a:srgbClr val="C7D2FE"/>
            </a:solidFill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35" name="TextBox 26">
            <a:extLst>
              <a:ext uri="{FF2B5EF4-FFF2-40B4-BE49-F238E27FC236}">
                <a16:creationId xmlns:a16="http://schemas.microsoft.com/office/drawing/2014/main" id="{ED3DF4F5-7398-CABA-4C43-AE336DBA5FD5}"/>
              </a:ext>
            </a:extLst>
          </p:cNvPr>
          <p:cNvSpPr txBox="1"/>
          <p:nvPr/>
        </p:nvSpPr>
        <p:spPr>
          <a:xfrm>
            <a:off x="3376263" y="5789704"/>
            <a:ext cx="1517904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lang="vi-VN" sz="1100" b="1" dirty="0">
                <a:solidFill>
                  <a:srgbClr val="9A3412"/>
                </a:solidFill>
                <a:latin typeface="+mj-lt"/>
                <a:ea typeface="Arial"/>
                <a:cs typeface="Arial"/>
              </a:rPr>
              <a:t>Seed nodes</a:t>
            </a:r>
          </a:p>
        </p:txBody>
      </p:sp>
      <p:sp>
        <p:nvSpPr>
          <p:cNvPr id="37" name="TextBox 27">
            <a:extLst>
              <a:ext uri="{FF2B5EF4-FFF2-40B4-BE49-F238E27FC236}">
                <a16:creationId xmlns:a16="http://schemas.microsoft.com/office/drawing/2014/main" id="{C97E61A1-1257-9CED-5E8F-4CB91CB6BCA0}"/>
              </a:ext>
            </a:extLst>
          </p:cNvPr>
          <p:cNvSpPr txBox="1"/>
          <p:nvPr/>
        </p:nvSpPr>
        <p:spPr>
          <a:xfrm>
            <a:off x="5013039" y="5826280"/>
            <a:ext cx="292608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70000" lnSpcReduction="20000"/>
          </a:bodyPr>
          <a:lstStyle/>
          <a:p>
            <a:pPr algn="l">
              <a:spcAft>
                <a:spcPts val="300"/>
              </a:spcAft>
            </a:pPr>
            <a:r>
              <a:rPr lang="vi-VN" sz="2000" b="1" dirty="0">
                <a:solidFill>
                  <a:srgbClr val="64748B"/>
                </a:solidFill>
                <a:latin typeface="+mj-lt"/>
                <a:ea typeface="Arial"/>
                <a:cs typeface="Arial"/>
              </a:rPr>
              <a:t>→</a:t>
            </a:r>
          </a:p>
        </p:txBody>
      </p:sp>
      <p:sp>
        <p:nvSpPr>
          <p:cNvPr id="39" name="Shape 28">
            <a:extLst>
              <a:ext uri="{FF2B5EF4-FFF2-40B4-BE49-F238E27FC236}">
                <a16:creationId xmlns:a16="http://schemas.microsoft.com/office/drawing/2014/main" id="{B6B5CA77-414D-EDFB-52C0-0650A77208B7}"/>
              </a:ext>
            </a:extLst>
          </p:cNvPr>
          <p:cNvSpPr/>
          <p:nvPr/>
        </p:nvSpPr>
        <p:spPr>
          <a:xfrm>
            <a:off x="5351367" y="5661688"/>
            <a:ext cx="1664208" cy="530352"/>
          </a:xfrm>
          <a:prstGeom prst="roundRect">
            <a:avLst/>
          </a:prstGeom>
          <a:solidFill>
            <a:srgbClr val="FFF7ED"/>
          </a:solidFill>
          <a:ln w="10000">
            <a:solidFill>
              <a:srgbClr val="C7D2FE"/>
            </a:solidFill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41" name="TextBox 29">
            <a:extLst>
              <a:ext uri="{FF2B5EF4-FFF2-40B4-BE49-F238E27FC236}">
                <a16:creationId xmlns:a16="http://schemas.microsoft.com/office/drawing/2014/main" id="{71B5F187-40F8-67B6-6073-CB73922585BA}"/>
              </a:ext>
            </a:extLst>
          </p:cNvPr>
          <p:cNvSpPr txBox="1"/>
          <p:nvPr/>
        </p:nvSpPr>
        <p:spPr>
          <a:xfrm>
            <a:off x="5424519" y="5789704"/>
            <a:ext cx="1517904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lang="vi-VN" sz="1100" b="1" dirty="0">
                <a:solidFill>
                  <a:srgbClr val="9A3412"/>
                </a:solidFill>
                <a:latin typeface="+mj-lt"/>
                <a:ea typeface="Arial"/>
                <a:cs typeface="Arial"/>
              </a:rPr>
              <a:t>Graph expand</a:t>
            </a:r>
          </a:p>
        </p:txBody>
      </p:sp>
      <p:sp>
        <p:nvSpPr>
          <p:cNvPr id="43" name="TextBox 30">
            <a:extLst>
              <a:ext uri="{FF2B5EF4-FFF2-40B4-BE49-F238E27FC236}">
                <a16:creationId xmlns:a16="http://schemas.microsoft.com/office/drawing/2014/main" id="{C6B4AA70-FD16-4206-8113-B5A4C2507039}"/>
              </a:ext>
            </a:extLst>
          </p:cNvPr>
          <p:cNvSpPr txBox="1"/>
          <p:nvPr/>
        </p:nvSpPr>
        <p:spPr>
          <a:xfrm>
            <a:off x="7061295" y="5826280"/>
            <a:ext cx="292608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70000" lnSpcReduction="20000"/>
          </a:bodyPr>
          <a:lstStyle/>
          <a:p>
            <a:pPr algn="l">
              <a:spcAft>
                <a:spcPts val="300"/>
              </a:spcAft>
            </a:pPr>
            <a:r>
              <a:rPr lang="vi-VN" sz="2000" b="1" dirty="0">
                <a:solidFill>
                  <a:srgbClr val="64748B"/>
                </a:solidFill>
                <a:latin typeface="+mj-lt"/>
                <a:ea typeface="Arial"/>
                <a:cs typeface="Arial"/>
              </a:rPr>
              <a:t>→</a:t>
            </a:r>
          </a:p>
        </p:txBody>
      </p:sp>
      <p:sp>
        <p:nvSpPr>
          <p:cNvPr id="45" name="Shape 31">
            <a:extLst>
              <a:ext uri="{FF2B5EF4-FFF2-40B4-BE49-F238E27FC236}">
                <a16:creationId xmlns:a16="http://schemas.microsoft.com/office/drawing/2014/main" id="{4A84CC28-672B-6AA7-B07D-7DC3FB8A3C37}"/>
              </a:ext>
            </a:extLst>
          </p:cNvPr>
          <p:cNvSpPr/>
          <p:nvPr/>
        </p:nvSpPr>
        <p:spPr>
          <a:xfrm>
            <a:off x="7399623" y="5661688"/>
            <a:ext cx="1664208" cy="530352"/>
          </a:xfrm>
          <a:prstGeom prst="roundRect">
            <a:avLst/>
          </a:prstGeom>
          <a:solidFill>
            <a:srgbClr val="FFF7ED"/>
          </a:solidFill>
          <a:ln w="10000">
            <a:solidFill>
              <a:srgbClr val="C7D2FE"/>
            </a:solidFill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47" name="TextBox 32">
            <a:extLst>
              <a:ext uri="{FF2B5EF4-FFF2-40B4-BE49-F238E27FC236}">
                <a16:creationId xmlns:a16="http://schemas.microsoft.com/office/drawing/2014/main" id="{36E628DA-10DC-F824-F40E-FF1389E4D2A9}"/>
              </a:ext>
            </a:extLst>
          </p:cNvPr>
          <p:cNvSpPr txBox="1"/>
          <p:nvPr/>
        </p:nvSpPr>
        <p:spPr>
          <a:xfrm>
            <a:off x="7472775" y="5789704"/>
            <a:ext cx="1517904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lang="vi-VN" sz="1100" b="1" dirty="0">
                <a:solidFill>
                  <a:srgbClr val="9A3412"/>
                </a:solidFill>
                <a:latin typeface="+mj-lt"/>
                <a:ea typeface="Arial"/>
                <a:cs typeface="Arial"/>
              </a:rPr>
              <a:t>Grounded context</a:t>
            </a:r>
          </a:p>
        </p:txBody>
      </p:sp>
      <p:sp>
        <p:nvSpPr>
          <p:cNvPr id="49" name="TextBox 33">
            <a:extLst>
              <a:ext uri="{FF2B5EF4-FFF2-40B4-BE49-F238E27FC236}">
                <a16:creationId xmlns:a16="http://schemas.microsoft.com/office/drawing/2014/main" id="{A2C45A97-3942-4D5C-B03C-62DE6E73495E}"/>
              </a:ext>
            </a:extLst>
          </p:cNvPr>
          <p:cNvSpPr txBox="1"/>
          <p:nvPr/>
        </p:nvSpPr>
        <p:spPr>
          <a:xfrm>
            <a:off x="9109551" y="5826280"/>
            <a:ext cx="292608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70000" lnSpcReduction="20000"/>
          </a:bodyPr>
          <a:lstStyle/>
          <a:p>
            <a:pPr algn="l">
              <a:spcAft>
                <a:spcPts val="300"/>
              </a:spcAft>
            </a:pPr>
            <a:r>
              <a:rPr lang="vi-VN" sz="2000" b="1" dirty="0">
                <a:solidFill>
                  <a:srgbClr val="64748B"/>
                </a:solidFill>
                <a:latin typeface="+mj-lt"/>
                <a:ea typeface="Arial"/>
                <a:cs typeface="Arial"/>
              </a:rPr>
              <a:t>→</a:t>
            </a:r>
          </a:p>
        </p:txBody>
      </p:sp>
      <p:sp>
        <p:nvSpPr>
          <p:cNvPr id="51" name="Shape 34">
            <a:extLst>
              <a:ext uri="{FF2B5EF4-FFF2-40B4-BE49-F238E27FC236}">
                <a16:creationId xmlns:a16="http://schemas.microsoft.com/office/drawing/2014/main" id="{967D3D98-EFC7-1F28-B3AD-C8B2CF51D6C1}"/>
              </a:ext>
            </a:extLst>
          </p:cNvPr>
          <p:cNvSpPr/>
          <p:nvPr/>
        </p:nvSpPr>
        <p:spPr>
          <a:xfrm>
            <a:off x="9447879" y="5661688"/>
            <a:ext cx="1664208" cy="530352"/>
          </a:xfrm>
          <a:prstGeom prst="roundRect">
            <a:avLst/>
          </a:prstGeom>
          <a:solidFill>
            <a:srgbClr val="FFF7ED"/>
          </a:solidFill>
          <a:ln w="10000">
            <a:solidFill>
              <a:srgbClr val="C7D2FE"/>
            </a:solidFill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53" name="TextBox 35">
            <a:extLst>
              <a:ext uri="{FF2B5EF4-FFF2-40B4-BE49-F238E27FC236}">
                <a16:creationId xmlns:a16="http://schemas.microsoft.com/office/drawing/2014/main" id="{AD7BA9DA-7DF5-24CF-CD3E-8965338A8886}"/>
              </a:ext>
            </a:extLst>
          </p:cNvPr>
          <p:cNvSpPr txBox="1"/>
          <p:nvPr/>
        </p:nvSpPr>
        <p:spPr>
          <a:xfrm>
            <a:off x="9521031" y="5789704"/>
            <a:ext cx="1517904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lang="vi-VN" sz="1100" b="1" dirty="0">
                <a:solidFill>
                  <a:srgbClr val="9A3412"/>
                </a:solidFill>
                <a:latin typeface="+mj-lt"/>
                <a:ea typeface="Arial"/>
                <a:cs typeface="Arial"/>
              </a:rPr>
              <a:t>LLM answer</a:t>
            </a:r>
          </a:p>
        </p:txBody>
      </p:sp>
      <p:sp>
        <p:nvSpPr>
          <p:cNvPr id="55" name="Shape 37">
            <a:extLst>
              <a:ext uri="{FF2B5EF4-FFF2-40B4-BE49-F238E27FC236}">
                <a16:creationId xmlns:a16="http://schemas.microsoft.com/office/drawing/2014/main" id="{520A9109-B2BC-80D7-11F1-4CCA0144EFC5}"/>
              </a:ext>
            </a:extLst>
          </p:cNvPr>
          <p:cNvSpPr/>
          <p:nvPr/>
        </p:nvSpPr>
        <p:spPr>
          <a:xfrm>
            <a:off x="1081119" y="1327432"/>
            <a:ext cx="73152" cy="502920"/>
          </a:xfrm>
          <a:prstGeom prst="rect">
            <a:avLst/>
          </a:prstGeom>
          <a:solidFill>
            <a:srgbClr val="F2C94C"/>
          </a:solidFill>
          <a:ln>
            <a:noFill/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57" name="TextBox 38">
            <a:extLst>
              <a:ext uri="{FF2B5EF4-FFF2-40B4-BE49-F238E27FC236}">
                <a16:creationId xmlns:a16="http://schemas.microsoft.com/office/drawing/2014/main" id="{950C2AE5-A57D-105E-6F4D-E1C6A1182986}"/>
              </a:ext>
            </a:extLst>
          </p:cNvPr>
          <p:cNvSpPr txBox="1"/>
          <p:nvPr/>
        </p:nvSpPr>
        <p:spPr>
          <a:xfrm>
            <a:off x="1117695" y="1327432"/>
            <a:ext cx="101498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lnSpcReduction="10000"/>
          </a:bodyPr>
          <a:lstStyle/>
          <a:p>
            <a:pPr algn="l">
              <a:spcAft>
                <a:spcPts val="300"/>
              </a:spcAft>
            </a:pPr>
            <a:r>
              <a:rPr lang="vi-VN" sz="28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Lý thuyết: RAG và Graph RAG</a:t>
            </a:r>
          </a:p>
        </p:txBody>
      </p:sp>
    </p:spTree>
    <p:extLst>
      <p:ext uri="{BB962C8B-B14F-4D97-AF65-F5344CB8AC3E}">
        <p14:creationId xmlns:p14="http://schemas.microsoft.com/office/powerpoint/2010/main" val="284472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91EC4-A474-57D8-2CCA-BEF9EBD91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C083BF-263D-833A-A17E-00C3429ED7D0}"/>
              </a:ext>
            </a:extLst>
          </p:cNvPr>
          <p:cNvSpPr txBox="1"/>
          <p:nvPr/>
        </p:nvSpPr>
        <p:spPr>
          <a:xfrm>
            <a:off x="1950719" y="356486"/>
            <a:ext cx="8290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>
                <a:solidFill>
                  <a:schemeClr val="bg1"/>
                </a:solidFill>
                <a:latin typeface="+mj-lt"/>
              </a:rPr>
              <a:t>ĐẠI HỌC GIAO THÔNG VẬN TẢI PHÂN HIỆ</a:t>
            </a:r>
            <a:r>
              <a:rPr lang="en-US" altLang="vi-VN" b="1" dirty="0">
                <a:solidFill>
                  <a:schemeClr val="bg1"/>
                </a:solidFill>
                <a:latin typeface="+mj-lt"/>
              </a:rPr>
              <a:t>U</a:t>
            </a:r>
            <a:r>
              <a:rPr lang="vi-VN" b="1" dirty="0">
                <a:solidFill>
                  <a:schemeClr val="bg1"/>
                </a:solidFill>
                <a:latin typeface="+mj-lt"/>
              </a:rPr>
              <a:t> THÀNH PHỐ HỒ CHÍ MINH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02EF19D-BE32-8B0C-4680-DC9F6765D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FCFE7-4CFC-4698-A5C8-57D6C94FD847}" type="slidenum">
              <a:rPr lang="en-US" smtClean="0"/>
              <a:t>6</a:t>
            </a:fld>
            <a:endParaRPr lang="en-US"/>
          </a:p>
        </p:txBody>
      </p:sp>
      <p:sp>
        <p:nvSpPr>
          <p:cNvPr id="4" name="Card 11">
            <a:extLst>
              <a:ext uri="{FF2B5EF4-FFF2-40B4-BE49-F238E27FC236}">
                <a16:creationId xmlns:a16="http://schemas.microsoft.com/office/drawing/2014/main" id="{6D58882D-6CB3-1300-A2F0-627506839E72}"/>
              </a:ext>
            </a:extLst>
          </p:cNvPr>
          <p:cNvSpPr/>
          <p:nvPr/>
        </p:nvSpPr>
        <p:spPr>
          <a:xfrm>
            <a:off x="1061911" y="2430061"/>
            <a:ext cx="2514600" cy="1874520"/>
          </a:xfrm>
          <a:prstGeom prst="roundRect">
            <a:avLst/>
          </a:prstGeom>
          <a:solidFill>
            <a:srgbClr val="F7F8FB"/>
          </a:solidFill>
          <a:ln w="9000">
            <a:solidFill>
              <a:srgbClr val="D3D8E2"/>
            </a:solidFill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6" name="Accent 12">
            <a:extLst>
              <a:ext uri="{FF2B5EF4-FFF2-40B4-BE49-F238E27FC236}">
                <a16:creationId xmlns:a16="http://schemas.microsoft.com/office/drawing/2014/main" id="{03A5AD7A-8D0D-0B2C-3D04-D8881DBC8203}"/>
              </a:ext>
            </a:extLst>
          </p:cNvPr>
          <p:cNvSpPr/>
          <p:nvPr/>
        </p:nvSpPr>
        <p:spPr>
          <a:xfrm>
            <a:off x="1061911" y="2430061"/>
            <a:ext cx="64008" cy="18745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9" name="TextBox 13">
            <a:extLst>
              <a:ext uri="{FF2B5EF4-FFF2-40B4-BE49-F238E27FC236}">
                <a16:creationId xmlns:a16="http://schemas.microsoft.com/office/drawing/2014/main" id="{1FEB4386-30C0-981F-36AB-FCF8B131D6D6}"/>
              </a:ext>
            </a:extLst>
          </p:cNvPr>
          <p:cNvSpPr txBox="1"/>
          <p:nvPr/>
        </p:nvSpPr>
        <p:spPr>
          <a:xfrm>
            <a:off x="1226503" y="2539789"/>
            <a:ext cx="22402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92500" lnSpcReduction="20000"/>
          </a:bodyPr>
          <a:lstStyle/>
          <a:p>
            <a:pPr algn="l">
              <a:spcAft>
                <a:spcPts val="300"/>
              </a:spcAft>
            </a:pPr>
            <a:r>
              <a:rPr lang="vi-VN" sz="1600" b="1" dirty="0">
                <a:solidFill>
                  <a:srgbClr val="0F766E"/>
                </a:solidFill>
                <a:latin typeface="+mj-lt"/>
                <a:ea typeface="Arial"/>
                <a:cs typeface="Arial"/>
              </a:rPr>
              <a:t>Frontend</a:t>
            </a:r>
          </a:p>
        </p:txBody>
      </p:sp>
      <p:sp>
        <p:nvSpPr>
          <p:cNvPr id="11" name="TextBox 14">
            <a:extLst>
              <a:ext uri="{FF2B5EF4-FFF2-40B4-BE49-F238E27FC236}">
                <a16:creationId xmlns:a16="http://schemas.microsoft.com/office/drawing/2014/main" id="{898D01BB-C516-A1FF-29D7-056294955321}"/>
              </a:ext>
            </a:extLst>
          </p:cNvPr>
          <p:cNvSpPr txBox="1"/>
          <p:nvPr/>
        </p:nvSpPr>
        <p:spPr>
          <a:xfrm>
            <a:off x="1226503" y="2905549"/>
            <a:ext cx="2240280" cy="1307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Flutter đa nền tảng</a:t>
            </a:r>
          </a:p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Riverpod quản lý state</a:t>
            </a:r>
          </a:p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GoRouter điều hướng theo vai trò</a:t>
            </a:r>
          </a:p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Dio/SSE cho chat streaming, WebSocket realtime</a:t>
            </a:r>
          </a:p>
        </p:txBody>
      </p:sp>
      <p:sp>
        <p:nvSpPr>
          <p:cNvPr id="13" name="Card 15">
            <a:extLst>
              <a:ext uri="{FF2B5EF4-FFF2-40B4-BE49-F238E27FC236}">
                <a16:creationId xmlns:a16="http://schemas.microsoft.com/office/drawing/2014/main" id="{23A0222C-CBA7-D42D-F223-0A9A497FAEFB}"/>
              </a:ext>
            </a:extLst>
          </p:cNvPr>
          <p:cNvSpPr/>
          <p:nvPr/>
        </p:nvSpPr>
        <p:spPr>
          <a:xfrm>
            <a:off x="3805111" y="2430061"/>
            <a:ext cx="2514600" cy="1874520"/>
          </a:xfrm>
          <a:prstGeom prst="roundRect">
            <a:avLst/>
          </a:prstGeom>
          <a:solidFill>
            <a:srgbClr val="F7F8FB"/>
          </a:solidFill>
          <a:ln w="9000">
            <a:solidFill>
              <a:srgbClr val="D3D8E2"/>
            </a:solidFill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15" name="Accent 16">
            <a:extLst>
              <a:ext uri="{FF2B5EF4-FFF2-40B4-BE49-F238E27FC236}">
                <a16:creationId xmlns:a16="http://schemas.microsoft.com/office/drawing/2014/main" id="{C01B1A1B-C2C5-360E-3BAA-71DD0BD61E5F}"/>
              </a:ext>
            </a:extLst>
          </p:cNvPr>
          <p:cNvSpPr/>
          <p:nvPr/>
        </p:nvSpPr>
        <p:spPr>
          <a:xfrm>
            <a:off x="3805111" y="2430061"/>
            <a:ext cx="64008" cy="1874520"/>
          </a:xfrm>
          <a:prstGeom prst="rect">
            <a:avLst/>
          </a:prstGeom>
          <a:solidFill>
            <a:srgbClr val="20135A"/>
          </a:solidFill>
          <a:ln>
            <a:noFill/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36CBCDED-4FB5-FDE1-F8E4-7314F4099DE4}"/>
              </a:ext>
            </a:extLst>
          </p:cNvPr>
          <p:cNvSpPr txBox="1"/>
          <p:nvPr/>
        </p:nvSpPr>
        <p:spPr>
          <a:xfrm>
            <a:off x="3969703" y="2539789"/>
            <a:ext cx="22402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92500" lnSpcReduction="20000"/>
          </a:bodyPr>
          <a:lstStyle/>
          <a:p>
            <a:pPr algn="l">
              <a:spcAft>
                <a:spcPts val="300"/>
              </a:spcAft>
            </a:pPr>
            <a:r>
              <a:rPr lang="vi-VN" sz="16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Backend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0E94BB0-D9E5-88AA-158A-63BA4E74072D}"/>
              </a:ext>
            </a:extLst>
          </p:cNvPr>
          <p:cNvSpPr txBox="1"/>
          <p:nvPr/>
        </p:nvSpPr>
        <p:spPr>
          <a:xfrm>
            <a:off x="3969703" y="2905549"/>
            <a:ext cx="2240280" cy="1307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FastAPI async monolith</a:t>
            </a:r>
          </a:p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SQLAlchemy repository/service</a:t>
            </a:r>
          </a:p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JWT auth, role và venue scope</a:t>
            </a:r>
          </a:p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SSE, WebSocket, Redis pub/sub</a:t>
            </a:r>
          </a:p>
        </p:txBody>
      </p:sp>
      <p:sp>
        <p:nvSpPr>
          <p:cNvPr id="21" name="Card 19">
            <a:extLst>
              <a:ext uri="{FF2B5EF4-FFF2-40B4-BE49-F238E27FC236}">
                <a16:creationId xmlns:a16="http://schemas.microsoft.com/office/drawing/2014/main" id="{D96F21F0-8028-1A78-48C1-5F98E6A62E98}"/>
              </a:ext>
            </a:extLst>
          </p:cNvPr>
          <p:cNvSpPr/>
          <p:nvPr/>
        </p:nvSpPr>
        <p:spPr>
          <a:xfrm>
            <a:off x="6548311" y="2430061"/>
            <a:ext cx="2514600" cy="1874520"/>
          </a:xfrm>
          <a:prstGeom prst="roundRect">
            <a:avLst/>
          </a:prstGeom>
          <a:solidFill>
            <a:srgbClr val="F7F8FB"/>
          </a:solidFill>
          <a:ln w="9000">
            <a:solidFill>
              <a:srgbClr val="D3D8E2"/>
            </a:solidFill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23" name="Accent 20">
            <a:extLst>
              <a:ext uri="{FF2B5EF4-FFF2-40B4-BE49-F238E27FC236}">
                <a16:creationId xmlns:a16="http://schemas.microsoft.com/office/drawing/2014/main" id="{8CAD668F-20E3-078B-E561-94B282628A54}"/>
              </a:ext>
            </a:extLst>
          </p:cNvPr>
          <p:cNvSpPr/>
          <p:nvPr/>
        </p:nvSpPr>
        <p:spPr>
          <a:xfrm>
            <a:off x="6548311" y="2430061"/>
            <a:ext cx="64008" cy="18745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25" name="TextBox 21">
            <a:extLst>
              <a:ext uri="{FF2B5EF4-FFF2-40B4-BE49-F238E27FC236}">
                <a16:creationId xmlns:a16="http://schemas.microsoft.com/office/drawing/2014/main" id="{65E4A78F-A22C-FA3C-3EB1-C668D41EEF78}"/>
              </a:ext>
            </a:extLst>
          </p:cNvPr>
          <p:cNvSpPr txBox="1"/>
          <p:nvPr/>
        </p:nvSpPr>
        <p:spPr>
          <a:xfrm>
            <a:off x="6712903" y="2539789"/>
            <a:ext cx="22402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92500" lnSpcReduction="20000"/>
          </a:bodyPr>
          <a:lstStyle/>
          <a:p>
            <a:pPr algn="l">
              <a:spcAft>
                <a:spcPts val="300"/>
              </a:spcAft>
            </a:pPr>
            <a:r>
              <a:rPr lang="vi-VN" sz="1600" b="1" dirty="0">
                <a:solidFill>
                  <a:srgbClr val="7C3AED"/>
                </a:solidFill>
                <a:latin typeface="+mj-lt"/>
                <a:ea typeface="Arial"/>
                <a:cs typeface="Arial"/>
              </a:rPr>
              <a:t>AI/KG</a:t>
            </a:r>
          </a:p>
        </p:txBody>
      </p:sp>
      <p:sp>
        <p:nvSpPr>
          <p:cNvPr id="27" name="TextBox 22">
            <a:extLst>
              <a:ext uri="{FF2B5EF4-FFF2-40B4-BE49-F238E27FC236}">
                <a16:creationId xmlns:a16="http://schemas.microsoft.com/office/drawing/2014/main" id="{9844BA3F-4424-3E92-BFB4-AA77EFDA15AB}"/>
              </a:ext>
            </a:extLst>
          </p:cNvPr>
          <p:cNvSpPr txBox="1"/>
          <p:nvPr/>
        </p:nvSpPr>
        <p:spPr>
          <a:xfrm>
            <a:off x="6712903" y="2905549"/>
            <a:ext cx="2240280" cy="1307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LangChain AgentExecutor</a:t>
            </a:r>
          </a:p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Google Gemini / MiMo / Ollama fallback</a:t>
            </a:r>
          </a:p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Neo4j full-text và vector index</a:t>
            </a:r>
          </a:p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nomic-embed-text, bilingual fields</a:t>
            </a:r>
          </a:p>
        </p:txBody>
      </p:sp>
      <p:sp>
        <p:nvSpPr>
          <p:cNvPr id="29" name="Card 23">
            <a:extLst>
              <a:ext uri="{FF2B5EF4-FFF2-40B4-BE49-F238E27FC236}">
                <a16:creationId xmlns:a16="http://schemas.microsoft.com/office/drawing/2014/main" id="{17F0F536-D09B-6910-1C0D-88CB19CD7E7B}"/>
              </a:ext>
            </a:extLst>
          </p:cNvPr>
          <p:cNvSpPr/>
          <p:nvPr/>
        </p:nvSpPr>
        <p:spPr>
          <a:xfrm>
            <a:off x="9291511" y="2430061"/>
            <a:ext cx="2331720" cy="1874520"/>
          </a:xfrm>
          <a:prstGeom prst="roundRect">
            <a:avLst/>
          </a:prstGeom>
          <a:solidFill>
            <a:srgbClr val="F7F8FB"/>
          </a:solidFill>
          <a:ln w="9000">
            <a:solidFill>
              <a:srgbClr val="D3D8E2"/>
            </a:solidFill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31" name="Accent 24">
            <a:extLst>
              <a:ext uri="{FF2B5EF4-FFF2-40B4-BE49-F238E27FC236}">
                <a16:creationId xmlns:a16="http://schemas.microsoft.com/office/drawing/2014/main" id="{FE475700-69F5-9DBD-AA16-5930E8F10069}"/>
              </a:ext>
            </a:extLst>
          </p:cNvPr>
          <p:cNvSpPr/>
          <p:nvPr/>
        </p:nvSpPr>
        <p:spPr>
          <a:xfrm>
            <a:off x="9291511" y="2430061"/>
            <a:ext cx="64008" cy="18745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33" name="TextBox 25">
            <a:extLst>
              <a:ext uri="{FF2B5EF4-FFF2-40B4-BE49-F238E27FC236}">
                <a16:creationId xmlns:a16="http://schemas.microsoft.com/office/drawing/2014/main" id="{29784B6E-25CE-5CB3-983A-501FBBFB50E6}"/>
              </a:ext>
            </a:extLst>
          </p:cNvPr>
          <p:cNvSpPr txBox="1"/>
          <p:nvPr/>
        </p:nvSpPr>
        <p:spPr>
          <a:xfrm>
            <a:off x="9456103" y="2539789"/>
            <a:ext cx="20574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92500" lnSpcReduction="20000"/>
          </a:bodyPr>
          <a:lstStyle/>
          <a:p>
            <a:pPr algn="l">
              <a:spcAft>
                <a:spcPts val="300"/>
              </a:spcAft>
            </a:pPr>
            <a:r>
              <a:rPr lang="vi-VN" sz="1600" b="1" dirty="0">
                <a:solidFill>
                  <a:srgbClr val="B45309"/>
                </a:solidFill>
                <a:latin typeface="+mj-lt"/>
                <a:ea typeface="Arial"/>
                <a:cs typeface="Arial"/>
              </a:rPr>
              <a:t>Nghiệp vụ</a:t>
            </a:r>
          </a:p>
        </p:txBody>
      </p:sp>
      <p:sp>
        <p:nvSpPr>
          <p:cNvPr id="35" name="TextBox 26">
            <a:extLst>
              <a:ext uri="{FF2B5EF4-FFF2-40B4-BE49-F238E27FC236}">
                <a16:creationId xmlns:a16="http://schemas.microsoft.com/office/drawing/2014/main" id="{08C24BF4-8D38-D890-01D5-BF0BBE3EADCF}"/>
              </a:ext>
            </a:extLst>
          </p:cNvPr>
          <p:cNvSpPr txBox="1"/>
          <p:nvPr/>
        </p:nvSpPr>
        <p:spPr>
          <a:xfrm>
            <a:off x="9456103" y="2905549"/>
            <a:ext cx="2167128" cy="1307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PostgreSQL: booking, order, menu, payment</a:t>
            </a:r>
          </a:p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Stripe test mode</a:t>
            </a:r>
          </a:p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VNPay Java/gRPC prototype</a:t>
            </a:r>
          </a:p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Camera/resource/partner modules</a:t>
            </a:r>
          </a:p>
        </p:txBody>
      </p:sp>
      <p:sp>
        <p:nvSpPr>
          <p:cNvPr id="37" name="Shape 27">
            <a:extLst>
              <a:ext uri="{FF2B5EF4-FFF2-40B4-BE49-F238E27FC236}">
                <a16:creationId xmlns:a16="http://schemas.microsoft.com/office/drawing/2014/main" id="{EECD0AB5-6671-CB9F-09AC-39760EAE99D6}"/>
              </a:ext>
            </a:extLst>
          </p:cNvPr>
          <p:cNvSpPr/>
          <p:nvPr/>
        </p:nvSpPr>
        <p:spPr>
          <a:xfrm>
            <a:off x="1153351" y="4807501"/>
            <a:ext cx="10378440" cy="868680"/>
          </a:xfrm>
          <a:prstGeom prst="roundRect">
            <a:avLst/>
          </a:prstGeom>
          <a:solidFill>
            <a:srgbClr val="EEF2FF"/>
          </a:solidFill>
          <a:ln w="10000">
            <a:solidFill>
              <a:srgbClr val="C7D2FE"/>
            </a:solidFill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39" name="TextBox 28">
            <a:extLst>
              <a:ext uri="{FF2B5EF4-FFF2-40B4-BE49-F238E27FC236}">
                <a16:creationId xmlns:a16="http://schemas.microsoft.com/office/drawing/2014/main" id="{2FCE987E-C1A6-2756-CA27-30662F7FBAF3}"/>
              </a:ext>
            </a:extLst>
          </p:cNvPr>
          <p:cNvSpPr txBox="1"/>
          <p:nvPr/>
        </p:nvSpPr>
        <p:spPr>
          <a:xfrm>
            <a:off x="1336231" y="4908085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85000" lnSpcReduction="20000"/>
          </a:bodyPr>
          <a:lstStyle/>
          <a:p>
            <a:pPr algn="l">
              <a:spcAft>
                <a:spcPts val="300"/>
              </a:spcAft>
            </a:pPr>
            <a:r>
              <a:rPr lang="vi-VN" sz="16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Trọng tâm nghiên cứu AI</a:t>
            </a:r>
          </a:p>
        </p:txBody>
      </p:sp>
      <p:sp>
        <p:nvSpPr>
          <p:cNvPr id="41" name="TextBox 29">
            <a:extLst>
              <a:ext uri="{FF2B5EF4-FFF2-40B4-BE49-F238E27FC236}">
                <a16:creationId xmlns:a16="http://schemas.microsoft.com/office/drawing/2014/main" id="{91EAA498-C57A-381B-C5DF-15DBF2FF60E1}"/>
              </a:ext>
            </a:extLst>
          </p:cNvPr>
          <p:cNvSpPr txBox="1"/>
          <p:nvPr/>
        </p:nvSpPr>
        <p:spPr>
          <a:xfrm>
            <a:off x="1336231" y="5168603"/>
            <a:ext cx="98298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334155"/>
                </a:solidFill>
                <a:latin typeface="+mj-lt"/>
                <a:ea typeface="Arial"/>
                <a:cs typeface="Arial"/>
              </a:rPr>
              <a:t>Tách rõ vai trò: LLM xử lý ngôn ngữ và chọn hành động; tool/service lấy dữ liệu thật, kiểm tra quyền và ghi dữ liệu. Graph RAG cung cấp tri thức có cấu trúc, còn Agent thực hiện nghiệp vụ qua tool calling.</a:t>
            </a:r>
          </a:p>
        </p:txBody>
      </p:sp>
      <p:sp>
        <p:nvSpPr>
          <p:cNvPr id="43" name="Shape 31">
            <a:extLst>
              <a:ext uri="{FF2B5EF4-FFF2-40B4-BE49-F238E27FC236}">
                <a16:creationId xmlns:a16="http://schemas.microsoft.com/office/drawing/2014/main" id="{3A98E5B6-D902-5372-6951-26E1B1C6C181}"/>
              </a:ext>
            </a:extLst>
          </p:cNvPr>
          <p:cNvSpPr/>
          <p:nvPr/>
        </p:nvSpPr>
        <p:spPr>
          <a:xfrm>
            <a:off x="1042415" y="1543093"/>
            <a:ext cx="73152" cy="502920"/>
          </a:xfrm>
          <a:prstGeom prst="rect">
            <a:avLst/>
          </a:prstGeom>
          <a:solidFill>
            <a:srgbClr val="F2C94C"/>
          </a:solidFill>
          <a:ln>
            <a:noFill/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45" name="TextBox 32">
            <a:extLst>
              <a:ext uri="{FF2B5EF4-FFF2-40B4-BE49-F238E27FC236}">
                <a16:creationId xmlns:a16="http://schemas.microsoft.com/office/drawing/2014/main" id="{E38E6975-6ED0-696B-DC47-8E4A09549344}"/>
              </a:ext>
            </a:extLst>
          </p:cNvPr>
          <p:cNvSpPr txBox="1"/>
          <p:nvPr/>
        </p:nvSpPr>
        <p:spPr>
          <a:xfrm>
            <a:off x="1107631" y="1543093"/>
            <a:ext cx="101498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lnSpcReduction="10000"/>
          </a:bodyPr>
          <a:lstStyle/>
          <a:p>
            <a:pPr algn="l">
              <a:spcAft>
                <a:spcPts val="300"/>
              </a:spcAft>
            </a:pPr>
            <a:r>
              <a:rPr lang="vi-VN" sz="28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Công nghệ nền và nội dung nghiên cứu</a:t>
            </a:r>
          </a:p>
        </p:txBody>
      </p:sp>
    </p:spTree>
    <p:extLst>
      <p:ext uri="{BB962C8B-B14F-4D97-AF65-F5344CB8AC3E}">
        <p14:creationId xmlns:p14="http://schemas.microsoft.com/office/powerpoint/2010/main" val="281994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8C6A5-2AB3-7A58-085D-9887A8C67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CFC3AC-5CFA-2729-4BF6-71604217EB52}"/>
              </a:ext>
            </a:extLst>
          </p:cNvPr>
          <p:cNvSpPr txBox="1"/>
          <p:nvPr/>
        </p:nvSpPr>
        <p:spPr>
          <a:xfrm>
            <a:off x="1950719" y="356486"/>
            <a:ext cx="8290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>
                <a:solidFill>
                  <a:schemeClr val="bg1"/>
                </a:solidFill>
                <a:latin typeface="+mj-lt"/>
              </a:rPr>
              <a:t>ĐẠI HỌC GIAO THÔNG VẬN TẢI PHÂN HIỆ</a:t>
            </a:r>
            <a:r>
              <a:rPr lang="en-US" altLang="vi-VN" b="1" dirty="0">
                <a:solidFill>
                  <a:schemeClr val="bg1"/>
                </a:solidFill>
                <a:latin typeface="+mj-lt"/>
              </a:rPr>
              <a:t>U</a:t>
            </a:r>
            <a:r>
              <a:rPr lang="vi-VN" b="1" dirty="0">
                <a:solidFill>
                  <a:schemeClr val="bg1"/>
                </a:solidFill>
                <a:latin typeface="+mj-lt"/>
              </a:rPr>
              <a:t> THÀNH PHỐ HỒ CHÍ MINH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BB03DB9-F34A-41C8-72D6-6B74C60AD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FCFE7-4CFC-4698-A5C8-57D6C94FD847}" type="slidenum">
              <a:rPr lang="en-US" smtClean="0"/>
              <a:t>7</a:t>
            </a:fld>
            <a:endParaRPr lang="en-US"/>
          </a:p>
        </p:txBody>
      </p:sp>
      <p:sp>
        <p:nvSpPr>
          <p:cNvPr id="3" name="Shape 11">
            <a:extLst>
              <a:ext uri="{FF2B5EF4-FFF2-40B4-BE49-F238E27FC236}">
                <a16:creationId xmlns:a16="http://schemas.microsoft.com/office/drawing/2014/main" id="{8EE0C7FF-7848-EE58-0564-6EF58E375342}"/>
              </a:ext>
            </a:extLst>
          </p:cNvPr>
          <p:cNvSpPr/>
          <p:nvPr/>
        </p:nvSpPr>
        <p:spPr>
          <a:xfrm>
            <a:off x="975360" y="2461116"/>
            <a:ext cx="2514600" cy="141732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CBD5E1"/>
            </a:solidFill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4" name="Shape 12">
            <a:extLst>
              <a:ext uri="{FF2B5EF4-FFF2-40B4-BE49-F238E27FC236}">
                <a16:creationId xmlns:a16="http://schemas.microsoft.com/office/drawing/2014/main" id="{F42B8352-2D41-679F-708F-F4B4731A2D4A}"/>
              </a:ext>
            </a:extLst>
          </p:cNvPr>
          <p:cNvSpPr/>
          <p:nvPr/>
        </p:nvSpPr>
        <p:spPr>
          <a:xfrm>
            <a:off x="975360" y="2461116"/>
            <a:ext cx="2514600" cy="2286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5" name="TextBox 13">
            <a:extLst>
              <a:ext uri="{FF2B5EF4-FFF2-40B4-BE49-F238E27FC236}">
                <a16:creationId xmlns:a16="http://schemas.microsoft.com/office/drawing/2014/main" id="{36D78527-0405-2852-EB89-5C85D5EE832E}"/>
              </a:ext>
            </a:extLst>
          </p:cNvPr>
          <p:cNvSpPr txBox="1"/>
          <p:nvPr/>
        </p:nvSpPr>
        <p:spPr>
          <a:xfrm>
            <a:off x="1112520" y="2772012"/>
            <a:ext cx="22402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lnSpcReduction="10000"/>
          </a:bodyPr>
          <a:lstStyle/>
          <a:p>
            <a:pPr algn="l">
              <a:spcAft>
                <a:spcPts val="300"/>
              </a:spcAft>
            </a:pPr>
            <a:r>
              <a:rPr lang="vi-VN" sz="1500" b="1" dirty="0">
                <a:solidFill>
                  <a:srgbClr val="0F766E"/>
                </a:solidFill>
                <a:latin typeface="+mj-lt"/>
                <a:ea typeface="Arial"/>
                <a:cs typeface="Arial"/>
              </a:rPr>
              <a:t>Flutter App</a:t>
            </a:r>
          </a:p>
        </p:txBody>
      </p:sp>
      <p:sp>
        <p:nvSpPr>
          <p:cNvPr id="6" name="TextBox 14">
            <a:extLst>
              <a:ext uri="{FF2B5EF4-FFF2-40B4-BE49-F238E27FC236}">
                <a16:creationId xmlns:a16="http://schemas.microsoft.com/office/drawing/2014/main" id="{85305752-AC32-53E7-5823-908216A22F0B}"/>
              </a:ext>
            </a:extLst>
          </p:cNvPr>
          <p:cNvSpPr txBox="1"/>
          <p:nvPr/>
        </p:nvSpPr>
        <p:spPr>
          <a:xfrm>
            <a:off x="1139952" y="3174348"/>
            <a:ext cx="2350008" cy="63093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334155"/>
                </a:solidFill>
                <a:latin typeface="+mj-lt"/>
                <a:ea typeface="Arial"/>
                <a:cs typeface="Arial"/>
              </a:rPr>
              <a:t>Chat UI, voice agent, booking, menu, </a:t>
            </a:r>
            <a:r>
              <a:rPr lang="vi-VN" sz="1200" dirty="0" err="1">
                <a:solidFill>
                  <a:srgbClr val="334155"/>
                </a:solidFill>
                <a:latin typeface="+mj-lt"/>
                <a:ea typeface="Arial"/>
                <a:cs typeface="Arial"/>
              </a:rPr>
              <a:t>billing</a:t>
            </a:r>
            <a:r>
              <a:rPr lang="vi-VN" sz="1200" dirty="0">
                <a:solidFill>
                  <a:srgbClr val="334155"/>
                </a:solidFill>
                <a:latin typeface="+mj-lt"/>
                <a:ea typeface="Arial"/>
                <a:cs typeface="Arial"/>
              </a:rPr>
              <a:t>,</a:t>
            </a:r>
            <a:r>
              <a:rPr lang="en-US" sz="1200" dirty="0">
                <a:solidFill>
                  <a:srgbClr val="334155"/>
                </a:solidFill>
                <a:latin typeface="+mj-lt"/>
                <a:ea typeface="Arial"/>
                <a:cs typeface="Arial"/>
              </a:rPr>
              <a:t> </a:t>
            </a:r>
            <a:r>
              <a:rPr lang="vi-VN" sz="1200" dirty="0" err="1">
                <a:solidFill>
                  <a:srgbClr val="334155"/>
                </a:solidFill>
                <a:latin typeface="+mj-lt"/>
                <a:ea typeface="Arial"/>
                <a:cs typeface="Arial"/>
              </a:rPr>
              <a:t>admin</a:t>
            </a:r>
            <a:r>
              <a:rPr lang="vi-VN" sz="1200" dirty="0">
                <a:solidFill>
                  <a:srgbClr val="334155"/>
                </a:solidFill>
                <a:latin typeface="+mj-lt"/>
                <a:ea typeface="Arial"/>
                <a:cs typeface="Arial"/>
              </a:rPr>
              <a:t>/staff/partner screens, mini apps</a:t>
            </a:r>
          </a:p>
        </p:txBody>
      </p:sp>
      <p:sp>
        <p:nvSpPr>
          <p:cNvPr id="7" name="Shape 15">
            <a:extLst>
              <a:ext uri="{FF2B5EF4-FFF2-40B4-BE49-F238E27FC236}">
                <a16:creationId xmlns:a16="http://schemas.microsoft.com/office/drawing/2014/main" id="{09E2986C-7F9E-AE17-7D78-9D50EF58E7CB}"/>
              </a:ext>
            </a:extLst>
          </p:cNvPr>
          <p:cNvSpPr/>
          <p:nvPr/>
        </p:nvSpPr>
        <p:spPr>
          <a:xfrm>
            <a:off x="3901440" y="2461116"/>
            <a:ext cx="2606040" cy="141732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CBD5E1"/>
            </a:solidFill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9" name="Shape 16">
            <a:extLst>
              <a:ext uri="{FF2B5EF4-FFF2-40B4-BE49-F238E27FC236}">
                <a16:creationId xmlns:a16="http://schemas.microsoft.com/office/drawing/2014/main" id="{36479336-A4F0-A378-6A5B-FA15AF64B4F6}"/>
              </a:ext>
            </a:extLst>
          </p:cNvPr>
          <p:cNvSpPr/>
          <p:nvPr/>
        </p:nvSpPr>
        <p:spPr>
          <a:xfrm>
            <a:off x="3901440" y="2461116"/>
            <a:ext cx="2606040" cy="228600"/>
          </a:xfrm>
          <a:prstGeom prst="rect">
            <a:avLst/>
          </a:prstGeom>
          <a:solidFill>
            <a:srgbClr val="20135A"/>
          </a:solidFill>
          <a:ln>
            <a:noFill/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10" name="TextBox 17">
            <a:extLst>
              <a:ext uri="{FF2B5EF4-FFF2-40B4-BE49-F238E27FC236}">
                <a16:creationId xmlns:a16="http://schemas.microsoft.com/office/drawing/2014/main" id="{0251242E-BE30-F697-0D73-4EF983A526C8}"/>
              </a:ext>
            </a:extLst>
          </p:cNvPr>
          <p:cNvSpPr txBox="1"/>
          <p:nvPr/>
        </p:nvSpPr>
        <p:spPr>
          <a:xfrm>
            <a:off x="4038600" y="2772012"/>
            <a:ext cx="23317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lnSpcReduction="10000"/>
          </a:bodyPr>
          <a:lstStyle/>
          <a:p>
            <a:pPr algn="l">
              <a:spcAft>
                <a:spcPts val="300"/>
              </a:spcAft>
            </a:pPr>
            <a:r>
              <a:rPr lang="vi-VN" sz="15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FastAPI Backend</a:t>
            </a: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FB7A906C-4EEC-6E47-535D-DF471200B8A0}"/>
              </a:ext>
            </a:extLst>
          </p:cNvPr>
          <p:cNvSpPr txBox="1"/>
          <p:nvPr/>
        </p:nvSpPr>
        <p:spPr>
          <a:xfrm>
            <a:off x="4066032" y="3174348"/>
            <a:ext cx="2276856" cy="63093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lnSpcReduction="10000"/>
          </a:bodyPr>
          <a:lstStyle/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334155"/>
                </a:solidFill>
                <a:latin typeface="+mj-lt"/>
                <a:ea typeface="Arial"/>
                <a:cs typeface="Arial"/>
              </a:rPr>
              <a:t>REST/SSE/WebSocket, auth, rate limit, services, repositories, response metadata</a:t>
            </a:r>
          </a:p>
        </p:txBody>
      </p:sp>
      <p:sp>
        <p:nvSpPr>
          <p:cNvPr id="12" name="Shape 19">
            <a:extLst>
              <a:ext uri="{FF2B5EF4-FFF2-40B4-BE49-F238E27FC236}">
                <a16:creationId xmlns:a16="http://schemas.microsoft.com/office/drawing/2014/main" id="{DE628D5C-9EED-A0F0-4D3D-8BB56C28DBDF}"/>
              </a:ext>
            </a:extLst>
          </p:cNvPr>
          <p:cNvSpPr/>
          <p:nvPr/>
        </p:nvSpPr>
        <p:spPr>
          <a:xfrm>
            <a:off x="6918960" y="2461116"/>
            <a:ext cx="2514600" cy="141732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CBD5E1"/>
            </a:solidFill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13" name="Shape 20">
            <a:extLst>
              <a:ext uri="{FF2B5EF4-FFF2-40B4-BE49-F238E27FC236}">
                <a16:creationId xmlns:a16="http://schemas.microsoft.com/office/drawing/2014/main" id="{5BE749AF-FA3A-5592-FB33-00C90CCC2384}"/>
              </a:ext>
            </a:extLst>
          </p:cNvPr>
          <p:cNvSpPr/>
          <p:nvPr/>
        </p:nvSpPr>
        <p:spPr>
          <a:xfrm>
            <a:off x="6918960" y="2461116"/>
            <a:ext cx="2514600" cy="228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14" name="TextBox 21">
            <a:extLst>
              <a:ext uri="{FF2B5EF4-FFF2-40B4-BE49-F238E27FC236}">
                <a16:creationId xmlns:a16="http://schemas.microsoft.com/office/drawing/2014/main" id="{A197816D-50F0-3BF1-A155-0404C4D96E76}"/>
              </a:ext>
            </a:extLst>
          </p:cNvPr>
          <p:cNvSpPr txBox="1"/>
          <p:nvPr/>
        </p:nvSpPr>
        <p:spPr>
          <a:xfrm>
            <a:off x="7056120" y="2772012"/>
            <a:ext cx="22402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lnSpcReduction="10000"/>
          </a:bodyPr>
          <a:lstStyle/>
          <a:p>
            <a:pPr algn="l">
              <a:spcAft>
                <a:spcPts val="300"/>
              </a:spcAft>
            </a:pPr>
            <a:r>
              <a:rPr lang="vi-VN" sz="1500" b="1" dirty="0">
                <a:solidFill>
                  <a:srgbClr val="7C3AED"/>
                </a:solidFill>
                <a:latin typeface="+mj-lt"/>
                <a:ea typeface="Arial"/>
                <a:cs typeface="Arial"/>
              </a:rPr>
              <a:t>AI Agent Layer</a:t>
            </a:r>
          </a:p>
        </p:txBody>
      </p:sp>
      <p:sp>
        <p:nvSpPr>
          <p:cNvPr id="15" name="TextBox 22">
            <a:extLst>
              <a:ext uri="{FF2B5EF4-FFF2-40B4-BE49-F238E27FC236}">
                <a16:creationId xmlns:a16="http://schemas.microsoft.com/office/drawing/2014/main" id="{D28BC15B-19C6-15E8-C6B5-75053F6CDEB3}"/>
              </a:ext>
            </a:extLst>
          </p:cNvPr>
          <p:cNvSpPr txBox="1"/>
          <p:nvPr/>
        </p:nvSpPr>
        <p:spPr>
          <a:xfrm>
            <a:off x="7083552" y="3174348"/>
            <a:ext cx="2185416" cy="63093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lnSpcReduction="10000"/>
          </a:bodyPr>
          <a:lstStyle/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334155"/>
                </a:solidFill>
                <a:latin typeface="+mj-lt"/>
                <a:ea typeface="Arial"/>
                <a:cs typeface="Arial"/>
              </a:rPr>
              <a:t>IntentRouter, VenueAgent, LangChain AgentExecutor, tool registry, fallback LLM</a:t>
            </a:r>
          </a:p>
        </p:txBody>
      </p:sp>
      <p:sp>
        <p:nvSpPr>
          <p:cNvPr id="16" name="Shape 23">
            <a:extLst>
              <a:ext uri="{FF2B5EF4-FFF2-40B4-BE49-F238E27FC236}">
                <a16:creationId xmlns:a16="http://schemas.microsoft.com/office/drawing/2014/main" id="{334153B0-2CFF-76D0-066B-10B841599D38}"/>
              </a:ext>
            </a:extLst>
          </p:cNvPr>
          <p:cNvSpPr/>
          <p:nvPr/>
        </p:nvSpPr>
        <p:spPr>
          <a:xfrm>
            <a:off x="9753600" y="2461116"/>
            <a:ext cx="1783080" cy="141732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CBD5E1"/>
            </a:solidFill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17" name="Shape 24">
            <a:extLst>
              <a:ext uri="{FF2B5EF4-FFF2-40B4-BE49-F238E27FC236}">
                <a16:creationId xmlns:a16="http://schemas.microsoft.com/office/drawing/2014/main" id="{A6ADBD2F-363F-8438-0AE3-7881EC4C6698}"/>
              </a:ext>
            </a:extLst>
          </p:cNvPr>
          <p:cNvSpPr/>
          <p:nvPr/>
        </p:nvSpPr>
        <p:spPr>
          <a:xfrm>
            <a:off x="9753600" y="2461116"/>
            <a:ext cx="1783080" cy="2286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18" name="TextBox 25">
            <a:extLst>
              <a:ext uri="{FF2B5EF4-FFF2-40B4-BE49-F238E27FC236}">
                <a16:creationId xmlns:a16="http://schemas.microsoft.com/office/drawing/2014/main" id="{6166034E-DF1C-3F8F-9F5B-7CE431791DD6}"/>
              </a:ext>
            </a:extLst>
          </p:cNvPr>
          <p:cNvSpPr txBox="1"/>
          <p:nvPr/>
        </p:nvSpPr>
        <p:spPr>
          <a:xfrm>
            <a:off x="9890760" y="2772012"/>
            <a:ext cx="15087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lnSpcReduction="10000"/>
          </a:bodyPr>
          <a:lstStyle/>
          <a:p>
            <a:pPr algn="l">
              <a:spcAft>
                <a:spcPts val="300"/>
              </a:spcAft>
            </a:pPr>
            <a:r>
              <a:rPr lang="vi-VN" sz="1500" b="1" dirty="0">
                <a:solidFill>
                  <a:srgbClr val="B45309"/>
                </a:solidFill>
                <a:latin typeface="+mj-lt"/>
                <a:ea typeface="Arial"/>
                <a:cs typeface="Arial"/>
              </a:rPr>
              <a:t>Infrastructure</a:t>
            </a:r>
          </a:p>
        </p:txBody>
      </p:sp>
      <p:sp>
        <p:nvSpPr>
          <p:cNvPr id="19" name="TextBox 26">
            <a:extLst>
              <a:ext uri="{FF2B5EF4-FFF2-40B4-BE49-F238E27FC236}">
                <a16:creationId xmlns:a16="http://schemas.microsoft.com/office/drawing/2014/main" id="{84F3860D-87D1-D07C-7BD2-1330B5540684}"/>
              </a:ext>
            </a:extLst>
          </p:cNvPr>
          <p:cNvSpPr txBox="1"/>
          <p:nvPr/>
        </p:nvSpPr>
        <p:spPr>
          <a:xfrm>
            <a:off x="9991344" y="3063068"/>
            <a:ext cx="1453896" cy="63093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334155"/>
                </a:solidFill>
                <a:latin typeface="+mj-lt"/>
                <a:ea typeface="Arial"/>
                <a:cs typeface="Arial"/>
              </a:rPr>
              <a:t>PostgreSQL, Neo4j, Redis, Stripe, VNPay prototype, camera streams</a:t>
            </a:r>
          </a:p>
        </p:txBody>
      </p:sp>
      <p:cxnSp>
        <p:nvCxnSpPr>
          <p:cNvPr id="20" name="Connector 27">
            <a:extLst>
              <a:ext uri="{FF2B5EF4-FFF2-40B4-BE49-F238E27FC236}">
                <a16:creationId xmlns:a16="http://schemas.microsoft.com/office/drawing/2014/main" id="{A1960E42-C2ED-2EE4-A3C5-BF61438420BA}"/>
              </a:ext>
            </a:extLst>
          </p:cNvPr>
          <p:cNvCxnSpPr/>
          <p:nvPr/>
        </p:nvCxnSpPr>
        <p:spPr>
          <a:xfrm>
            <a:off x="3508248" y="3165204"/>
            <a:ext cx="347472" cy="0"/>
          </a:xfrm>
          <a:prstGeom prst="straightConnector1">
            <a:avLst/>
          </a:prstGeom>
          <a:ln w="18000">
            <a:solidFill>
              <a:srgbClr val="64748B"/>
            </a:solidFill>
            <a:tailEnd type="triangle"/>
          </a:ln>
        </p:spPr>
      </p:cxnSp>
      <p:cxnSp>
        <p:nvCxnSpPr>
          <p:cNvPr id="21" name="Connector 28">
            <a:extLst>
              <a:ext uri="{FF2B5EF4-FFF2-40B4-BE49-F238E27FC236}">
                <a16:creationId xmlns:a16="http://schemas.microsoft.com/office/drawing/2014/main" id="{81A9C95B-8CDA-4704-70A6-FBB00C3827FA}"/>
              </a:ext>
            </a:extLst>
          </p:cNvPr>
          <p:cNvCxnSpPr/>
          <p:nvPr/>
        </p:nvCxnSpPr>
        <p:spPr>
          <a:xfrm>
            <a:off x="6534912" y="3165204"/>
            <a:ext cx="347472" cy="0"/>
          </a:xfrm>
          <a:prstGeom prst="straightConnector1">
            <a:avLst/>
          </a:prstGeom>
          <a:ln w="18000">
            <a:solidFill>
              <a:srgbClr val="64748B"/>
            </a:solidFill>
            <a:tailEnd type="triangle"/>
          </a:ln>
        </p:spPr>
      </p:cxnSp>
      <p:cxnSp>
        <p:nvCxnSpPr>
          <p:cNvPr id="22" name="Connector 29">
            <a:extLst>
              <a:ext uri="{FF2B5EF4-FFF2-40B4-BE49-F238E27FC236}">
                <a16:creationId xmlns:a16="http://schemas.microsoft.com/office/drawing/2014/main" id="{7FE8AEB3-07D8-07F2-FDD6-A5274095D26C}"/>
              </a:ext>
            </a:extLst>
          </p:cNvPr>
          <p:cNvCxnSpPr/>
          <p:nvPr/>
        </p:nvCxnSpPr>
        <p:spPr>
          <a:xfrm>
            <a:off x="9451848" y="3165204"/>
            <a:ext cx="256032" cy="0"/>
          </a:xfrm>
          <a:prstGeom prst="straightConnector1">
            <a:avLst/>
          </a:prstGeom>
          <a:ln w="18000">
            <a:solidFill>
              <a:srgbClr val="64748B"/>
            </a:solidFill>
            <a:tailEnd type="triangle"/>
          </a:ln>
        </p:spPr>
      </p:cxnSp>
      <p:sp>
        <p:nvSpPr>
          <p:cNvPr id="23" name="Card 30">
            <a:extLst>
              <a:ext uri="{FF2B5EF4-FFF2-40B4-BE49-F238E27FC236}">
                <a16:creationId xmlns:a16="http://schemas.microsoft.com/office/drawing/2014/main" id="{182BCAB3-0BFF-EB75-E878-2AE0F89F8DA7}"/>
              </a:ext>
            </a:extLst>
          </p:cNvPr>
          <p:cNvSpPr/>
          <p:nvPr/>
        </p:nvSpPr>
        <p:spPr>
          <a:xfrm>
            <a:off x="969206" y="4470037"/>
            <a:ext cx="10378440" cy="1417320"/>
          </a:xfrm>
          <a:prstGeom prst="roundRect">
            <a:avLst/>
          </a:prstGeom>
          <a:solidFill>
            <a:srgbClr val="F7F8FB"/>
          </a:solidFill>
          <a:ln w="9000">
            <a:solidFill>
              <a:srgbClr val="D3D8E2"/>
            </a:solidFill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24" name="Accent 31">
            <a:extLst>
              <a:ext uri="{FF2B5EF4-FFF2-40B4-BE49-F238E27FC236}">
                <a16:creationId xmlns:a16="http://schemas.microsoft.com/office/drawing/2014/main" id="{5C7CBC9D-3345-109C-611E-71D9140B4553}"/>
              </a:ext>
            </a:extLst>
          </p:cNvPr>
          <p:cNvSpPr/>
          <p:nvPr/>
        </p:nvSpPr>
        <p:spPr>
          <a:xfrm>
            <a:off x="969206" y="4470037"/>
            <a:ext cx="64008" cy="1417320"/>
          </a:xfrm>
          <a:prstGeom prst="rect">
            <a:avLst/>
          </a:prstGeom>
          <a:solidFill>
            <a:srgbClr val="20135A"/>
          </a:solidFill>
          <a:ln>
            <a:noFill/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25" name="TextBox 32">
            <a:extLst>
              <a:ext uri="{FF2B5EF4-FFF2-40B4-BE49-F238E27FC236}">
                <a16:creationId xmlns:a16="http://schemas.microsoft.com/office/drawing/2014/main" id="{DA9169A2-CEE3-A42B-9721-C41CE0DC883B}"/>
              </a:ext>
            </a:extLst>
          </p:cNvPr>
          <p:cNvSpPr txBox="1"/>
          <p:nvPr/>
        </p:nvSpPr>
        <p:spPr>
          <a:xfrm>
            <a:off x="1133798" y="4579765"/>
            <a:ext cx="101041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92500" lnSpcReduction="20000"/>
          </a:bodyPr>
          <a:lstStyle/>
          <a:p>
            <a:pPr algn="l">
              <a:spcAft>
                <a:spcPts val="300"/>
              </a:spcAft>
            </a:pPr>
            <a:r>
              <a:rPr lang="vi-VN" sz="16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Nguyên tắc thiết kế</a:t>
            </a:r>
          </a:p>
        </p:txBody>
      </p:sp>
      <p:sp>
        <p:nvSpPr>
          <p:cNvPr id="26" name="TextBox 33">
            <a:extLst>
              <a:ext uri="{FF2B5EF4-FFF2-40B4-BE49-F238E27FC236}">
                <a16:creationId xmlns:a16="http://schemas.microsoft.com/office/drawing/2014/main" id="{3CD30E4F-EF0B-A948-FA1D-00A2B3F4A137}"/>
              </a:ext>
            </a:extLst>
          </p:cNvPr>
          <p:cNvSpPr txBox="1"/>
          <p:nvPr/>
        </p:nvSpPr>
        <p:spPr>
          <a:xfrm>
            <a:off x="1133798" y="4945525"/>
            <a:ext cx="10104120" cy="8503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92500" lnSpcReduction="20000"/>
          </a:bodyPr>
          <a:lstStyle/>
          <a:p>
            <a:pPr algn="l">
              <a:spcAft>
                <a:spcPts val="300"/>
              </a:spcAft>
            </a:pPr>
            <a:r>
              <a:rPr lang="vi-VN" sz="13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Monolith phân tầng để dễ kiểm thử và triển khai trong phạm vi đồ án.</a:t>
            </a:r>
          </a:p>
          <a:p>
            <a:pPr algn="l">
              <a:spcAft>
                <a:spcPts val="300"/>
              </a:spcAft>
            </a:pPr>
            <a:r>
              <a:rPr lang="vi-VN" sz="13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LLM không truy cập DB trực tiếp; mọi hành động qua tool, service và repository.</a:t>
            </a:r>
          </a:p>
          <a:p>
            <a:pPr algn="l">
              <a:spcAft>
                <a:spcPts val="300"/>
              </a:spcAft>
            </a:pPr>
            <a:r>
              <a:rPr lang="vi-VN" sz="13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Transactional data, knowledge data và cache/realtime được tách riêng theo trách nhiệm.</a:t>
            </a:r>
          </a:p>
          <a:p>
            <a:pPr algn="l">
              <a:spcAft>
                <a:spcPts val="300"/>
              </a:spcAft>
            </a:pPr>
            <a:r>
              <a:rPr lang="vi-VN" sz="13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Flutter nhận text kèm metadata để hiển thị booking/order card, không parse nghiệp vụ từ văn bản.</a:t>
            </a:r>
          </a:p>
        </p:txBody>
      </p:sp>
      <p:sp>
        <p:nvSpPr>
          <p:cNvPr id="27" name="Shape 35">
            <a:extLst>
              <a:ext uri="{FF2B5EF4-FFF2-40B4-BE49-F238E27FC236}">
                <a16:creationId xmlns:a16="http://schemas.microsoft.com/office/drawing/2014/main" id="{9270823D-A565-7D15-414D-1AEA350FD335}"/>
              </a:ext>
            </a:extLst>
          </p:cNvPr>
          <p:cNvSpPr/>
          <p:nvPr/>
        </p:nvSpPr>
        <p:spPr>
          <a:xfrm>
            <a:off x="969206" y="1482708"/>
            <a:ext cx="73152" cy="502920"/>
          </a:xfrm>
          <a:prstGeom prst="rect">
            <a:avLst/>
          </a:prstGeom>
          <a:solidFill>
            <a:srgbClr val="F2C94C"/>
          </a:solidFill>
          <a:ln>
            <a:noFill/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28" name="TextBox 36">
            <a:extLst>
              <a:ext uri="{FF2B5EF4-FFF2-40B4-BE49-F238E27FC236}">
                <a16:creationId xmlns:a16="http://schemas.microsoft.com/office/drawing/2014/main" id="{8DFA767C-3DFE-CE5A-781C-8EBB0A09A5A1}"/>
              </a:ext>
            </a:extLst>
          </p:cNvPr>
          <p:cNvSpPr txBox="1"/>
          <p:nvPr/>
        </p:nvSpPr>
        <p:spPr>
          <a:xfrm>
            <a:off x="1021080" y="1482708"/>
            <a:ext cx="101498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lnSpcReduction="10000"/>
          </a:bodyPr>
          <a:lstStyle/>
          <a:p>
            <a:pPr algn="l">
              <a:spcAft>
                <a:spcPts val="300"/>
              </a:spcAft>
            </a:pPr>
            <a:r>
              <a:rPr lang="vi-VN" sz="28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Kiến trúc tổng thể hệ thống</a:t>
            </a:r>
          </a:p>
        </p:txBody>
      </p:sp>
    </p:spTree>
    <p:extLst>
      <p:ext uri="{BB962C8B-B14F-4D97-AF65-F5344CB8AC3E}">
        <p14:creationId xmlns:p14="http://schemas.microsoft.com/office/powerpoint/2010/main" val="514479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EBAAD-B1B3-71DA-DBE5-CC123F089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B0F925-CC97-F6A5-0AEF-49C93DF804DD}"/>
              </a:ext>
            </a:extLst>
          </p:cNvPr>
          <p:cNvSpPr txBox="1"/>
          <p:nvPr/>
        </p:nvSpPr>
        <p:spPr>
          <a:xfrm>
            <a:off x="1950719" y="356486"/>
            <a:ext cx="8290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>
                <a:solidFill>
                  <a:schemeClr val="bg1"/>
                </a:solidFill>
                <a:latin typeface="+mj-lt"/>
              </a:rPr>
              <a:t>ĐẠI HỌC GIAO THÔNG VẬN TẢI PHÂN HIỆ</a:t>
            </a:r>
            <a:r>
              <a:rPr lang="en-US" altLang="vi-VN" b="1" dirty="0">
                <a:solidFill>
                  <a:schemeClr val="bg1"/>
                </a:solidFill>
                <a:latin typeface="+mj-lt"/>
              </a:rPr>
              <a:t>U</a:t>
            </a:r>
            <a:r>
              <a:rPr lang="vi-VN" b="1" dirty="0">
                <a:solidFill>
                  <a:schemeClr val="bg1"/>
                </a:solidFill>
                <a:latin typeface="+mj-lt"/>
              </a:rPr>
              <a:t> THÀNH PHỐ HỒ CHÍ MINH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E24E675-A504-2898-A92A-97CB322E6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FCFE7-4CFC-4698-A5C8-57D6C94FD847}" type="slidenum">
              <a:rPr lang="en-US" smtClean="0"/>
              <a:t>8</a:t>
            </a:fld>
            <a:endParaRPr lang="en-US" dirty="0"/>
          </a:p>
        </p:txBody>
      </p:sp>
      <p:sp>
        <p:nvSpPr>
          <p:cNvPr id="4" name="Shape 11">
            <a:extLst>
              <a:ext uri="{FF2B5EF4-FFF2-40B4-BE49-F238E27FC236}">
                <a16:creationId xmlns:a16="http://schemas.microsoft.com/office/drawing/2014/main" id="{58A5193B-5D49-1331-A092-74D81F4EB9E6}"/>
              </a:ext>
            </a:extLst>
          </p:cNvPr>
          <p:cNvSpPr/>
          <p:nvPr/>
        </p:nvSpPr>
        <p:spPr>
          <a:xfrm>
            <a:off x="1249680" y="2452690"/>
            <a:ext cx="1874520" cy="96012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9DEE8"/>
            </a:solidFill>
          </a:ln>
        </p:spPr>
        <p:txBody>
          <a:bodyPr/>
          <a:lstStyle/>
          <a:p>
            <a:pPr algn="ctr"/>
            <a:endParaRPr>
              <a:latin typeface="+mj-lt"/>
            </a:endParaRPr>
          </a:p>
        </p:txBody>
      </p:sp>
      <p:sp>
        <p:nvSpPr>
          <p:cNvPr id="6" name="TextBox 12">
            <a:extLst>
              <a:ext uri="{FF2B5EF4-FFF2-40B4-BE49-F238E27FC236}">
                <a16:creationId xmlns:a16="http://schemas.microsoft.com/office/drawing/2014/main" id="{3B493F28-ACD8-C873-0C2B-B4C965F48252}"/>
              </a:ext>
            </a:extLst>
          </p:cNvPr>
          <p:cNvSpPr txBox="1"/>
          <p:nvPr/>
        </p:nvSpPr>
        <p:spPr>
          <a:xfrm>
            <a:off x="1322832" y="2562418"/>
            <a:ext cx="1728216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vi-VN" sz="2400" b="1" dirty="0">
                <a:solidFill>
                  <a:srgbClr val="2E1A73"/>
                </a:solidFill>
                <a:latin typeface="+mj-lt"/>
                <a:ea typeface="Arial"/>
                <a:cs typeface="Arial"/>
              </a:rPr>
              <a:t>418</a:t>
            </a:r>
          </a:p>
        </p:txBody>
      </p:sp>
      <p:sp>
        <p:nvSpPr>
          <p:cNvPr id="9" name="TextBox 13">
            <a:extLst>
              <a:ext uri="{FF2B5EF4-FFF2-40B4-BE49-F238E27FC236}">
                <a16:creationId xmlns:a16="http://schemas.microsoft.com/office/drawing/2014/main" id="{7F653C42-6172-C8A9-65D2-26F03EA00755}"/>
              </a:ext>
            </a:extLst>
          </p:cNvPr>
          <p:cNvSpPr txBox="1"/>
          <p:nvPr/>
        </p:nvSpPr>
        <p:spPr>
          <a:xfrm>
            <a:off x="1359408" y="2983042"/>
            <a:ext cx="1655064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>
              <a:spcAft>
                <a:spcPts val="300"/>
              </a:spcAft>
            </a:pPr>
            <a:r>
              <a:rPr lang="vi-VN" sz="1200" dirty="0">
                <a:solidFill>
                  <a:srgbClr val="39424E"/>
                </a:solidFill>
                <a:latin typeface="+mj-lt"/>
                <a:ea typeface="Arial"/>
                <a:cs typeface="Arial"/>
              </a:rPr>
              <a:t>Entity trong Neo4j</a:t>
            </a:r>
          </a:p>
        </p:txBody>
      </p:sp>
      <p:sp>
        <p:nvSpPr>
          <p:cNvPr id="11" name="Shape 14">
            <a:extLst>
              <a:ext uri="{FF2B5EF4-FFF2-40B4-BE49-F238E27FC236}">
                <a16:creationId xmlns:a16="http://schemas.microsoft.com/office/drawing/2014/main" id="{AF734515-F54F-B0BF-EA9B-56B5D2419DEE}"/>
              </a:ext>
            </a:extLst>
          </p:cNvPr>
          <p:cNvSpPr/>
          <p:nvPr/>
        </p:nvSpPr>
        <p:spPr>
          <a:xfrm>
            <a:off x="3352800" y="2452690"/>
            <a:ext cx="1874520" cy="96012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9DEE8"/>
            </a:solidFill>
          </a:ln>
        </p:spPr>
        <p:txBody>
          <a:bodyPr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3" name="TextBox 15">
            <a:extLst>
              <a:ext uri="{FF2B5EF4-FFF2-40B4-BE49-F238E27FC236}">
                <a16:creationId xmlns:a16="http://schemas.microsoft.com/office/drawing/2014/main" id="{26AA5358-89A0-D84B-B23A-E0C47804D81B}"/>
              </a:ext>
            </a:extLst>
          </p:cNvPr>
          <p:cNvSpPr txBox="1"/>
          <p:nvPr/>
        </p:nvSpPr>
        <p:spPr>
          <a:xfrm>
            <a:off x="3425952" y="2562418"/>
            <a:ext cx="1728216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vi-VN" sz="2400" b="1" dirty="0">
                <a:solidFill>
                  <a:srgbClr val="0F766E"/>
                </a:solidFill>
                <a:latin typeface="+mj-lt"/>
                <a:ea typeface="Arial"/>
                <a:cs typeface="Arial"/>
              </a:rPr>
              <a:t>441</a:t>
            </a:r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685BEA8C-A36B-FC99-5299-7013324C2963}"/>
              </a:ext>
            </a:extLst>
          </p:cNvPr>
          <p:cNvSpPr txBox="1"/>
          <p:nvPr/>
        </p:nvSpPr>
        <p:spPr>
          <a:xfrm>
            <a:off x="3462528" y="2983042"/>
            <a:ext cx="1655064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>
              <a:spcAft>
                <a:spcPts val="300"/>
              </a:spcAft>
            </a:pPr>
            <a:r>
              <a:rPr lang="vi-VN" sz="1200" dirty="0">
                <a:solidFill>
                  <a:srgbClr val="39424E"/>
                </a:solidFill>
                <a:latin typeface="+mj-lt"/>
                <a:ea typeface="Arial"/>
                <a:cs typeface="Arial"/>
              </a:rPr>
              <a:t>Relationship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BFAA7ACD-E6D0-5042-AD12-3EB474E02FEB}"/>
              </a:ext>
            </a:extLst>
          </p:cNvPr>
          <p:cNvSpPr/>
          <p:nvPr/>
        </p:nvSpPr>
        <p:spPr>
          <a:xfrm>
            <a:off x="5455920" y="2452690"/>
            <a:ext cx="1874520" cy="96012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9DEE8"/>
            </a:solidFill>
          </a:ln>
        </p:spPr>
        <p:txBody>
          <a:bodyPr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342DA1-7CB4-B994-56F8-5E61EFE20B99}"/>
              </a:ext>
            </a:extLst>
          </p:cNvPr>
          <p:cNvSpPr txBox="1"/>
          <p:nvPr/>
        </p:nvSpPr>
        <p:spPr>
          <a:xfrm>
            <a:off x="5529072" y="2562418"/>
            <a:ext cx="1728216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vi-VN" sz="2400" b="1" dirty="0">
                <a:solidFill>
                  <a:srgbClr val="7C3AED"/>
                </a:solidFill>
                <a:latin typeface="+mj-lt"/>
                <a:ea typeface="Arial"/>
                <a:cs typeface="Arial"/>
              </a:rPr>
              <a:t>418/418</a:t>
            </a:r>
          </a:p>
        </p:txBody>
      </p:sp>
      <p:sp>
        <p:nvSpPr>
          <p:cNvPr id="21" name="TextBox 19">
            <a:extLst>
              <a:ext uri="{FF2B5EF4-FFF2-40B4-BE49-F238E27FC236}">
                <a16:creationId xmlns:a16="http://schemas.microsoft.com/office/drawing/2014/main" id="{B9D722A7-5D2F-2052-3308-A1A18876D4F4}"/>
              </a:ext>
            </a:extLst>
          </p:cNvPr>
          <p:cNvSpPr txBox="1"/>
          <p:nvPr/>
        </p:nvSpPr>
        <p:spPr>
          <a:xfrm>
            <a:off x="5565648" y="2983042"/>
            <a:ext cx="1655064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>
              <a:spcAft>
                <a:spcPts val="300"/>
              </a:spcAft>
            </a:pPr>
            <a:r>
              <a:rPr lang="vi-VN" sz="1200" dirty="0">
                <a:solidFill>
                  <a:srgbClr val="39424E"/>
                </a:solidFill>
                <a:latin typeface="+mj-lt"/>
                <a:ea typeface="Arial"/>
                <a:cs typeface="Arial"/>
              </a:rPr>
              <a:t>Node có embedding</a:t>
            </a:r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7E9756B3-AEC3-86FB-8431-0F879BC0F8C7}"/>
              </a:ext>
            </a:extLst>
          </p:cNvPr>
          <p:cNvSpPr/>
          <p:nvPr/>
        </p:nvSpPr>
        <p:spPr>
          <a:xfrm>
            <a:off x="7559040" y="2452690"/>
            <a:ext cx="1874520" cy="96012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9DEE8"/>
            </a:solidFill>
          </a:ln>
        </p:spPr>
        <p:txBody>
          <a:bodyPr/>
          <a:lstStyle/>
          <a:p>
            <a:pPr algn="ctr"/>
            <a:endParaRPr>
              <a:latin typeface="+mj-lt"/>
            </a:endParaRPr>
          </a:p>
        </p:txBody>
      </p:sp>
      <p:sp>
        <p:nvSpPr>
          <p:cNvPr id="25" name="TextBox 21">
            <a:extLst>
              <a:ext uri="{FF2B5EF4-FFF2-40B4-BE49-F238E27FC236}">
                <a16:creationId xmlns:a16="http://schemas.microsoft.com/office/drawing/2014/main" id="{D7A67CF1-587C-7442-E011-E4491C4CEB52}"/>
              </a:ext>
            </a:extLst>
          </p:cNvPr>
          <p:cNvSpPr txBox="1"/>
          <p:nvPr/>
        </p:nvSpPr>
        <p:spPr>
          <a:xfrm>
            <a:off x="7632192" y="2562418"/>
            <a:ext cx="1728216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vi-VN" sz="2400" b="1" dirty="0">
                <a:solidFill>
                  <a:srgbClr val="B45309"/>
                </a:solidFill>
                <a:latin typeface="+mj-lt"/>
                <a:ea typeface="Arial"/>
                <a:cs typeface="Arial"/>
              </a:rPr>
              <a:t>768</a:t>
            </a:r>
          </a:p>
        </p:txBody>
      </p:sp>
      <p:sp>
        <p:nvSpPr>
          <p:cNvPr id="27" name="TextBox 22">
            <a:extLst>
              <a:ext uri="{FF2B5EF4-FFF2-40B4-BE49-F238E27FC236}">
                <a16:creationId xmlns:a16="http://schemas.microsoft.com/office/drawing/2014/main" id="{721C083A-3E76-1DF7-B134-A9C49077A775}"/>
              </a:ext>
            </a:extLst>
          </p:cNvPr>
          <p:cNvSpPr txBox="1"/>
          <p:nvPr/>
        </p:nvSpPr>
        <p:spPr>
          <a:xfrm>
            <a:off x="7668768" y="2983042"/>
            <a:ext cx="1655064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vi-VN" sz="1200" dirty="0">
                <a:solidFill>
                  <a:srgbClr val="39424E"/>
                </a:solidFill>
                <a:latin typeface="+mj-lt"/>
                <a:ea typeface="Arial"/>
                <a:cs typeface="Arial"/>
              </a:rPr>
              <a:t>Chiều vector embedding</a:t>
            </a:r>
          </a:p>
        </p:txBody>
      </p:sp>
      <p:sp>
        <p:nvSpPr>
          <p:cNvPr id="29" name="Shape 23">
            <a:extLst>
              <a:ext uri="{FF2B5EF4-FFF2-40B4-BE49-F238E27FC236}">
                <a16:creationId xmlns:a16="http://schemas.microsoft.com/office/drawing/2014/main" id="{5C5BE027-7FD7-793D-7A6B-9E09B49ABBAE}"/>
              </a:ext>
            </a:extLst>
          </p:cNvPr>
          <p:cNvSpPr/>
          <p:nvPr/>
        </p:nvSpPr>
        <p:spPr>
          <a:xfrm>
            <a:off x="9662160" y="2452690"/>
            <a:ext cx="1874520" cy="96012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9DEE8"/>
            </a:solidFill>
          </a:ln>
        </p:spPr>
        <p:txBody>
          <a:bodyPr/>
          <a:lstStyle/>
          <a:p>
            <a:pPr algn="ctr"/>
            <a:endParaRPr>
              <a:latin typeface="+mj-lt"/>
            </a:endParaRPr>
          </a:p>
        </p:txBody>
      </p:sp>
      <p:sp>
        <p:nvSpPr>
          <p:cNvPr id="31" name="TextBox 24">
            <a:extLst>
              <a:ext uri="{FF2B5EF4-FFF2-40B4-BE49-F238E27FC236}">
                <a16:creationId xmlns:a16="http://schemas.microsoft.com/office/drawing/2014/main" id="{58570C8A-2280-623E-F03B-51B4B397A5FC}"/>
              </a:ext>
            </a:extLst>
          </p:cNvPr>
          <p:cNvSpPr txBox="1"/>
          <p:nvPr/>
        </p:nvSpPr>
        <p:spPr>
          <a:xfrm>
            <a:off x="9735312" y="2562418"/>
            <a:ext cx="1728216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vi-VN" sz="2400" b="1" dirty="0">
                <a:solidFill>
                  <a:srgbClr val="0369A1"/>
                </a:solidFill>
                <a:latin typeface="+mj-lt"/>
                <a:ea typeface="Arial"/>
                <a:cs typeface="Arial"/>
              </a:rPr>
              <a:t>3</a:t>
            </a:r>
          </a:p>
        </p:txBody>
      </p:sp>
      <p:sp>
        <p:nvSpPr>
          <p:cNvPr id="33" name="TextBox 25">
            <a:extLst>
              <a:ext uri="{FF2B5EF4-FFF2-40B4-BE49-F238E27FC236}">
                <a16:creationId xmlns:a16="http://schemas.microsoft.com/office/drawing/2014/main" id="{E04E670A-82BA-30B4-76BA-90400B87F994}"/>
              </a:ext>
            </a:extLst>
          </p:cNvPr>
          <p:cNvSpPr txBox="1"/>
          <p:nvPr/>
        </p:nvSpPr>
        <p:spPr>
          <a:xfrm>
            <a:off x="9771888" y="2983042"/>
            <a:ext cx="1655064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vi-VN" sz="1200" dirty="0">
                <a:solidFill>
                  <a:srgbClr val="39424E"/>
                </a:solidFill>
                <a:latin typeface="+mj-lt"/>
                <a:ea typeface="Arial"/>
                <a:cs typeface="Arial"/>
              </a:rPr>
              <a:t>Môn: bida, pickleball, cầu lông</a:t>
            </a:r>
          </a:p>
        </p:txBody>
      </p:sp>
      <p:sp>
        <p:nvSpPr>
          <p:cNvPr id="35" name="Card 26">
            <a:extLst>
              <a:ext uri="{FF2B5EF4-FFF2-40B4-BE49-F238E27FC236}">
                <a16:creationId xmlns:a16="http://schemas.microsoft.com/office/drawing/2014/main" id="{5CC4AC87-CE2E-74B5-416D-F64349798B17}"/>
              </a:ext>
            </a:extLst>
          </p:cNvPr>
          <p:cNvSpPr/>
          <p:nvPr/>
        </p:nvSpPr>
        <p:spPr>
          <a:xfrm>
            <a:off x="1249680" y="3824290"/>
            <a:ext cx="2971800" cy="1554480"/>
          </a:xfrm>
          <a:prstGeom prst="roundRect">
            <a:avLst/>
          </a:prstGeom>
          <a:solidFill>
            <a:srgbClr val="F7F8FB"/>
          </a:solidFill>
          <a:ln w="9000">
            <a:solidFill>
              <a:srgbClr val="D3D8E2"/>
            </a:solidFill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37" name="Accent 27">
            <a:extLst>
              <a:ext uri="{FF2B5EF4-FFF2-40B4-BE49-F238E27FC236}">
                <a16:creationId xmlns:a16="http://schemas.microsoft.com/office/drawing/2014/main" id="{3FB32CAD-95B2-2E49-E237-9D8F10E33D4D}"/>
              </a:ext>
            </a:extLst>
          </p:cNvPr>
          <p:cNvSpPr/>
          <p:nvPr/>
        </p:nvSpPr>
        <p:spPr>
          <a:xfrm>
            <a:off x="1249680" y="3824290"/>
            <a:ext cx="64008" cy="1554480"/>
          </a:xfrm>
          <a:prstGeom prst="rect">
            <a:avLst/>
          </a:prstGeom>
          <a:solidFill>
            <a:srgbClr val="20135A"/>
          </a:solidFill>
          <a:ln>
            <a:noFill/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39" name="TextBox 28">
            <a:extLst>
              <a:ext uri="{FF2B5EF4-FFF2-40B4-BE49-F238E27FC236}">
                <a16:creationId xmlns:a16="http://schemas.microsoft.com/office/drawing/2014/main" id="{23F5D0F0-9192-AFA4-DA0D-A3795039AF71}"/>
              </a:ext>
            </a:extLst>
          </p:cNvPr>
          <p:cNvSpPr txBox="1"/>
          <p:nvPr/>
        </p:nvSpPr>
        <p:spPr>
          <a:xfrm>
            <a:off x="1414272" y="3934018"/>
            <a:ext cx="26974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vi-VN" sz="16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Nguồn dữ liệu</a:t>
            </a:r>
          </a:p>
        </p:txBody>
      </p:sp>
      <p:sp>
        <p:nvSpPr>
          <p:cNvPr id="41" name="TextBox 29">
            <a:extLst>
              <a:ext uri="{FF2B5EF4-FFF2-40B4-BE49-F238E27FC236}">
                <a16:creationId xmlns:a16="http://schemas.microsoft.com/office/drawing/2014/main" id="{0C7662A2-9498-AAEB-6C20-C8BE84B6DF11}"/>
              </a:ext>
            </a:extLst>
          </p:cNvPr>
          <p:cNvSpPr txBox="1"/>
          <p:nvPr/>
        </p:nvSpPr>
        <p:spPr>
          <a:xfrm>
            <a:off x="1414272" y="4299778"/>
            <a:ext cx="2697480" cy="98755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92500"/>
          </a:bodyPr>
          <a:lstStyle/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WPA rules, USAPA rulebook, BWF laws</a:t>
            </a:r>
          </a:p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Tài liệu kỹ thuật pickleball, cầu lông, bida</a:t>
            </a:r>
          </a:p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Diamond system, local rules, nội dung YouTube đã trích xuất</a:t>
            </a:r>
          </a:p>
        </p:txBody>
      </p:sp>
      <p:sp>
        <p:nvSpPr>
          <p:cNvPr id="43" name="Card 30">
            <a:extLst>
              <a:ext uri="{FF2B5EF4-FFF2-40B4-BE49-F238E27FC236}">
                <a16:creationId xmlns:a16="http://schemas.microsoft.com/office/drawing/2014/main" id="{3A70612C-0D90-8946-4F67-13EA8F51032C}"/>
              </a:ext>
            </a:extLst>
          </p:cNvPr>
          <p:cNvSpPr/>
          <p:nvPr/>
        </p:nvSpPr>
        <p:spPr>
          <a:xfrm>
            <a:off x="4450080" y="3824290"/>
            <a:ext cx="2267712" cy="1650234"/>
          </a:xfrm>
          <a:prstGeom prst="roundRect">
            <a:avLst/>
          </a:prstGeom>
          <a:solidFill>
            <a:srgbClr val="F7F8FB"/>
          </a:solidFill>
          <a:ln w="9000">
            <a:solidFill>
              <a:srgbClr val="D3D8E2"/>
            </a:solidFill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45" name="Accent 31">
            <a:extLst>
              <a:ext uri="{FF2B5EF4-FFF2-40B4-BE49-F238E27FC236}">
                <a16:creationId xmlns:a16="http://schemas.microsoft.com/office/drawing/2014/main" id="{A5AF78CA-C359-3098-B40D-09F4E6E238FD}"/>
              </a:ext>
            </a:extLst>
          </p:cNvPr>
          <p:cNvSpPr/>
          <p:nvPr/>
        </p:nvSpPr>
        <p:spPr>
          <a:xfrm>
            <a:off x="4450080" y="3824290"/>
            <a:ext cx="54864" cy="165023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47" name="TextBox 32">
            <a:extLst>
              <a:ext uri="{FF2B5EF4-FFF2-40B4-BE49-F238E27FC236}">
                <a16:creationId xmlns:a16="http://schemas.microsoft.com/office/drawing/2014/main" id="{784DA1CB-0CE1-E91A-5CEE-B291D2FAE51F}"/>
              </a:ext>
            </a:extLst>
          </p:cNvPr>
          <p:cNvSpPr txBox="1"/>
          <p:nvPr/>
        </p:nvSpPr>
        <p:spPr>
          <a:xfrm>
            <a:off x="4614672" y="3934018"/>
            <a:ext cx="20574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vi-VN" sz="1600" b="1" dirty="0">
                <a:solidFill>
                  <a:srgbClr val="0F766E"/>
                </a:solidFill>
                <a:latin typeface="+mj-lt"/>
                <a:ea typeface="Arial"/>
                <a:cs typeface="Arial"/>
              </a:rPr>
              <a:t>Node labels</a:t>
            </a:r>
          </a:p>
        </p:txBody>
      </p:sp>
      <p:sp>
        <p:nvSpPr>
          <p:cNvPr id="49" name="TextBox 33">
            <a:extLst>
              <a:ext uri="{FF2B5EF4-FFF2-40B4-BE49-F238E27FC236}">
                <a16:creationId xmlns:a16="http://schemas.microsoft.com/office/drawing/2014/main" id="{64AA6759-D5FC-AA84-EA93-36A418C126C8}"/>
              </a:ext>
            </a:extLst>
          </p:cNvPr>
          <p:cNvSpPr txBox="1"/>
          <p:nvPr/>
        </p:nvSpPr>
        <p:spPr>
          <a:xfrm>
            <a:off x="4637532" y="4185737"/>
            <a:ext cx="2034540" cy="1329677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vi-VN" sz="11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Rule</a:t>
            </a:r>
          </a:p>
          <a:p>
            <a:pPr algn="l">
              <a:spcAft>
                <a:spcPts val="300"/>
              </a:spcAft>
            </a:pPr>
            <a:r>
              <a:rPr lang="vi-VN" sz="11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Technique</a:t>
            </a:r>
          </a:p>
          <a:p>
            <a:pPr algn="l">
              <a:spcAft>
                <a:spcPts val="300"/>
              </a:spcAft>
            </a:pPr>
            <a:r>
              <a:rPr lang="vi-VN" sz="11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Equipment</a:t>
            </a:r>
          </a:p>
          <a:p>
            <a:pPr algn="l">
              <a:spcAft>
                <a:spcPts val="300"/>
              </a:spcAft>
            </a:pPr>
            <a:r>
              <a:rPr lang="vi-VN" sz="11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</a:t>
            </a:r>
            <a:r>
              <a:rPr lang="vi-VN" sz="1100" dirty="0" err="1">
                <a:solidFill>
                  <a:srgbClr val="263238"/>
                </a:solidFill>
                <a:latin typeface="+mj-lt"/>
                <a:ea typeface="Arial"/>
                <a:cs typeface="Arial"/>
              </a:rPr>
              <a:t>Sport</a:t>
            </a:r>
            <a:endParaRPr lang="vi-VN" sz="1100" dirty="0">
              <a:solidFill>
                <a:srgbClr val="263238"/>
              </a:solidFill>
              <a:latin typeface="+mj-lt"/>
              <a:ea typeface="Arial"/>
              <a:cs typeface="Arial"/>
            </a:endParaRPr>
          </a:p>
          <a:p>
            <a:pPr algn="l">
              <a:spcAft>
                <a:spcPts val="300"/>
              </a:spcAft>
            </a:pPr>
            <a:r>
              <a:rPr lang="vi-VN" sz="11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</a:t>
            </a:r>
            <a:r>
              <a:rPr lang="vi-VN" sz="1100" dirty="0" err="1">
                <a:solidFill>
                  <a:srgbClr val="263238"/>
                </a:solidFill>
                <a:latin typeface="+mj-lt"/>
                <a:ea typeface="Arial"/>
                <a:cs typeface="Arial"/>
              </a:rPr>
              <a:t>Concept</a:t>
            </a:r>
            <a:endParaRPr lang="vi-VN" sz="1100" dirty="0">
              <a:solidFill>
                <a:srgbClr val="263238"/>
              </a:solidFill>
              <a:latin typeface="+mj-lt"/>
              <a:ea typeface="Arial"/>
              <a:cs typeface="Arial"/>
            </a:endParaRPr>
          </a:p>
          <a:p>
            <a:pPr algn="l">
              <a:spcAft>
                <a:spcPts val="300"/>
              </a:spcAft>
            </a:pPr>
            <a:r>
              <a:rPr lang="vi-VN" sz="11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</a:t>
            </a:r>
            <a:r>
              <a:rPr lang="vi-VN" sz="1100" dirty="0" err="1">
                <a:solidFill>
                  <a:srgbClr val="263238"/>
                </a:solidFill>
                <a:latin typeface="+mj-lt"/>
                <a:ea typeface="Arial"/>
                <a:cs typeface="Arial"/>
              </a:rPr>
              <a:t>GameType</a:t>
            </a:r>
            <a:endParaRPr lang="vi-VN" sz="1100" dirty="0">
              <a:solidFill>
                <a:srgbClr val="263238"/>
              </a:solidFill>
              <a:latin typeface="+mj-lt"/>
              <a:ea typeface="Arial"/>
              <a:cs typeface="Arial"/>
            </a:endParaRPr>
          </a:p>
        </p:txBody>
      </p:sp>
      <p:sp>
        <p:nvSpPr>
          <p:cNvPr id="51" name="Card 34">
            <a:extLst>
              <a:ext uri="{FF2B5EF4-FFF2-40B4-BE49-F238E27FC236}">
                <a16:creationId xmlns:a16="http://schemas.microsoft.com/office/drawing/2014/main" id="{180AA80E-F294-2A1A-ACD7-BCF5BB9DEC5D}"/>
              </a:ext>
            </a:extLst>
          </p:cNvPr>
          <p:cNvSpPr/>
          <p:nvPr/>
        </p:nvSpPr>
        <p:spPr>
          <a:xfrm>
            <a:off x="7010400" y="3824290"/>
            <a:ext cx="4617720" cy="1554480"/>
          </a:xfrm>
          <a:prstGeom prst="roundRect">
            <a:avLst/>
          </a:prstGeom>
          <a:solidFill>
            <a:srgbClr val="F7F8FB"/>
          </a:solidFill>
          <a:ln w="9000">
            <a:solidFill>
              <a:srgbClr val="D3D8E2"/>
            </a:solidFill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53" name="Accent 35">
            <a:extLst>
              <a:ext uri="{FF2B5EF4-FFF2-40B4-BE49-F238E27FC236}">
                <a16:creationId xmlns:a16="http://schemas.microsoft.com/office/drawing/2014/main" id="{691DAE88-F61C-E5B9-5539-62E8EF663DBF}"/>
              </a:ext>
            </a:extLst>
          </p:cNvPr>
          <p:cNvSpPr/>
          <p:nvPr/>
        </p:nvSpPr>
        <p:spPr>
          <a:xfrm>
            <a:off x="7010400" y="3824290"/>
            <a:ext cx="64008" cy="15544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55" name="TextBox 36">
            <a:extLst>
              <a:ext uri="{FF2B5EF4-FFF2-40B4-BE49-F238E27FC236}">
                <a16:creationId xmlns:a16="http://schemas.microsoft.com/office/drawing/2014/main" id="{DEDB6B76-995B-04FE-988C-F66D92EADB38}"/>
              </a:ext>
            </a:extLst>
          </p:cNvPr>
          <p:cNvSpPr txBox="1"/>
          <p:nvPr/>
        </p:nvSpPr>
        <p:spPr>
          <a:xfrm>
            <a:off x="7174992" y="3934018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vi-VN" sz="1600" b="1" dirty="0">
                <a:solidFill>
                  <a:srgbClr val="B45309"/>
                </a:solidFill>
                <a:latin typeface="+mj-lt"/>
                <a:ea typeface="Arial"/>
                <a:cs typeface="Arial"/>
              </a:rPr>
              <a:t>Relationship types</a:t>
            </a:r>
          </a:p>
        </p:txBody>
      </p:sp>
      <p:sp>
        <p:nvSpPr>
          <p:cNvPr id="57" name="TextBox 37">
            <a:extLst>
              <a:ext uri="{FF2B5EF4-FFF2-40B4-BE49-F238E27FC236}">
                <a16:creationId xmlns:a16="http://schemas.microsoft.com/office/drawing/2014/main" id="{0322E0E3-AFE9-D51A-9B7B-85883FCFAEC7}"/>
              </a:ext>
            </a:extLst>
          </p:cNvPr>
          <p:cNvSpPr txBox="1"/>
          <p:nvPr/>
        </p:nvSpPr>
        <p:spPr>
          <a:xfrm>
            <a:off x="7174992" y="4299778"/>
            <a:ext cx="4343400" cy="98755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lang="vi-VN" sz="11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THUOC, DUNG_DE, LIEN_QUAN</a:t>
            </a:r>
          </a:p>
          <a:p>
            <a:pPr algn="l">
              <a:spcAft>
                <a:spcPts val="300"/>
              </a:spcAft>
            </a:pPr>
            <a:r>
              <a:rPr lang="vi-VN" sz="11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LA_LOAI, SU_DUNG, QUY_DINH</a:t>
            </a:r>
          </a:p>
          <a:p>
            <a:pPr algn="l">
              <a:spcAft>
                <a:spcPts val="300"/>
              </a:spcAft>
            </a:pPr>
            <a:r>
              <a:rPr lang="vi-VN" sz="11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Dùng để mở rộng context 1-2 bước khi truy vấn</a:t>
            </a:r>
          </a:p>
        </p:txBody>
      </p:sp>
      <p:sp>
        <p:nvSpPr>
          <p:cNvPr id="59" name="Shape 39">
            <a:extLst>
              <a:ext uri="{FF2B5EF4-FFF2-40B4-BE49-F238E27FC236}">
                <a16:creationId xmlns:a16="http://schemas.microsoft.com/office/drawing/2014/main" id="{96B2702C-6464-C4B8-49E0-036334612BF0}"/>
              </a:ext>
            </a:extLst>
          </p:cNvPr>
          <p:cNvSpPr/>
          <p:nvPr/>
        </p:nvSpPr>
        <p:spPr>
          <a:xfrm>
            <a:off x="1039368" y="1629730"/>
            <a:ext cx="73152" cy="502920"/>
          </a:xfrm>
          <a:prstGeom prst="rect">
            <a:avLst/>
          </a:prstGeom>
          <a:solidFill>
            <a:srgbClr val="F2C94C"/>
          </a:solidFill>
          <a:ln>
            <a:noFill/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61" name="TextBox 40">
            <a:extLst>
              <a:ext uri="{FF2B5EF4-FFF2-40B4-BE49-F238E27FC236}">
                <a16:creationId xmlns:a16="http://schemas.microsoft.com/office/drawing/2014/main" id="{ED0E21BD-A6D3-5463-0B25-F646C616CBF9}"/>
              </a:ext>
            </a:extLst>
          </p:cNvPr>
          <p:cNvSpPr txBox="1"/>
          <p:nvPr/>
        </p:nvSpPr>
        <p:spPr>
          <a:xfrm>
            <a:off x="1203960" y="1565722"/>
            <a:ext cx="101498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lnSpcReduction="10000"/>
          </a:bodyPr>
          <a:lstStyle/>
          <a:p>
            <a:pPr algn="l">
              <a:spcAft>
                <a:spcPts val="300"/>
              </a:spcAft>
            </a:pPr>
            <a:r>
              <a:rPr lang="vi-VN" sz="28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Knowledge Graph cho tri thức thể thao</a:t>
            </a:r>
          </a:p>
        </p:txBody>
      </p:sp>
    </p:spTree>
    <p:extLst>
      <p:ext uri="{BB962C8B-B14F-4D97-AF65-F5344CB8AC3E}">
        <p14:creationId xmlns:p14="http://schemas.microsoft.com/office/powerpoint/2010/main" val="33232465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DE8BD-D75E-8A36-6418-F99AB4705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786333-D246-7D00-DD18-804B64405534}"/>
              </a:ext>
            </a:extLst>
          </p:cNvPr>
          <p:cNvSpPr txBox="1"/>
          <p:nvPr/>
        </p:nvSpPr>
        <p:spPr>
          <a:xfrm>
            <a:off x="1950719" y="356486"/>
            <a:ext cx="8290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>
                <a:solidFill>
                  <a:schemeClr val="bg1"/>
                </a:solidFill>
                <a:latin typeface="+mj-lt"/>
              </a:rPr>
              <a:t>ĐẠI HỌC GIAO THÔNG VẬN TẢI PHÂN HIỆ</a:t>
            </a:r>
            <a:r>
              <a:rPr lang="en-US" altLang="vi-VN" b="1" dirty="0">
                <a:solidFill>
                  <a:schemeClr val="bg1"/>
                </a:solidFill>
                <a:latin typeface="+mj-lt"/>
              </a:rPr>
              <a:t>U</a:t>
            </a:r>
            <a:r>
              <a:rPr lang="vi-VN" b="1" dirty="0">
                <a:solidFill>
                  <a:schemeClr val="bg1"/>
                </a:solidFill>
                <a:latin typeface="+mj-lt"/>
              </a:rPr>
              <a:t> THÀNH PHỐ HỒ CHÍ MINH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54A460-26B4-A515-3C23-BB410D242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FCFE7-4CFC-4698-A5C8-57D6C94FD847}" type="slidenum">
              <a:rPr lang="en-US" smtClean="0"/>
              <a:t>9</a:t>
            </a:fld>
            <a:endParaRPr lang="en-US"/>
          </a:p>
        </p:txBody>
      </p:sp>
      <p:sp>
        <p:nvSpPr>
          <p:cNvPr id="4" name="Shape 11">
            <a:extLst>
              <a:ext uri="{FF2B5EF4-FFF2-40B4-BE49-F238E27FC236}">
                <a16:creationId xmlns:a16="http://schemas.microsoft.com/office/drawing/2014/main" id="{0E0F2060-955D-A914-2135-DC86E773E83C}"/>
              </a:ext>
            </a:extLst>
          </p:cNvPr>
          <p:cNvSpPr/>
          <p:nvPr/>
        </p:nvSpPr>
        <p:spPr>
          <a:xfrm>
            <a:off x="1039368" y="2498152"/>
            <a:ext cx="1737360" cy="749808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C7D2FE"/>
            </a:solidFill>
          </a:ln>
        </p:spPr>
        <p:txBody>
          <a:bodyPr/>
          <a:lstStyle/>
          <a:p>
            <a:pPr algn="ctr"/>
            <a:endParaRPr sz="1400">
              <a:latin typeface="+mj-lt"/>
            </a:endParaRPr>
          </a:p>
        </p:txBody>
      </p:sp>
      <p:sp>
        <p:nvSpPr>
          <p:cNvPr id="6" name="TextBox 12">
            <a:extLst>
              <a:ext uri="{FF2B5EF4-FFF2-40B4-BE49-F238E27FC236}">
                <a16:creationId xmlns:a16="http://schemas.microsoft.com/office/drawing/2014/main" id="{9F00A237-DDAC-B18F-C5B9-CCC183834F06}"/>
              </a:ext>
            </a:extLst>
          </p:cNvPr>
          <p:cNvSpPr txBox="1"/>
          <p:nvPr/>
        </p:nvSpPr>
        <p:spPr>
          <a:xfrm>
            <a:off x="1112520" y="2626168"/>
            <a:ext cx="1591056" cy="58521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>
              <a:spcAft>
                <a:spcPts val="300"/>
              </a:spcAft>
            </a:pPr>
            <a:r>
              <a:rPr lang="vi-VN" sz="14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01 Scrape</a:t>
            </a:r>
          </a:p>
        </p:txBody>
      </p:sp>
      <p:sp>
        <p:nvSpPr>
          <p:cNvPr id="9" name="TextBox 13">
            <a:extLst>
              <a:ext uri="{FF2B5EF4-FFF2-40B4-BE49-F238E27FC236}">
                <a16:creationId xmlns:a16="http://schemas.microsoft.com/office/drawing/2014/main" id="{EAD0BA41-5204-C706-C491-F9EF1C09EDCB}"/>
              </a:ext>
            </a:extLst>
          </p:cNvPr>
          <p:cNvSpPr txBox="1"/>
          <p:nvPr/>
        </p:nvSpPr>
        <p:spPr>
          <a:xfrm>
            <a:off x="2822448" y="2662744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vi-VN" sz="1400" b="1" dirty="0">
                <a:solidFill>
                  <a:srgbClr val="64748B"/>
                </a:solidFill>
                <a:latin typeface="+mj-lt"/>
                <a:ea typeface="Arial"/>
                <a:cs typeface="Arial"/>
              </a:rPr>
              <a:t>→</a:t>
            </a:r>
          </a:p>
        </p:txBody>
      </p:sp>
      <p:sp>
        <p:nvSpPr>
          <p:cNvPr id="11" name="Shape 14">
            <a:extLst>
              <a:ext uri="{FF2B5EF4-FFF2-40B4-BE49-F238E27FC236}">
                <a16:creationId xmlns:a16="http://schemas.microsoft.com/office/drawing/2014/main" id="{455BBFA1-6A1A-44EE-CAED-B0F369F451AC}"/>
              </a:ext>
            </a:extLst>
          </p:cNvPr>
          <p:cNvSpPr/>
          <p:nvPr/>
        </p:nvSpPr>
        <p:spPr>
          <a:xfrm>
            <a:off x="3124200" y="2498152"/>
            <a:ext cx="1737360" cy="749808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C7D2FE"/>
            </a:solidFill>
          </a:ln>
        </p:spPr>
        <p:txBody>
          <a:bodyPr/>
          <a:lstStyle/>
          <a:p>
            <a:pPr algn="ctr"/>
            <a:endParaRPr sz="1400">
              <a:latin typeface="+mj-lt"/>
            </a:endParaRPr>
          </a:p>
        </p:txBody>
      </p:sp>
      <p:sp>
        <p:nvSpPr>
          <p:cNvPr id="13" name="TextBox 15">
            <a:extLst>
              <a:ext uri="{FF2B5EF4-FFF2-40B4-BE49-F238E27FC236}">
                <a16:creationId xmlns:a16="http://schemas.microsoft.com/office/drawing/2014/main" id="{E51EC84B-3DB3-2892-69C1-6C8BEE028EF2}"/>
              </a:ext>
            </a:extLst>
          </p:cNvPr>
          <p:cNvSpPr txBox="1"/>
          <p:nvPr/>
        </p:nvSpPr>
        <p:spPr>
          <a:xfrm>
            <a:off x="3197352" y="2626168"/>
            <a:ext cx="1591056" cy="58521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>
              <a:spcAft>
                <a:spcPts val="300"/>
              </a:spcAft>
            </a:pPr>
            <a:r>
              <a:rPr lang="vi-VN" sz="14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02 Extract</a:t>
            </a:r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546C6FC4-08E9-6D5B-3EC3-12E682EECAF4}"/>
              </a:ext>
            </a:extLst>
          </p:cNvPr>
          <p:cNvSpPr txBox="1"/>
          <p:nvPr/>
        </p:nvSpPr>
        <p:spPr>
          <a:xfrm>
            <a:off x="4907280" y="2662744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vi-VN" sz="1400" b="1" dirty="0">
                <a:solidFill>
                  <a:srgbClr val="64748B"/>
                </a:solidFill>
                <a:latin typeface="+mj-lt"/>
                <a:ea typeface="Arial"/>
                <a:cs typeface="Arial"/>
              </a:rPr>
              <a:t>→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1BE05883-A4C4-B05E-FA28-3DE40196697C}"/>
              </a:ext>
            </a:extLst>
          </p:cNvPr>
          <p:cNvSpPr/>
          <p:nvPr/>
        </p:nvSpPr>
        <p:spPr>
          <a:xfrm>
            <a:off x="5209032" y="2498152"/>
            <a:ext cx="1737360" cy="749808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C7D2FE"/>
            </a:solidFill>
          </a:ln>
        </p:spPr>
        <p:txBody>
          <a:bodyPr/>
          <a:lstStyle/>
          <a:p>
            <a:pPr algn="ctr"/>
            <a:endParaRPr sz="1400">
              <a:latin typeface="+mj-l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EB1665-5A41-712C-DA27-08946666AE0A}"/>
              </a:ext>
            </a:extLst>
          </p:cNvPr>
          <p:cNvSpPr txBox="1"/>
          <p:nvPr/>
        </p:nvSpPr>
        <p:spPr>
          <a:xfrm>
            <a:off x="5282184" y="2626168"/>
            <a:ext cx="1591056" cy="58521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>
              <a:spcAft>
                <a:spcPts val="300"/>
              </a:spcAft>
            </a:pPr>
            <a:r>
              <a:rPr lang="vi-VN" sz="14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03 Build graph</a:t>
            </a:r>
          </a:p>
        </p:txBody>
      </p:sp>
      <p:sp>
        <p:nvSpPr>
          <p:cNvPr id="21" name="TextBox 19">
            <a:extLst>
              <a:ext uri="{FF2B5EF4-FFF2-40B4-BE49-F238E27FC236}">
                <a16:creationId xmlns:a16="http://schemas.microsoft.com/office/drawing/2014/main" id="{DE78DEDA-C0F5-E2AD-E745-EEDD3A81D573}"/>
              </a:ext>
            </a:extLst>
          </p:cNvPr>
          <p:cNvSpPr txBox="1"/>
          <p:nvPr/>
        </p:nvSpPr>
        <p:spPr>
          <a:xfrm>
            <a:off x="6992112" y="2662744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vi-VN" sz="1400" b="1" dirty="0">
                <a:solidFill>
                  <a:srgbClr val="64748B"/>
                </a:solidFill>
                <a:latin typeface="+mj-lt"/>
                <a:ea typeface="Arial"/>
                <a:cs typeface="Arial"/>
              </a:rPr>
              <a:t>→</a:t>
            </a:r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541780CA-E2F7-C732-C30C-44710326973E}"/>
              </a:ext>
            </a:extLst>
          </p:cNvPr>
          <p:cNvSpPr/>
          <p:nvPr/>
        </p:nvSpPr>
        <p:spPr>
          <a:xfrm>
            <a:off x="7293864" y="2498152"/>
            <a:ext cx="1737360" cy="749808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C7D2FE"/>
            </a:solidFill>
          </a:ln>
        </p:spPr>
        <p:txBody>
          <a:bodyPr/>
          <a:lstStyle/>
          <a:p>
            <a:pPr algn="ctr"/>
            <a:endParaRPr sz="1400">
              <a:latin typeface="+mj-lt"/>
            </a:endParaRPr>
          </a:p>
        </p:txBody>
      </p:sp>
      <p:sp>
        <p:nvSpPr>
          <p:cNvPr id="25" name="TextBox 21">
            <a:extLst>
              <a:ext uri="{FF2B5EF4-FFF2-40B4-BE49-F238E27FC236}">
                <a16:creationId xmlns:a16="http://schemas.microsoft.com/office/drawing/2014/main" id="{8A5A2CC5-0055-15A8-F6CB-7723E4351EFD}"/>
              </a:ext>
            </a:extLst>
          </p:cNvPr>
          <p:cNvSpPr txBox="1"/>
          <p:nvPr/>
        </p:nvSpPr>
        <p:spPr>
          <a:xfrm>
            <a:off x="7367016" y="2626168"/>
            <a:ext cx="1591056" cy="58521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>
              <a:spcAft>
                <a:spcPts val="300"/>
              </a:spcAft>
            </a:pPr>
            <a:r>
              <a:rPr lang="vi-VN" sz="14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04 Embed</a:t>
            </a:r>
          </a:p>
        </p:txBody>
      </p:sp>
      <p:sp>
        <p:nvSpPr>
          <p:cNvPr id="27" name="TextBox 22">
            <a:extLst>
              <a:ext uri="{FF2B5EF4-FFF2-40B4-BE49-F238E27FC236}">
                <a16:creationId xmlns:a16="http://schemas.microsoft.com/office/drawing/2014/main" id="{F9755607-53E1-04E4-0D9F-98C39C16900E}"/>
              </a:ext>
            </a:extLst>
          </p:cNvPr>
          <p:cNvSpPr txBox="1"/>
          <p:nvPr/>
        </p:nvSpPr>
        <p:spPr>
          <a:xfrm>
            <a:off x="9076944" y="2662744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vi-VN" sz="1400" b="1" dirty="0">
                <a:solidFill>
                  <a:srgbClr val="64748B"/>
                </a:solidFill>
                <a:latin typeface="+mj-lt"/>
                <a:ea typeface="Arial"/>
                <a:cs typeface="Arial"/>
              </a:rPr>
              <a:t>→</a:t>
            </a:r>
          </a:p>
        </p:txBody>
      </p:sp>
      <p:sp>
        <p:nvSpPr>
          <p:cNvPr id="29" name="Shape 23">
            <a:extLst>
              <a:ext uri="{FF2B5EF4-FFF2-40B4-BE49-F238E27FC236}">
                <a16:creationId xmlns:a16="http://schemas.microsoft.com/office/drawing/2014/main" id="{FEC46430-DFFC-0DA1-7E7B-73B50B26DA01}"/>
              </a:ext>
            </a:extLst>
          </p:cNvPr>
          <p:cNvSpPr/>
          <p:nvPr/>
        </p:nvSpPr>
        <p:spPr>
          <a:xfrm>
            <a:off x="9378696" y="2498152"/>
            <a:ext cx="1737360" cy="749808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C7D2FE"/>
            </a:solidFill>
          </a:ln>
        </p:spPr>
        <p:txBody>
          <a:bodyPr/>
          <a:lstStyle/>
          <a:p>
            <a:pPr algn="ctr"/>
            <a:endParaRPr sz="1400">
              <a:latin typeface="+mj-lt"/>
            </a:endParaRPr>
          </a:p>
        </p:txBody>
      </p:sp>
      <p:sp>
        <p:nvSpPr>
          <p:cNvPr id="31" name="TextBox 24">
            <a:extLst>
              <a:ext uri="{FF2B5EF4-FFF2-40B4-BE49-F238E27FC236}">
                <a16:creationId xmlns:a16="http://schemas.microsoft.com/office/drawing/2014/main" id="{2F10843C-196B-3DA2-E414-0F49E96C0CF4}"/>
              </a:ext>
            </a:extLst>
          </p:cNvPr>
          <p:cNvSpPr txBox="1"/>
          <p:nvPr/>
        </p:nvSpPr>
        <p:spPr>
          <a:xfrm>
            <a:off x="9451848" y="2626168"/>
            <a:ext cx="1591056" cy="58521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>
              <a:spcAft>
                <a:spcPts val="300"/>
              </a:spcAft>
            </a:pPr>
            <a:r>
              <a:rPr lang="vi-VN" sz="14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05 Bilingual</a:t>
            </a:r>
          </a:p>
        </p:txBody>
      </p:sp>
      <p:sp>
        <p:nvSpPr>
          <p:cNvPr id="33" name="Card 25">
            <a:extLst>
              <a:ext uri="{FF2B5EF4-FFF2-40B4-BE49-F238E27FC236}">
                <a16:creationId xmlns:a16="http://schemas.microsoft.com/office/drawing/2014/main" id="{B8722664-1E66-1991-C2AA-BFC8E8CBCD16}"/>
              </a:ext>
            </a:extLst>
          </p:cNvPr>
          <p:cNvSpPr/>
          <p:nvPr/>
        </p:nvSpPr>
        <p:spPr>
          <a:xfrm>
            <a:off x="1021080" y="3686872"/>
            <a:ext cx="5212080" cy="1874520"/>
          </a:xfrm>
          <a:prstGeom prst="roundRect">
            <a:avLst/>
          </a:prstGeom>
          <a:solidFill>
            <a:srgbClr val="F7F8FB"/>
          </a:solidFill>
          <a:ln w="9000">
            <a:solidFill>
              <a:srgbClr val="D3D8E2"/>
            </a:solidFill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35" name="Accent 26">
            <a:extLst>
              <a:ext uri="{FF2B5EF4-FFF2-40B4-BE49-F238E27FC236}">
                <a16:creationId xmlns:a16="http://schemas.microsoft.com/office/drawing/2014/main" id="{88F63179-4326-E37F-F5EB-D3236DEF4906}"/>
              </a:ext>
            </a:extLst>
          </p:cNvPr>
          <p:cNvSpPr/>
          <p:nvPr/>
        </p:nvSpPr>
        <p:spPr>
          <a:xfrm>
            <a:off x="1021080" y="3686872"/>
            <a:ext cx="64008" cy="1874520"/>
          </a:xfrm>
          <a:prstGeom prst="rect">
            <a:avLst/>
          </a:prstGeom>
          <a:solidFill>
            <a:srgbClr val="20135A"/>
          </a:solidFill>
          <a:ln>
            <a:noFill/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37" name="TextBox 27">
            <a:extLst>
              <a:ext uri="{FF2B5EF4-FFF2-40B4-BE49-F238E27FC236}">
                <a16:creationId xmlns:a16="http://schemas.microsoft.com/office/drawing/2014/main" id="{40BA2560-4566-CF0A-E694-6FC84E9AF460}"/>
              </a:ext>
            </a:extLst>
          </p:cNvPr>
          <p:cNvSpPr txBox="1"/>
          <p:nvPr/>
        </p:nvSpPr>
        <p:spPr>
          <a:xfrm>
            <a:off x="1185672" y="3796600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92500" lnSpcReduction="20000"/>
          </a:bodyPr>
          <a:lstStyle/>
          <a:p>
            <a:pPr algn="l">
              <a:spcAft>
                <a:spcPts val="300"/>
              </a:spcAft>
            </a:pPr>
            <a:r>
              <a:rPr lang="vi-VN" sz="16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Offline pipeline</a:t>
            </a:r>
          </a:p>
        </p:txBody>
      </p:sp>
      <p:sp>
        <p:nvSpPr>
          <p:cNvPr id="39" name="TextBox 28">
            <a:extLst>
              <a:ext uri="{FF2B5EF4-FFF2-40B4-BE49-F238E27FC236}">
                <a16:creationId xmlns:a16="http://schemas.microsoft.com/office/drawing/2014/main" id="{0D893552-596B-5ECF-14AE-A6D758E761C2}"/>
              </a:ext>
            </a:extLst>
          </p:cNvPr>
          <p:cNvSpPr txBox="1"/>
          <p:nvPr/>
        </p:nvSpPr>
        <p:spPr>
          <a:xfrm>
            <a:off x="1185672" y="4162360"/>
            <a:ext cx="4937760" cy="1307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92500"/>
          </a:bodyPr>
          <a:lstStyle/>
          <a:p>
            <a:pPr algn="l">
              <a:spcAft>
                <a:spcPts val="300"/>
              </a:spcAft>
            </a:pPr>
            <a:r>
              <a:rPr lang="vi-VN" sz="13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Thu thập raw data từ tài liệu luật/kỹ thuật và nguồn đã lưu trong repo.</a:t>
            </a:r>
          </a:p>
          <a:p>
            <a:pPr algn="l">
              <a:spcAft>
                <a:spcPts val="300"/>
              </a:spcAft>
            </a:pPr>
            <a:r>
              <a:rPr lang="vi-VN" sz="13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LLM extraction sinh JSON entity/relationship, sau đó validate label và relationship type.</a:t>
            </a:r>
          </a:p>
          <a:p>
            <a:pPr algn="l">
              <a:spcAft>
                <a:spcPts val="300"/>
              </a:spcAft>
            </a:pPr>
            <a:r>
              <a:rPr lang="vi-VN" sz="13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Deduplicate entity, merge description và provenance trước khi ghi Neo4j.</a:t>
            </a:r>
          </a:p>
          <a:p>
            <a:pPr algn="l">
              <a:spcAft>
                <a:spcPts val="300"/>
              </a:spcAft>
            </a:pPr>
            <a:r>
              <a:rPr lang="vi-VN" sz="13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Tạo constraint, full-text index, bilingual full-text index và vector index.</a:t>
            </a:r>
          </a:p>
        </p:txBody>
      </p:sp>
      <p:sp>
        <p:nvSpPr>
          <p:cNvPr id="41" name="Card 29">
            <a:extLst>
              <a:ext uri="{FF2B5EF4-FFF2-40B4-BE49-F238E27FC236}">
                <a16:creationId xmlns:a16="http://schemas.microsoft.com/office/drawing/2014/main" id="{285A870C-B430-9A17-CDB2-ACFD57511175}"/>
              </a:ext>
            </a:extLst>
          </p:cNvPr>
          <p:cNvSpPr/>
          <p:nvPr/>
        </p:nvSpPr>
        <p:spPr>
          <a:xfrm>
            <a:off x="6461760" y="3686872"/>
            <a:ext cx="4983480" cy="1874520"/>
          </a:xfrm>
          <a:prstGeom prst="roundRect">
            <a:avLst/>
          </a:prstGeom>
          <a:solidFill>
            <a:srgbClr val="F7F8FB"/>
          </a:solidFill>
          <a:ln w="9000">
            <a:solidFill>
              <a:srgbClr val="D3D8E2"/>
            </a:solidFill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43" name="Accent 30">
            <a:extLst>
              <a:ext uri="{FF2B5EF4-FFF2-40B4-BE49-F238E27FC236}">
                <a16:creationId xmlns:a16="http://schemas.microsoft.com/office/drawing/2014/main" id="{98775105-7873-97A0-F43B-B4362787C9F5}"/>
              </a:ext>
            </a:extLst>
          </p:cNvPr>
          <p:cNvSpPr/>
          <p:nvPr/>
        </p:nvSpPr>
        <p:spPr>
          <a:xfrm>
            <a:off x="6461760" y="3686872"/>
            <a:ext cx="64008" cy="18745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45" name="TextBox 31">
            <a:extLst>
              <a:ext uri="{FF2B5EF4-FFF2-40B4-BE49-F238E27FC236}">
                <a16:creationId xmlns:a16="http://schemas.microsoft.com/office/drawing/2014/main" id="{BA511FA8-13F9-17A2-9760-DC98C59AABD7}"/>
              </a:ext>
            </a:extLst>
          </p:cNvPr>
          <p:cNvSpPr txBox="1"/>
          <p:nvPr/>
        </p:nvSpPr>
        <p:spPr>
          <a:xfrm>
            <a:off x="6626352" y="3796600"/>
            <a:ext cx="47091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92500" lnSpcReduction="20000"/>
          </a:bodyPr>
          <a:lstStyle/>
          <a:p>
            <a:pPr algn="l">
              <a:spcAft>
                <a:spcPts val="300"/>
              </a:spcAft>
            </a:pPr>
            <a:r>
              <a:rPr lang="vi-VN" sz="1600" b="1" dirty="0">
                <a:solidFill>
                  <a:srgbClr val="0F766E"/>
                </a:solidFill>
                <a:latin typeface="+mj-lt"/>
                <a:ea typeface="Arial"/>
                <a:cs typeface="Arial"/>
              </a:rPr>
              <a:t>File triển khai chính</a:t>
            </a:r>
          </a:p>
        </p:txBody>
      </p:sp>
      <p:sp>
        <p:nvSpPr>
          <p:cNvPr id="47" name="TextBox 32">
            <a:extLst>
              <a:ext uri="{FF2B5EF4-FFF2-40B4-BE49-F238E27FC236}">
                <a16:creationId xmlns:a16="http://schemas.microsoft.com/office/drawing/2014/main" id="{FFC7683D-3BC5-B1A5-B3B0-FD48449AA9A2}"/>
              </a:ext>
            </a:extLst>
          </p:cNvPr>
          <p:cNvSpPr txBox="1"/>
          <p:nvPr/>
        </p:nvSpPr>
        <p:spPr>
          <a:xfrm>
            <a:off x="6626352" y="4162360"/>
            <a:ext cx="4709160" cy="1307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backend/data_pipeline/01_scrape.py -&gt; 05_enrich_bilingual.py</a:t>
            </a:r>
          </a:p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backend/app/kg/builder.py: schema entity, relationship và constraint/index</a:t>
            </a:r>
          </a:p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backend/app/kg/embeddings.py: sync embedding thiếu hoặc stale</a:t>
            </a:r>
          </a:p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backend/app/kg/bilingual.py: trường song ngữ và query expansion</a:t>
            </a:r>
          </a:p>
        </p:txBody>
      </p:sp>
      <p:sp>
        <p:nvSpPr>
          <p:cNvPr id="49" name="Shape 34">
            <a:extLst>
              <a:ext uri="{FF2B5EF4-FFF2-40B4-BE49-F238E27FC236}">
                <a16:creationId xmlns:a16="http://schemas.microsoft.com/office/drawing/2014/main" id="{D7E54A08-E6D2-2638-4CE7-88BF41876094}"/>
              </a:ext>
            </a:extLst>
          </p:cNvPr>
          <p:cNvSpPr/>
          <p:nvPr/>
        </p:nvSpPr>
        <p:spPr>
          <a:xfrm>
            <a:off x="947928" y="1519744"/>
            <a:ext cx="73152" cy="502920"/>
          </a:xfrm>
          <a:prstGeom prst="rect">
            <a:avLst/>
          </a:prstGeom>
          <a:solidFill>
            <a:srgbClr val="F2C94C"/>
          </a:solidFill>
          <a:ln>
            <a:noFill/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51" name="TextBox 35">
            <a:extLst>
              <a:ext uri="{FF2B5EF4-FFF2-40B4-BE49-F238E27FC236}">
                <a16:creationId xmlns:a16="http://schemas.microsoft.com/office/drawing/2014/main" id="{3F76341B-20A7-80F1-B989-71849A49D781}"/>
              </a:ext>
            </a:extLst>
          </p:cNvPr>
          <p:cNvSpPr txBox="1"/>
          <p:nvPr/>
        </p:nvSpPr>
        <p:spPr>
          <a:xfrm>
            <a:off x="1021080" y="1519744"/>
            <a:ext cx="101498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lnSpcReduction="10000"/>
          </a:bodyPr>
          <a:lstStyle/>
          <a:p>
            <a:pPr algn="l">
              <a:spcAft>
                <a:spcPts val="300"/>
              </a:spcAft>
            </a:pPr>
            <a:r>
              <a:rPr lang="vi-VN" sz="28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Pipeline xây dựng Knowledge Graph</a:t>
            </a:r>
          </a:p>
        </p:txBody>
      </p:sp>
    </p:spTree>
    <p:extLst>
      <p:ext uri="{BB962C8B-B14F-4D97-AF65-F5344CB8AC3E}">
        <p14:creationId xmlns:p14="http://schemas.microsoft.com/office/powerpoint/2010/main" val="4115500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6113A-8842-CA45-07A2-D3DF764F8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A25A2C-FA50-B107-9552-2BCC7AD953C8}"/>
              </a:ext>
            </a:extLst>
          </p:cNvPr>
          <p:cNvSpPr txBox="1"/>
          <p:nvPr/>
        </p:nvSpPr>
        <p:spPr>
          <a:xfrm>
            <a:off x="1950719" y="356486"/>
            <a:ext cx="8290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>
                <a:solidFill>
                  <a:schemeClr val="bg1"/>
                </a:solidFill>
                <a:latin typeface="+mj-lt"/>
              </a:rPr>
              <a:t>ĐẠI HỌC GIAO THÔNG VẬN TẢI PHÂN HIỆ</a:t>
            </a:r>
            <a:r>
              <a:rPr lang="en-US" altLang="vi-VN" b="1" dirty="0">
                <a:solidFill>
                  <a:schemeClr val="bg1"/>
                </a:solidFill>
                <a:latin typeface="+mj-lt"/>
              </a:rPr>
              <a:t>U</a:t>
            </a:r>
            <a:r>
              <a:rPr lang="vi-VN" b="1" dirty="0">
                <a:solidFill>
                  <a:schemeClr val="bg1"/>
                </a:solidFill>
                <a:latin typeface="+mj-lt"/>
              </a:rPr>
              <a:t> THÀNH PHỐ HỒ CHÍ MINH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EF2CE7D-96BE-167D-C298-B18FC0221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FCFE7-4CFC-4698-A5C8-57D6C94FD847}" type="slidenum">
              <a:rPr lang="en-US" smtClean="0"/>
              <a:t>10</a:t>
            </a:fld>
            <a:endParaRPr lang="en-US"/>
          </a:p>
        </p:txBody>
      </p:sp>
      <p:sp>
        <p:nvSpPr>
          <p:cNvPr id="6" name="Shape 11">
            <a:extLst>
              <a:ext uri="{FF2B5EF4-FFF2-40B4-BE49-F238E27FC236}">
                <a16:creationId xmlns:a16="http://schemas.microsoft.com/office/drawing/2014/main" id="{80C8BC6D-F558-4788-1848-39B8FCD8186C}"/>
              </a:ext>
            </a:extLst>
          </p:cNvPr>
          <p:cNvSpPr/>
          <p:nvPr/>
        </p:nvSpPr>
        <p:spPr>
          <a:xfrm>
            <a:off x="954657" y="2274786"/>
            <a:ext cx="1298448" cy="658368"/>
          </a:xfrm>
          <a:prstGeom prst="roundRect">
            <a:avLst/>
          </a:prstGeom>
          <a:solidFill>
            <a:srgbClr val="EEF2FF"/>
          </a:solidFill>
          <a:ln w="10000">
            <a:solidFill>
              <a:srgbClr val="C7D2FE"/>
            </a:solidFill>
          </a:ln>
        </p:spPr>
        <p:txBody>
          <a:bodyPr/>
          <a:lstStyle/>
          <a:p>
            <a:pPr algn="ctr"/>
            <a:endParaRPr sz="1400">
              <a:latin typeface="+mj-lt"/>
            </a:endParaRP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3F22EDB3-8BF5-DB52-A589-D6028417480A}"/>
              </a:ext>
            </a:extLst>
          </p:cNvPr>
          <p:cNvSpPr txBox="1"/>
          <p:nvPr/>
        </p:nvSpPr>
        <p:spPr>
          <a:xfrm>
            <a:off x="1027809" y="2402802"/>
            <a:ext cx="1152144" cy="49377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>
              <a:spcAft>
                <a:spcPts val="300"/>
              </a:spcAft>
            </a:pPr>
            <a:r>
              <a:rPr lang="vi-VN" sz="14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Clean query</a:t>
            </a:r>
          </a:p>
        </p:txBody>
      </p:sp>
      <p:sp>
        <p:nvSpPr>
          <p:cNvPr id="11" name="TextBox 13">
            <a:extLst>
              <a:ext uri="{FF2B5EF4-FFF2-40B4-BE49-F238E27FC236}">
                <a16:creationId xmlns:a16="http://schemas.microsoft.com/office/drawing/2014/main" id="{2F7D2DA6-359F-A721-69DA-BCAC25AA9FEB}"/>
              </a:ext>
            </a:extLst>
          </p:cNvPr>
          <p:cNvSpPr txBox="1"/>
          <p:nvPr/>
        </p:nvSpPr>
        <p:spPr>
          <a:xfrm>
            <a:off x="2298825" y="2439378"/>
            <a:ext cx="1371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vi-VN" sz="1400" b="1" dirty="0">
                <a:solidFill>
                  <a:srgbClr val="64748B"/>
                </a:solidFill>
                <a:latin typeface="+mj-lt"/>
                <a:ea typeface="Arial"/>
                <a:cs typeface="Arial"/>
              </a:rPr>
              <a:t>→</a:t>
            </a:r>
          </a:p>
        </p:txBody>
      </p:sp>
      <p:sp>
        <p:nvSpPr>
          <p:cNvPr id="13" name="Shape 14">
            <a:extLst>
              <a:ext uri="{FF2B5EF4-FFF2-40B4-BE49-F238E27FC236}">
                <a16:creationId xmlns:a16="http://schemas.microsoft.com/office/drawing/2014/main" id="{4AC06656-018D-44F0-E312-B83F81CB6525}"/>
              </a:ext>
            </a:extLst>
          </p:cNvPr>
          <p:cNvSpPr/>
          <p:nvPr/>
        </p:nvSpPr>
        <p:spPr>
          <a:xfrm>
            <a:off x="2481705" y="2274786"/>
            <a:ext cx="1298448" cy="658368"/>
          </a:xfrm>
          <a:prstGeom prst="roundRect">
            <a:avLst/>
          </a:prstGeom>
          <a:solidFill>
            <a:srgbClr val="EEF2FF"/>
          </a:solidFill>
          <a:ln w="10000">
            <a:solidFill>
              <a:srgbClr val="C7D2FE"/>
            </a:solidFill>
          </a:ln>
        </p:spPr>
        <p:txBody>
          <a:bodyPr/>
          <a:lstStyle/>
          <a:p>
            <a:pPr algn="ctr"/>
            <a:endParaRPr sz="1400">
              <a:latin typeface="+mj-lt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49342A33-ED36-3215-F596-3432E9F17765}"/>
              </a:ext>
            </a:extLst>
          </p:cNvPr>
          <p:cNvSpPr txBox="1"/>
          <p:nvPr/>
        </p:nvSpPr>
        <p:spPr>
          <a:xfrm>
            <a:off x="2554857" y="2402802"/>
            <a:ext cx="1152144" cy="49377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>
              <a:spcAft>
                <a:spcPts val="300"/>
              </a:spcAft>
            </a:pPr>
            <a:r>
              <a:rPr lang="vi-VN" sz="14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Cache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241D99-ED92-E536-4003-7304A8338419}"/>
              </a:ext>
            </a:extLst>
          </p:cNvPr>
          <p:cNvSpPr txBox="1"/>
          <p:nvPr/>
        </p:nvSpPr>
        <p:spPr>
          <a:xfrm>
            <a:off x="3825873" y="2439378"/>
            <a:ext cx="1371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vi-VN" sz="1400" b="1" dirty="0">
                <a:solidFill>
                  <a:srgbClr val="64748B"/>
                </a:solidFill>
                <a:latin typeface="+mj-lt"/>
                <a:ea typeface="Arial"/>
                <a:cs typeface="Arial"/>
              </a:rPr>
              <a:t>→</a:t>
            </a: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EC7F53ED-AC38-2C4B-B187-0C0BD938184D}"/>
              </a:ext>
            </a:extLst>
          </p:cNvPr>
          <p:cNvSpPr/>
          <p:nvPr/>
        </p:nvSpPr>
        <p:spPr>
          <a:xfrm>
            <a:off x="4008753" y="2274786"/>
            <a:ext cx="1298448" cy="658368"/>
          </a:xfrm>
          <a:prstGeom prst="roundRect">
            <a:avLst/>
          </a:prstGeom>
          <a:solidFill>
            <a:srgbClr val="EEF2FF"/>
          </a:solidFill>
          <a:ln w="10000">
            <a:solidFill>
              <a:srgbClr val="C7D2FE"/>
            </a:solidFill>
          </a:ln>
        </p:spPr>
        <p:txBody>
          <a:bodyPr/>
          <a:lstStyle/>
          <a:p>
            <a:pPr algn="ctr"/>
            <a:endParaRPr sz="1400">
              <a:latin typeface="+mj-lt"/>
            </a:endParaRPr>
          </a:p>
        </p:txBody>
      </p:sp>
      <p:sp>
        <p:nvSpPr>
          <p:cNvPr id="21" name="TextBox 18">
            <a:extLst>
              <a:ext uri="{FF2B5EF4-FFF2-40B4-BE49-F238E27FC236}">
                <a16:creationId xmlns:a16="http://schemas.microsoft.com/office/drawing/2014/main" id="{6F454B8B-C049-44DE-8F8A-17AF1B1EB773}"/>
              </a:ext>
            </a:extLst>
          </p:cNvPr>
          <p:cNvSpPr txBox="1"/>
          <p:nvPr/>
        </p:nvSpPr>
        <p:spPr>
          <a:xfrm>
            <a:off x="4081905" y="2402802"/>
            <a:ext cx="1152144" cy="49377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>
              <a:spcAft>
                <a:spcPts val="300"/>
              </a:spcAft>
            </a:pPr>
            <a:r>
              <a:rPr lang="vi-VN" sz="14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Full-text</a:t>
            </a:r>
          </a:p>
        </p:txBody>
      </p:sp>
      <p:sp>
        <p:nvSpPr>
          <p:cNvPr id="23" name="TextBox 19">
            <a:extLst>
              <a:ext uri="{FF2B5EF4-FFF2-40B4-BE49-F238E27FC236}">
                <a16:creationId xmlns:a16="http://schemas.microsoft.com/office/drawing/2014/main" id="{7A6FAD52-6ADF-AE2A-F384-5ACDFE4798D3}"/>
              </a:ext>
            </a:extLst>
          </p:cNvPr>
          <p:cNvSpPr txBox="1"/>
          <p:nvPr/>
        </p:nvSpPr>
        <p:spPr>
          <a:xfrm>
            <a:off x="5352921" y="2439378"/>
            <a:ext cx="1371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vi-VN" sz="1400" b="1" dirty="0">
                <a:solidFill>
                  <a:srgbClr val="64748B"/>
                </a:solidFill>
                <a:latin typeface="+mj-lt"/>
                <a:ea typeface="Arial"/>
                <a:cs typeface="Arial"/>
              </a:rPr>
              <a:t>→</a:t>
            </a:r>
          </a:p>
        </p:txBody>
      </p:sp>
      <p:sp>
        <p:nvSpPr>
          <p:cNvPr id="25" name="Shape 20">
            <a:extLst>
              <a:ext uri="{FF2B5EF4-FFF2-40B4-BE49-F238E27FC236}">
                <a16:creationId xmlns:a16="http://schemas.microsoft.com/office/drawing/2014/main" id="{E5549FA4-ADB9-438E-00E0-E9FF459334FF}"/>
              </a:ext>
            </a:extLst>
          </p:cNvPr>
          <p:cNvSpPr/>
          <p:nvPr/>
        </p:nvSpPr>
        <p:spPr>
          <a:xfrm>
            <a:off x="5535801" y="2274786"/>
            <a:ext cx="1298448" cy="658368"/>
          </a:xfrm>
          <a:prstGeom prst="roundRect">
            <a:avLst/>
          </a:prstGeom>
          <a:solidFill>
            <a:srgbClr val="EEF2FF"/>
          </a:solidFill>
          <a:ln w="10000">
            <a:solidFill>
              <a:srgbClr val="C7D2FE"/>
            </a:solidFill>
          </a:ln>
        </p:spPr>
        <p:txBody>
          <a:bodyPr/>
          <a:lstStyle/>
          <a:p>
            <a:pPr algn="ctr"/>
            <a:endParaRPr sz="1400">
              <a:latin typeface="+mj-lt"/>
            </a:endParaRPr>
          </a:p>
        </p:txBody>
      </p:sp>
      <p:sp>
        <p:nvSpPr>
          <p:cNvPr id="27" name="TextBox 21">
            <a:extLst>
              <a:ext uri="{FF2B5EF4-FFF2-40B4-BE49-F238E27FC236}">
                <a16:creationId xmlns:a16="http://schemas.microsoft.com/office/drawing/2014/main" id="{BA77F4E9-B34E-072A-4FAE-704ECCA9D8C4}"/>
              </a:ext>
            </a:extLst>
          </p:cNvPr>
          <p:cNvSpPr txBox="1"/>
          <p:nvPr/>
        </p:nvSpPr>
        <p:spPr>
          <a:xfrm>
            <a:off x="5608953" y="2402802"/>
            <a:ext cx="1152144" cy="49377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>
              <a:spcAft>
                <a:spcPts val="300"/>
              </a:spcAft>
            </a:pPr>
            <a:r>
              <a:rPr lang="vi-VN" sz="14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Vector</a:t>
            </a:r>
          </a:p>
        </p:txBody>
      </p:sp>
      <p:sp>
        <p:nvSpPr>
          <p:cNvPr id="29" name="TextBox 22">
            <a:extLst>
              <a:ext uri="{FF2B5EF4-FFF2-40B4-BE49-F238E27FC236}">
                <a16:creationId xmlns:a16="http://schemas.microsoft.com/office/drawing/2014/main" id="{92190ED5-371B-51E9-EBED-F4A2DA7508DC}"/>
              </a:ext>
            </a:extLst>
          </p:cNvPr>
          <p:cNvSpPr txBox="1"/>
          <p:nvPr/>
        </p:nvSpPr>
        <p:spPr>
          <a:xfrm>
            <a:off x="6879969" y="2439378"/>
            <a:ext cx="1371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vi-VN" sz="1400" b="1" dirty="0">
                <a:solidFill>
                  <a:srgbClr val="64748B"/>
                </a:solidFill>
                <a:latin typeface="+mj-lt"/>
                <a:ea typeface="Arial"/>
                <a:cs typeface="Arial"/>
              </a:rPr>
              <a:t>→</a:t>
            </a:r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6EA90CFF-FF26-B424-B189-7651421DD2B9}"/>
              </a:ext>
            </a:extLst>
          </p:cNvPr>
          <p:cNvSpPr/>
          <p:nvPr/>
        </p:nvSpPr>
        <p:spPr>
          <a:xfrm>
            <a:off x="7062849" y="2274786"/>
            <a:ext cx="1298448" cy="658368"/>
          </a:xfrm>
          <a:prstGeom prst="roundRect">
            <a:avLst/>
          </a:prstGeom>
          <a:solidFill>
            <a:srgbClr val="EEF2FF"/>
          </a:solidFill>
          <a:ln w="10000">
            <a:solidFill>
              <a:srgbClr val="C7D2FE"/>
            </a:solidFill>
          </a:ln>
        </p:spPr>
        <p:txBody>
          <a:bodyPr/>
          <a:lstStyle/>
          <a:p>
            <a:pPr algn="ctr"/>
            <a:endParaRPr sz="1400">
              <a:latin typeface="+mj-lt"/>
            </a:endParaRPr>
          </a:p>
        </p:txBody>
      </p:sp>
      <p:sp>
        <p:nvSpPr>
          <p:cNvPr id="33" name="TextBox 24">
            <a:extLst>
              <a:ext uri="{FF2B5EF4-FFF2-40B4-BE49-F238E27FC236}">
                <a16:creationId xmlns:a16="http://schemas.microsoft.com/office/drawing/2014/main" id="{A7BFD76C-BFC7-D585-C77F-3DFE8866CEA0}"/>
              </a:ext>
            </a:extLst>
          </p:cNvPr>
          <p:cNvSpPr txBox="1"/>
          <p:nvPr/>
        </p:nvSpPr>
        <p:spPr>
          <a:xfrm>
            <a:off x="7136001" y="2402802"/>
            <a:ext cx="1152144" cy="49377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>
              <a:spcAft>
                <a:spcPts val="300"/>
              </a:spcAft>
            </a:pPr>
            <a:r>
              <a:rPr lang="vi-VN" sz="14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RRF</a:t>
            </a:r>
          </a:p>
        </p:txBody>
      </p:sp>
      <p:sp>
        <p:nvSpPr>
          <p:cNvPr id="35" name="TextBox 25">
            <a:extLst>
              <a:ext uri="{FF2B5EF4-FFF2-40B4-BE49-F238E27FC236}">
                <a16:creationId xmlns:a16="http://schemas.microsoft.com/office/drawing/2014/main" id="{0DB17559-1283-A454-90B4-16E4A721DBA2}"/>
              </a:ext>
            </a:extLst>
          </p:cNvPr>
          <p:cNvSpPr txBox="1"/>
          <p:nvPr/>
        </p:nvSpPr>
        <p:spPr>
          <a:xfrm>
            <a:off x="8407017" y="2439378"/>
            <a:ext cx="1371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vi-VN" sz="1400" b="1" dirty="0">
                <a:solidFill>
                  <a:srgbClr val="64748B"/>
                </a:solidFill>
                <a:latin typeface="+mj-lt"/>
                <a:ea typeface="Arial"/>
                <a:cs typeface="Arial"/>
              </a:rPr>
              <a:t>→</a:t>
            </a:r>
          </a:p>
        </p:txBody>
      </p:sp>
      <p:sp>
        <p:nvSpPr>
          <p:cNvPr id="37" name="Shape 26">
            <a:extLst>
              <a:ext uri="{FF2B5EF4-FFF2-40B4-BE49-F238E27FC236}">
                <a16:creationId xmlns:a16="http://schemas.microsoft.com/office/drawing/2014/main" id="{D51F7B54-0133-E483-CF5A-0332B61F233F}"/>
              </a:ext>
            </a:extLst>
          </p:cNvPr>
          <p:cNvSpPr/>
          <p:nvPr/>
        </p:nvSpPr>
        <p:spPr>
          <a:xfrm>
            <a:off x="8589897" y="2274786"/>
            <a:ext cx="1298448" cy="658368"/>
          </a:xfrm>
          <a:prstGeom prst="roundRect">
            <a:avLst/>
          </a:prstGeom>
          <a:solidFill>
            <a:srgbClr val="EEF2FF"/>
          </a:solidFill>
          <a:ln w="10000">
            <a:solidFill>
              <a:srgbClr val="C7D2FE"/>
            </a:solidFill>
          </a:ln>
        </p:spPr>
        <p:txBody>
          <a:bodyPr/>
          <a:lstStyle/>
          <a:p>
            <a:pPr algn="ctr"/>
            <a:endParaRPr sz="1400">
              <a:latin typeface="+mj-lt"/>
            </a:endParaRPr>
          </a:p>
        </p:txBody>
      </p:sp>
      <p:sp>
        <p:nvSpPr>
          <p:cNvPr id="39" name="TextBox 27">
            <a:extLst>
              <a:ext uri="{FF2B5EF4-FFF2-40B4-BE49-F238E27FC236}">
                <a16:creationId xmlns:a16="http://schemas.microsoft.com/office/drawing/2014/main" id="{E80E2EAD-54C4-D5D5-02ED-EC42029EDBFE}"/>
              </a:ext>
            </a:extLst>
          </p:cNvPr>
          <p:cNvSpPr txBox="1"/>
          <p:nvPr/>
        </p:nvSpPr>
        <p:spPr>
          <a:xfrm>
            <a:off x="8663049" y="2402802"/>
            <a:ext cx="1152144" cy="49377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vi-VN" sz="14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Graph expand</a:t>
            </a:r>
          </a:p>
        </p:txBody>
      </p:sp>
      <p:sp>
        <p:nvSpPr>
          <p:cNvPr id="41" name="TextBox 28">
            <a:extLst>
              <a:ext uri="{FF2B5EF4-FFF2-40B4-BE49-F238E27FC236}">
                <a16:creationId xmlns:a16="http://schemas.microsoft.com/office/drawing/2014/main" id="{F4017A60-1CBF-731D-F3FE-097824B593E8}"/>
              </a:ext>
            </a:extLst>
          </p:cNvPr>
          <p:cNvSpPr txBox="1"/>
          <p:nvPr/>
        </p:nvSpPr>
        <p:spPr>
          <a:xfrm>
            <a:off x="9934065" y="2439378"/>
            <a:ext cx="1371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vi-VN" sz="1400" b="1" dirty="0">
                <a:solidFill>
                  <a:srgbClr val="64748B"/>
                </a:solidFill>
                <a:latin typeface="+mj-lt"/>
                <a:ea typeface="Arial"/>
                <a:cs typeface="Arial"/>
              </a:rPr>
              <a:t>→</a:t>
            </a:r>
          </a:p>
        </p:txBody>
      </p:sp>
      <p:sp>
        <p:nvSpPr>
          <p:cNvPr id="43" name="Shape 29">
            <a:extLst>
              <a:ext uri="{FF2B5EF4-FFF2-40B4-BE49-F238E27FC236}">
                <a16:creationId xmlns:a16="http://schemas.microsoft.com/office/drawing/2014/main" id="{53B3930A-5230-10CE-748C-39980B5A75AB}"/>
              </a:ext>
            </a:extLst>
          </p:cNvPr>
          <p:cNvSpPr/>
          <p:nvPr/>
        </p:nvSpPr>
        <p:spPr>
          <a:xfrm>
            <a:off x="10116945" y="2274786"/>
            <a:ext cx="1298448" cy="658368"/>
          </a:xfrm>
          <a:prstGeom prst="roundRect">
            <a:avLst/>
          </a:prstGeom>
          <a:solidFill>
            <a:srgbClr val="EEF2FF"/>
          </a:solidFill>
          <a:ln w="10000">
            <a:solidFill>
              <a:srgbClr val="C7D2FE"/>
            </a:solidFill>
          </a:ln>
        </p:spPr>
        <p:txBody>
          <a:bodyPr/>
          <a:lstStyle/>
          <a:p>
            <a:pPr algn="ctr"/>
            <a:endParaRPr sz="1400">
              <a:latin typeface="+mj-lt"/>
            </a:endParaRPr>
          </a:p>
        </p:txBody>
      </p:sp>
      <p:sp>
        <p:nvSpPr>
          <p:cNvPr id="45" name="TextBox 30">
            <a:extLst>
              <a:ext uri="{FF2B5EF4-FFF2-40B4-BE49-F238E27FC236}">
                <a16:creationId xmlns:a16="http://schemas.microsoft.com/office/drawing/2014/main" id="{F44BFFEF-98AE-DBCD-8CD8-5B84C53E69BA}"/>
              </a:ext>
            </a:extLst>
          </p:cNvPr>
          <p:cNvSpPr txBox="1"/>
          <p:nvPr/>
        </p:nvSpPr>
        <p:spPr>
          <a:xfrm>
            <a:off x="10190097" y="2402802"/>
            <a:ext cx="1152144" cy="49377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vi-VN" sz="14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Format context</a:t>
            </a:r>
          </a:p>
        </p:txBody>
      </p:sp>
      <p:sp>
        <p:nvSpPr>
          <p:cNvPr id="47" name="Card 31">
            <a:extLst>
              <a:ext uri="{FF2B5EF4-FFF2-40B4-BE49-F238E27FC236}">
                <a16:creationId xmlns:a16="http://schemas.microsoft.com/office/drawing/2014/main" id="{A9738B91-DF32-7025-61F3-FD21BFB9AC85}"/>
              </a:ext>
            </a:extLst>
          </p:cNvPr>
          <p:cNvSpPr/>
          <p:nvPr/>
        </p:nvSpPr>
        <p:spPr>
          <a:xfrm>
            <a:off x="1046097" y="3280626"/>
            <a:ext cx="5257800" cy="1920240"/>
          </a:xfrm>
          <a:prstGeom prst="roundRect">
            <a:avLst/>
          </a:prstGeom>
          <a:solidFill>
            <a:srgbClr val="F7F8FB"/>
          </a:solidFill>
          <a:ln w="9000">
            <a:solidFill>
              <a:srgbClr val="D3D8E2"/>
            </a:solidFill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49" name="Accent 32">
            <a:extLst>
              <a:ext uri="{FF2B5EF4-FFF2-40B4-BE49-F238E27FC236}">
                <a16:creationId xmlns:a16="http://schemas.microsoft.com/office/drawing/2014/main" id="{E8468105-678E-5FE8-5DD3-ECBD5BFAD058}"/>
              </a:ext>
            </a:extLst>
          </p:cNvPr>
          <p:cNvSpPr/>
          <p:nvPr/>
        </p:nvSpPr>
        <p:spPr>
          <a:xfrm>
            <a:off x="1046097" y="3280626"/>
            <a:ext cx="64008" cy="1920240"/>
          </a:xfrm>
          <a:prstGeom prst="rect">
            <a:avLst/>
          </a:prstGeom>
          <a:solidFill>
            <a:srgbClr val="20135A"/>
          </a:solidFill>
          <a:ln>
            <a:noFill/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51" name="TextBox 33">
            <a:extLst>
              <a:ext uri="{FF2B5EF4-FFF2-40B4-BE49-F238E27FC236}">
                <a16:creationId xmlns:a16="http://schemas.microsoft.com/office/drawing/2014/main" id="{2C8579C4-365F-47D9-8874-5D212E43F24C}"/>
              </a:ext>
            </a:extLst>
          </p:cNvPr>
          <p:cNvSpPr txBox="1"/>
          <p:nvPr/>
        </p:nvSpPr>
        <p:spPr>
          <a:xfrm>
            <a:off x="1210689" y="3390354"/>
            <a:ext cx="49834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92500" lnSpcReduction="20000"/>
          </a:bodyPr>
          <a:lstStyle/>
          <a:p>
            <a:pPr algn="l">
              <a:spcAft>
                <a:spcPts val="300"/>
              </a:spcAft>
            </a:pPr>
            <a:r>
              <a:rPr lang="vi-VN" sz="16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Hybrid retriever</a:t>
            </a:r>
          </a:p>
        </p:txBody>
      </p:sp>
      <p:sp>
        <p:nvSpPr>
          <p:cNvPr id="53" name="TextBox 34">
            <a:extLst>
              <a:ext uri="{FF2B5EF4-FFF2-40B4-BE49-F238E27FC236}">
                <a16:creationId xmlns:a16="http://schemas.microsoft.com/office/drawing/2014/main" id="{BFA08465-D6B2-650D-272E-0E8EB928DBD3}"/>
              </a:ext>
            </a:extLst>
          </p:cNvPr>
          <p:cNvSpPr txBox="1"/>
          <p:nvPr/>
        </p:nvSpPr>
        <p:spPr>
          <a:xfrm>
            <a:off x="1210689" y="3756114"/>
            <a:ext cx="4983480" cy="135331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vi-VN" sz="13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Full-text index entity_fulltext_bilingual/entity_fulltext xử lý khớp từ khóa.</a:t>
            </a:r>
          </a:p>
          <a:p>
            <a:pPr algn="l">
              <a:spcAft>
                <a:spcPts val="300"/>
              </a:spcAft>
            </a:pPr>
            <a:r>
              <a:rPr lang="vi-VN" sz="13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Vector search dùng entity_embedding_index và cosine similarity.</a:t>
            </a:r>
          </a:p>
          <a:p>
            <a:pPr algn="l">
              <a:spcAft>
                <a:spcPts val="300"/>
              </a:spcAft>
            </a:pPr>
            <a:r>
              <a:rPr lang="vi-VN" sz="13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RRF hợp nhất full-text và vector theo thứ hạng, tránh cộng score khác scale.</a:t>
            </a:r>
          </a:p>
          <a:p>
            <a:pPr algn="l">
              <a:spcAft>
                <a:spcPts val="300"/>
              </a:spcAft>
            </a:pPr>
            <a:r>
              <a:rPr lang="vi-VN" sz="13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Fallback keyword CONTAINS khi full-text/vector không khả dụng.</a:t>
            </a:r>
          </a:p>
        </p:txBody>
      </p:sp>
      <p:sp>
        <p:nvSpPr>
          <p:cNvPr id="55" name="Card 35">
            <a:extLst>
              <a:ext uri="{FF2B5EF4-FFF2-40B4-BE49-F238E27FC236}">
                <a16:creationId xmlns:a16="http://schemas.microsoft.com/office/drawing/2014/main" id="{84D248E1-1863-49CE-3733-5762C3397F71}"/>
              </a:ext>
            </a:extLst>
          </p:cNvPr>
          <p:cNvSpPr/>
          <p:nvPr/>
        </p:nvSpPr>
        <p:spPr>
          <a:xfrm>
            <a:off x="6532497" y="3280626"/>
            <a:ext cx="4983480" cy="1920240"/>
          </a:xfrm>
          <a:prstGeom prst="roundRect">
            <a:avLst/>
          </a:prstGeom>
          <a:solidFill>
            <a:srgbClr val="F7F8FB"/>
          </a:solidFill>
          <a:ln w="9000">
            <a:solidFill>
              <a:srgbClr val="D3D8E2"/>
            </a:solidFill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57" name="Accent 36">
            <a:extLst>
              <a:ext uri="{FF2B5EF4-FFF2-40B4-BE49-F238E27FC236}">
                <a16:creationId xmlns:a16="http://schemas.microsoft.com/office/drawing/2014/main" id="{9823E845-4D9A-6518-9C75-380F2565B7D9}"/>
              </a:ext>
            </a:extLst>
          </p:cNvPr>
          <p:cNvSpPr/>
          <p:nvPr/>
        </p:nvSpPr>
        <p:spPr>
          <a:xfrm>
            <a:off x="6532497" y="3280626"/>
            <a:ext cx="64008" cy="1920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59" name="TextBox 37">
            <a:extLst>
              <a:ext uri="{FF2B5EF4-FFF2-40B4-BE49-F238E27FC236}">
                <a16:creationId xmlns:a16="http://schemas.microsoft.com/office/drawing/2014/main" id="{8E38152F-3276-86AA-C474-405179803193}"/>
              </a:ext>
            </a:extLst>
          </p:cNvPr>
          <p:cNvSpPr txBox="1"/>
          <p:nvPr/>
        </p:nvSpPr>
        <p:spPr>
          <a:xfrm>
            <a:off x="6697089" y="3390354"/>
            <a:ext cx="47091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92500" lnSpcReduction="20000"/>
          </a:bodyPr>
          <a:lstStyle/>
          <a:p>
            <a:pPr algn="l">
              <a:spcAft>
                <a:spcPts val="300"/>
              </a:spcAft>
            </a:pPr>
            <a:r>
              <a:rPr lang="vi-VN" sz="1600" b="1" dirty="0">
                <a:solidFill>
                  <a:srgbClr val="7C3AED"/>
                </a:solidFill>
                <a:latin typeface="+mj-lt"/>
                <a:ea typeface="Arial"/>
                <a:cs typeface="Arial"/>
              </a:rPr>
              <a:t>Graph enrichment</a:t>
            </a:r>
          </a:p>
        </p:txBody>
      </p:sp>
      <p:sp>
        <p:nvSpPr>
          <p:cNvPr id="61" name="TextBox 38">
            <a:extLst>
              <a:ext uri="{FF2B5EF4-FFF2-40B4-BE49-F238E27FC236}">
                <a16:creationId xmlns:a16="http://schemas.microsoft.com/office/drawing/2014/main" id="{B08BDE7E-439B-F487-EE26-DF31F4A43CE7}"/>
              </a:ext>
            </a:extLst>
          </p:cNvPr>
          <p:cNvSpPr txBox="1"/>
          <p:nvPr/>
        </p:nvSpPr>
        <p:spPr>
          <a:xfrm>
            <a:off x="6706233" y="3686585"/>
            <a:ext cx="4809744" cy="135331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vi-VN" sz="13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Phát hiện môn thể thao và loại nội dung: Rule, Technique, Equipment.</a:t>
            </a:r>
          </a:p>
          <a:p>
            <a:pPr algn="l">
              <a:spcAft>
                <a:spcPts val="300"/>
              </a:spcAft>
            </a:pPr>
            <a:r>
              <a:rPr lang="vi-VN" sz="13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Mở rộng relationship cho seed node trong 1-2 bước.</a:t>
            </a:r>
          </a:p>
          <a:p>
            <a:pPr algn="l">
              <a:spcAft>
                <a:spcPts val="300"/>
              </a:spcAft>
            </a:pPr>
            <a:r>
              <a:rPr lang="vi-VN" sz="13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Tăng hạng nếu node đúng môn, đúng loại và có related entities phù hợp.</a:t>
            </a:r>
          </a:p>
          <a:p>
            <a:pPr algn="l">
              <a:spcAft>
                <a:spcPts val="300"/>
              </a:spcAft>
            </a:pPr>
            <a:r>
              <a:rPr lang="vi-VN" sz="13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Kết quả trả về gồm source, relationship path và các entity liên quan.</a:t>
            </a:r>
          </a:p>
        </p:txBody>
      </p:sp>
      <p:sp>
        <p:nvSpPr>
          <p:cNvPr id="63" name="TextBox 39">
            <a:extLst>
              <a:ext uri="{FF2B5EF4-FFF2-40B4-BE49-F238E27FC236}">
                <a16:creationId xmlns:a16="http://schemas.microsoft.com/office/drawing/2014/main" id="{FA6F9023-1B4B-3B15-A670-9EF1432C450E}"/>
              </a:ext>
            </a:extLst>
          </p:cNvPr>
          <p:cNvSpPr txBox="1"/>
          <p:nvPr/>
        </p:nvSpPr>
        <p:spPr>
          <a:xfrm>
            <a:off x="1137537" y="5722074"/>
            <a:ext cx="102412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lang="vi-VN" sz="1300" b="1" dirty="0">
                <a:solidFill>
                  <a:srgbClr val="B45309"/>
                </a:solidFill>
                <a:latin typeface="+mj-lt"/>
                <a:ea typeface="Arial"/>
                <a:cs typeface="Arial"/>
              </a:rPr>
              <a:t>Lưu ý thiết kế: câu hỏi giá, giờ mở cửa, khuyến mãi là dữ liệu động; hệ thống không dùng Graph RAG và không cho LLM tự bịa.</a:t>
            </a:r>
          </a:p>
        </p:txBody>
      </p:sp>
      <p:sp>
        <p:nvSpPr>
          <p:cNvPr id="65" name="Shape 41">
            <a:extLst>
              <a:ext uri="{FF2B5EF4-FFF2-40B4-BE49-F238E27FC236}">
                <a16:creationId xmlns:a16="http://schemas.microsoft.com/office/drawing/2014/main" id="{E26CD359-F943-65E7-394E-16FDB61508B4}"/>
              </a:ext>
            </a:extLst>
          </p:cNvPr>
          <p:cNvSpPr/>
          <p:nvPr/>
        </p:nvSpPr>
        <p:spPr>
          <a:xfrm>
            <a:off x="927225" y="1451826"/>
            <a:ext cx="73152" cy="502920"/>
          </a:xfrm>
          <a:prstGeom prst="rect">
            <a:avLst/>
          </a:prstGeom>
          <a:solidFill>
            <a:srgbClr val="F2C94C"/>
          </a:solidFill>
          <a:ln>
            <a:noFill/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67" name="TextBox 42">
            <a:extLst>
              <a:ext uri="{FF2B5EF4-FFF2-40B4-BE49-F238E27FC236}">
                <a16:creationId xmlns:a16="http://schemas.microsoft.com/office/drawing/2014/main" id="{F960FBC3-0B79-4FA7-1B28-275D3C3A5314}"/>
              </a:ext>
            </a:extLst>
          </p:cNvPr>
          <p:cNvSpPr txBox="1"/>
          <p:nvPr/>
        </p:nvSpPr>
        <p:spPr>
          <a:xfrm>
            <a:off x="1091817" y="1387818"/>
            <a:ext cx="101498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lnSpcReduction="10000"/>
          </a:bodyPr>
          <a:lstStyle/>
          <a:p>
            <a:pPr algn="l">
              <a:spcAft>
                <a:spcPts val="300"/>
              </a:spcAft>
            </a:pPr>
            <a:r>
              <a:rPr lang="vi-VN" sz="28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Runtime Graph RAG trong query_knowledge</a:t>
            </a:r>
          </a:p>
        </p:txBody>
      </p:sp>
    </p:spTree>
    <p:extLst>
      <p:ext uri="{BB962C8B-B14F-4D97-AF65-F5344CB8AC3E}">
        <p14:creationId xmlns:p14="http://schemas.microsoft.com/office/powerpoint/2010/main" val="6312815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F8524-C167-4549-6843-F0338D2B7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995880-025C-AE1A-6196-F9CDCF9EDE6D}"/>
              </a:ext>
            </a:extLst>
          </p:cNvPr>
          <p:cNvSpPr txBox="1"/>
          <p:nvPr/>
        </p:nvSpPr>
        <p:spPr>
          <a:xfrm>
            <a:off x="1950719" y="356486"/>
            <a:ext cx="8290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>
                <a:solidFill>
                  <a:schemeClr val="bg1"/>
                </a:solidFill>
                <a:latin typeface="+mj-lt"/>
              </a:rPr>
              <a:t>ĐẠI HỌC GIAO THÔNG VẬN TẢI PHÂN HIỆ</a:t>
            </a:r>
            <a:r>
              <a:rPr lang="en-US" altLang="vi-VN" b="1" dirty="0">
                <a:solidFill>
                  <a:schemeClr val="bg1"/>
                </a:solidFill>
                <a:latin typeface="+mj-lt"/>
              </a:rPr>
              <a:t>U</a:t>
            </a:r>
            <a:r>
              <a:rPr lang="vi-VN" b="1" dirty="0">
                <a:solidFill>
                  <a:schemeClr val="bg1"/>
                </a:solidFill>
                <a:latin typeface="+mj-lt"/>
              </a:rPr>
              <a:t> THÀNH PHỐ HỒ CHÍ MINH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15DB0E8-7416-F357-6794-3DC274627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FCFE7-4CFC-4698-A5C8-57D6C94FD847}" type="slidenum">
              <a:rPr lang="en-US" smtClean="0"/>
              <a:t>11</a:t>
            </a:fld>
            <a:endParaRPr lang="en-US" dirty="0"/>
          </a:p>
        </p:txBody>
      </p:sp>
      <p:sp>
        <p:nvSpPr>
          <p:cNvPr id="3" name="Shape 11">
            <a:extLst>
              <a:ext uri="{FF2B5EF4-FFF2-40B4-BE49-F238E27FC236}">
                <a16:creationId xmlns:a16="http://schemas.microsoft.com/office/drawing/2014/main" id="{40AA98D0-8E8A-B457-E215-697F3B645B7A}"/>
              </a:ext>
            </a:extLst>
          </p:cNvPr>
          <p:cNvSpPr/>
          <p:nvPr/>
        </p:nvSpPr>
        <p:spPr>
          <a:xfrm>
            <a:off x="5168085" y="2642271"/>
            <a:ext cx="2011680" cy="713232"/>
          </a:xfrm>
          <a:prstGeom prst="ellipse">
            <a:avLst/>
          </a:prstGeom>
          <a:solidFill>
            <a:srgbClr val="20135A"/>
          </a:solidFill>
          <a:ln>
            <a:noFill/>
          </a:ln>
        </p:spPr>
        <p:txBody>
          <a:bodyPr/>
          <a:lstStyle/>
          <a:p>
            <a:pPr algn="ctr"/>
            <a:endParaRPr sz="1400">
              <a:latin typeface="+mj-lt"/>
            </a:endParaRPr>
          </a:p>
        </p:txBody>
      </p:sp>
      <p:sp>
        <p:nvSpPr>
          <p:cNvPr id="4" name="TextBox 12">
            <a:extLst>
              <a:ext uri="{FF2B5EF4-FFF2-40B4-BE49-F238E27FC236}">
                <a16:creationId xmlns:a16="http://schemas.microsoft.com/office/drawing/2014/main" id="{3AADE97D-1DF6-B5E2-87B7-1AB21E540F94}"/>
              </a:ext>
            </a:extLst>
          </p:cNvPr>
          <p:cNvSpPr txBox="1"/>
          <p:nvPr/>
        </p:nvSpPr>
        <p:spPr>
          <a:xfrm>
            <a:off x="5350965" y="2761143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vi-VN" sz="1400" b="1" dirty="0">
                <a:solidFill>
                  <a:srgbClr val="FFFFFF"/>
                </a:solidFill>
                <a:latin typeface="+mj-lt"/>
                <a:ea typeface="Arial"/>
                <a:cs typeface="Arial"/>
              </a:rPr>
              <a:t>Seed node</a:t>
            </a:r>
          </a:p>
          <a:p>
            <a:pPr algn="ctr">
              <a:spcAft>
                <a:spcPts val="300"/>
              </a:spcAft>
            </a:pPr>
            <a:r>
              <a:rPr lang="vi-VN" sz="1400" b="1" dirty="0">
                <a:solidFill>
                  <a:srgbClr val="FFFFFF"/>
                </a:solidFill>
                <a:latin typeface="+mj-lt"/>
                <a:ea typeface="Arial"/>
                <a:cs typeface="Arial"/>
              </a:rPr>
              <a:t>Kỹ thuật / Luật</a:t>
            </a:r>
          </a:p>
        </p:txBody>
      </p:sp>
      <p:sp>
        <p:nvSpPr>
          <p:cNvPr id="5" name="Shape 13">
            <a:extLst>
              <a:ext uri="{FF2B5EF4-FFF2-40B4-BE49-F238E27FC236}">
                <a16:creationId xmlns:a16="http://schemas.microsoft.com/office/drawing/2014/main" id="{28FDB909-DC2F-D1EF-E222-70DB589D3483}"/>
              </a:ext>
            </a:extLst>
          </p:cNvPr>
          <p:cNvSpPr/>
          <p:nvPr/>
        </p:nvSpPr>
        <p:spPr>
          <a:xfrm>
            <a:off x="2535867" y="1775371"/>
            <a:ext cx="1508760" cy="56692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>
            <a:pPr algn="ctr"/>
            <a:endParaRPr sz="1400">
              <a:latin typeface="+mj-lt"/>
            </a:endParaRPr>
          </a:p>
        </p:txBody>
      </p:sp>
      <p:sp>
        <p:nvSpPr>
          <p:cNvPr id="6" name="TextBox 14">
            <a:extLst>
              <a:ext uri="{FF2B5EF4-FFF2-40B4-BE49-F238E27FC236}">
                <a16:creationId xmlns:a16="http://schemas.microsoft.com/office/drawing/2014/main" id="{FDCA99F9-7DA4-B2EC-BCCD-C3AF4EE953C4}"/>
              </a:ext>
            </a:extLst>
          </p:cNvPr>
          <p:cNvSpPr txBox="1"/>
          <p:nvPr/>
        </p:nvSpPr>
        <p:spPr>
          <a:xfrm>
            <a:off x="2627307" y="1892426"/>
            <a:ext cx="13258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vi-VN" sz="1400" b="1" dirty="0">
                <a:solidFill>
                  <a:srgbClr val="FFFFFF"/>
                </a:solidFill>
                <a:latin typeface="+mj-lt"/>
                <a:ea typeface="Arial"/>
                <a:cs typeface="Arial"/>
              </a:rPr>
              <a:t>Sport</a:t>
            </a:r>
          </a:p>
        </p:txBody>
      </p:sp>
      <p:sp>
        <p:nvSpPr>
          <p:cNvPr id="7" name="Shape 15">
            <a:extLst>
              <a:ext uri="{FF2B5EF4-FFF2-40B4-BE49-F238E27FC236}">
                <a16:creationId xmlns:a16="http://schemas.microsoft.com/office/drawing/2014/main" id="{1F0208B9-2423-580F-C6C0-5390C7CF78B9}"/>
              </a:ext>
            </a:extLst>
          </p:cNvPr>
          <p:cNvSpPr/>
          <p:nvPr/>
        </p:nvSpPr>
        <p:spPr>
          <a:xfrm>
            <a:off x="8139885" y="2230791"/>
            <a:ext cx="1508760" cy="566928"/>
          </a:xfrm>
          <a:prstGeom prst="ellipse">
            <a:avLst/>
          </a:prstGeom>
          <a:solidFill>
            <a:srgbClr val="B45309"/>
          </a:solidFill>
          <a:ln>
            <a:noFill/>
          </a:ln>
        </p:spPr>
        <p:txBody>
          <a:bodyPr/>
          <a:lstStyle/>
          <a:p>
            <a:pPr algn="ctr"/>
            <a:endParaRPr sz="1400">
              <a:latin typeface="+mj-lt"/>
            </a:endParaRPr>
          </a:p>
        </p:txBody>
      </p:sp>
      <p:sp>
        <p:nvSpPr>
          <p:cNvPr id="9" name="TextBox 16">
            <a:extLst>
              <a:ext uri="{FF2B5EF4-FFF2-40B4-BE49-F238E27FC236}">
                <a16:creationId xmlns:a16="http://schemas.microsoft.com/office/drawing/2014/main" id="{534E4A30-4613-F4B3-26AF-C49506FA49C2}"/>
              </a:ext>
            </a:extLst>
          </p:cNvPr>
          <p:cNvSpPr txBox="1"/>
          <p:nvPr/>
        </p:nvSpPr>
        <p:spPr>
          <a:xfrm>
            <a:off x="8231325" y="2395383"/>
            <a:ext cx="13258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vi-VN" sz="1400" b="1" dirty="0">
                <a:solidFill>
                  <a:srgbClr val="FFFFFF"/>
                </a:solidFill>
                <a:latin typeface="+mj-lt"/>
                <a:ea typeface="Arial"/>
                <a:cs typeface="Arial"/>
              </a:rPr>
              <a:t>Equipment</a:t>
            </a:r>
          </a:p>
        </p:txBody>
      </p:sp>
      <p:sp>
        <p:nvSpPr>
          <p:cNvPr id="10" name="Shape 17">
            <a:extLst>
              <a:ext uri="{FF2B5EF4-FFF2-40B4-BE49-F238E27FC236}">
                <a16:creationId xmlns:a16="http://schemas.microsoft.com/office/drawing/2014/main" id="{562C343A-4FD8-E146-5323-B85A4769C1DA}"/>
              </a:ext>
            </a:extLst>
          </p:cNvPr>
          <p:cNvSpPr/>
          <p:nvPr/>
        </p:nvSpPr>
        <p:spPr>
          <a:xfrm>
            <a:off x="2607765" y="4196751"/>
            <a:ext cx="1508760" cy="56692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/>
          <a:lstStyle/>
          <a:p>
            <a:pPr algn="ctr"/>
            <a:endParaRPr sz="1400">
              <a:latin typeface="+mj-lt"/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B3FDB8D9-F2B6-D414-FF87-06E13F09B5F7}"/>
              </a:ext>
            </a:extLst>
          </p:cNvPr>
          <p:cNvSpPr txBox="1"/>
          <p:nvPr/>
        </p:nvSpPr>
        <p:spPr>
          <a:xfrm>
            <a:off x="2699205" y="4361343"/>
            <a:ext cx="13258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vi-VN" sz="1400" b="1" dirty="0">
                <a:solidFill>
                  <a:srgbClr val="FFFFFF"/>
                </a:solidFill>
                <a:latin typeface="+mj-lt"/>
                <a:ea typeface="Arial"/>
                <a:cs typeface="Arial"/>
              </a:rPr>
              <a:t>Rule</a:t>
            </a:r>
          </a:p>
        </p:txBody>
      </p:sp>
      <p:sp>
        <p:nvSpPr>
          <p:cNvPr id="12" name="Shape 19">
            <a:extLst>
              <a:ext uri="{FF2B5EF4-FFF2-40B4-BE49-F238E27FC236}">
                <a16:creationId xmlns:a16="http://schemas.microsoft.com/office/drawing/2014/main" id="{07B74FFE-BD53-601D-556F-2CE202C77591}"/>
              </a:ext>
            </a:extLst>
          </p:cNvPr>
          <p:cNvSpPr/>
          <p:nvPr/>
        </p:nvSpPr>
        <p:spPr>
          <a:xfrm>
            <a:off x="7719779" y="3739551"/>
            <a:ext cx="1508760" cy="566928"/>
          </a:xfrm>
          <a:prstGeom prst="ellipse">
            <a:avLst/>
          </a:prstGeom>
          <a:solidFill>
            <a:srgbClr val="0369A1"/>
          </a:solidFill>
          <a:ln>
            <a:noFill/>
          </a:ln>
        </p:spPr>
        <p:txBody>
          <a:bodyPr/>
          <a:lstStyle/>
          <a:p>
            <a:pPr algn="ctr"/>
            <a:endParaRPr sz="1400">
              <a:latin typeface="+mj-lt"/>
            </a:endParaRPr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9BAF88B1-175F-78C4-9F9A-231D7025E6AA}"/>
              </a:ext>
            </a:extLst>
          </p:cNvPr>
          <p:cNvSpPr txBox="1"/>
          <p:nvPr/>
        </p:nvSpPr>
        <p:spPr>
          <a:xfrm>
            <a:off x="7811219" y="3904143"/>
            <a:ext cx="13258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vi-VN" sz="1400" b="1" dirty="0">
                <a:solidFill>
                  <a:srgbClr val="FFFFFF"/>
                </a:solidFill>
                <a:latin typeface="+mj-lt"/>
                <a:ea typeface="Arial"/>
                <a:cs typeface="Arial"/>
              </a:rPr>
              <a:t>Concept</a:t>
            </a:r>
          </a:p>
        </p:txBody>
      </p:sp>
      <p:sp>
        <p:nvSpPr>
          <p:cNvPr id="14" name="Shape 21">
            <a:extLst>
              <a:ext uri="{FF2B5EF4-FFF2-40B4-BE49-F238E27FC236}">
                <a16:creationId xmlns:a16="http://schemas.microsoft.com/office/drawing/2014/main" id="{4991DCEA-5F7E-07F1-5D2A-06E2D4DEF270}"/>
              </a:ext>
            </a:extLst>
          </p:cNvPr>
          <p:cNvSpPr/>
          <p:nvPr/>
        </p:nvSpPr>
        <p:spPr>
          <a:xfrm>
            <a:off x="5419545" y="4590563"/>
            <a:ext cx="1508760" cy="566928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txBody>
          <a:bodyPr/>
          <a:lstStyle/>
          <a:p>
            <a:pPr algn="ctr"/>
            <a:endParaRPr sz="1400">
              <a:latin typeface="+mj-lt"/>
            </a:endParaRPr>
          </a:p>
        </p:txBody>
      </p:sp>
      <p:sp>
        <p:nvSpPr>
          <p:cNvPr id="15" name="TextBox 22">
            <a:extLst>
              <a:ext uri="{FF2B5EF4-FFF2-40B4-BE49-F238E27FC236}">
                <a16:creationId xmlns:a16="http://schemas.microsoft.com/office/drawing/2014/main" id="{1D90DE07-286D-1A8F-BE22-C7A0801026EB}"/>
              </a:ext>
            </a:extLst>
          </p:cNvPr>
          <p:cNvSpPr txBox="1"/>
          <p:nvPr/>
        </p:nvSpPr>
        <p:spPr>
          <a:xfrm>
            <a:off x="5510985" y="4704863"/>
            <a:ext cx="13258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vi-VN" sz="1400" b="1" dirty="0">
                <a:solidFill>
                  <a:srgbClr val="FFFFFF"/>
                </a:solidFill>
                <a:latin typeface="+mj-lt"/>
                <a:ea typeface="Arial"/>
                <a:cs typeface="Arial"/>
              </a:rPr>
              <a:t>Source</a:t>
            </a:r>
          </a:p>
        </p:txBody>
      </p:sp>
      <p:cxnSp>
        <p:nvCxnSpPr>
          <p:cNvPr id="16" name="Connector 23">
            <a:extLst>
              <a:ext uri="{FF2B5EF4-FFF2-40B4-BE49-F238E27FC236}">
                <a16:creationId xmlns:a16="http://schemas.microsoft.com/office/drawing/2014/main" id="{88E6F8CF-1663-0ACC-8DCD-929F123123CE}"/>
              </a:ext>
            </a:extLst>
          </p:cNvPr>
          <p:cNvCxnSpPr>
            <a:cxnSpLocks/>
            <a:stCxn id="5" idx="5"/>
          </p:cNvCxnSpPr>
          <p:nvPr/>
        </p:nvCxnSpPr>
        <p:spPr>
          <a:xfrm>
            <a:off x="3823674" y="2259274"/>
            <a:ext cx="1690630" cy="497383"/>
          </a:xfrm>
          <a:prstGeom prst="straightConnector1">
            <a:avLst/>
          </a:prstGeom>
          <a:ln w="18000">
            <a:solidFill>
              <a:srgbClr val="94A3B8"/>
            </a:solidFill>
            <a:tailEnd type="triangle"/>
          </a:ln>
        </p:spPr>
      </p:cxnSp>
      <p:cxnSp>
        <p:nvCxnSpPr>
          <p:cNvPr id="17" name="Connector 24">
            <a:extLst>
              <a:ext uri="{FF2B5EF4-FFF2-40B4-BE49-F238E27FC236}">
                <a16:creationId xmlns:a16="http://schemas.microsoft.com/office/drawing/2014/main" id="{A1D08625-C69C-08F6-7547-7C686AFEE672}"/>
              </a:ext>
            </a:extLst>
          </p:cNvPr>
          <p:cNvCxnSpPr>
            <a:cxnSpLocks/>
          </p:cNvCxnSpPr>
          <p:nvPr/>
        </p:nvCxnSpPr>
        <p:spPr>
          <a:xfrm flipV="1">
            <a:off x="6885161" y="2514255"/>
            <a:ext cx="1289229" cy="246888"/>
          </a:xfrm>
          <a:prstGeom prst="straightConnector1">
            <a:avLst/>
          </a:prstGeom>
          <a:ln w="18000">
            <a:solidFill>
              <a:srgbClr val="94A3B8"/>
            </a:solidFill>
            <a:tailEnd type="triangle"/>
          </a:ln>
        </p:spPr>
      </p:cxnSp>
      <p:cxnSp>
        <p:nvCxnSpPr>
          <p:cNvPr id="18" name="Connector 25">
            <a:extLst>
              <a:ext uri="{FF2B5EF4-FFF2-40B4-BE49-F238E27FC236}">
                <a16:creationId xmlns:a16="http://schemas.microsoft.com/office/drawing/2014/main" id="{09826B98-64E4-03D7-67AB-1C2C81048008}"/>
              </a:ext>
            </a:extLst>
          </p:cNvPr>
          <p:cNvCxnSpPr>
            <a:cxnSpLocks/>
            <a:endCxn id="3" idx="3"/>
          </p:cNvCxnSpPr>
          <p:nvPr/>
        </p:nvCxnSpPr>
        <p:spPr>
          <a:xfrm flipV="1">
            <a:off x="4025085" y="3251053"/>
            <a:ext cx="1437604" cy="1128578"/>
          </a:xfrm>
          <a:prstGeom prst="straightConnector1">
            <a:avLst/>
          </a:prstGeom>
          <a:ln w="18000">
            <a:solidFill>
              <a:srgbClr val="94A3B8"/>
            </a:solidFill>
            <a:tailEnd type="triangle"/>
          </a:ln>
        </p:spPr>
      </p:cxnSp>
      <p:cxnSp>
        <p:nvCxnSpPr>
          <p:cNvPr id="19" name="Connector 26">
            <a:extLst>
              <a:ext uri="{FF2B5EF4-FFF2-40B4-BE49-F238E27FC236}">
                <a16:creationId xmlns:a16="http://schemas.microsoft.com/office/drawing/2014/main" id="{0D5BEDE2-4219-20A2-982E-031F667CC5E5}"/>
              </a:ext>
            </a:extLst>
          </p:cNvPr>
          <p:cNvCxnSpPr>
            <a:cxnSpLocks/>
            <a:stCxn id="3" idx="5"/>
            <a:endCxn id="12" idx="1"/>
          </p:cNvCxnSpPr>
          <p:nvPr/>
        </p:nvCxnSpPr>
        <p:spPr>
          <a:xfrm>
            <a:off x="6885161" y="3251053"/>
            <a:ext cx="1055571" cy="571523"/>
          </a:xfrm>
          <a:prstGeom prst="straightConnector1">
            <a:avLst/>
          </a:prstGeom>
          <a:ln w="18000">
            <a:solidFill>
              <a:srgbClr val="94A3B8"/>
            </a:solidFill>
            <a:tailEnd type="triangle"/>
          </a:ln>
        </p:spPr>
      </p:cxnSp>
      <p:cxnSp>
        <p:nvCxnSpPr>
          <p:cNvPr id="20" name="Connector 27">
            <a:extLst>
              <a:ext uri="{FF2B5EF4-FFF2-40B4-BE49-F238E27FC236}">
                <a16:creationId xmlns:a16="http://schemas.microsoft.com/office/drawing/2014/main" id="{ACD58F7E-6F39-8713-8AF7-E18137D0154C}"/>
              </a:ext>
            </a:extLst>
          </p:cNvPr>
          <p:cNvCxnSpPr>
            <a:cxnSpLocks/>
            <a:stCxn id="3" idx="4"/>
          </p:cNvCxnSpPr>
          <p:nvPr/>
        </p:nvCxnSpPr>
        <p:spPr>
          <a:xfrm>
            <a:off x="6173925" y="3355503"/>
            <a:ext cx="0" cy="1252728"/>
          </a:xfrm>
          <a:prstGeom prst="straightConnector1">
            <a:avLst/>
          </a:prstGeom>
          <a:ln w="18000">
            <a:solidFill>
              <a:srgbClr val="94A3B8"/>
            </a:solidFill>
            <a:tailEnd type="triangle"/>
          </a:ln>
        </p:spPr>
      </p:cxnSp>
      <p:sp>
        <p:nvSpPr>
          <p:cNvPr id="21" name="Card 28">
            <a:extLst>
              <a:ext uri="{FF2B5EF4-FFF2-40B4-BE49-F238E27FC236}">
                <a16:creationId xmlns:a16="http://schemas.microsoft.com/office/drawing/2014/main" id="{55E6BA73-DAE7-F6BB-AB95-8C4C4E7FE144}"/>
              </a:ext>
            </a:extLst>
          </p:cNvPr>
          <p:cNvSpPr/>
          <p:nvPr/>
        </p:nvSpPr>
        <p:spPr>
          <a:xfrm>
            <a:off x="2774138" y="5190686"/>
            <a:ext cx="6887447" cy="1208623"/>
          </a:xfrm>
          <a:prstGeom prst="roundRect">
            <a:avLst/>
          </a:prstGeom>
          <a:solidFill>
            <a:srgbClr val="F7F8FB"/>
          </a:solidFill>
          <a:ln w="9000">
            <a:solidFill>
              <a:srgbClr val="D3D8E2"/>
            </a:solidFill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22" name="Accent 29">
            <a:extLst>
              <a:ext uri="{FF2B5EF4-FFF2-40B4-BE49-F238E27FC236}">
                <a16:creationId xmlns:a16="http://schemas.microsoft.com/office/drawing/2014/main" id="{3670E002-1C54-F566-34A6-46724B10B07C}"/>
              </a:ext>
            </a:extLst>
          </p:cNvPr>
          <p:cNvSpPr/>
          <p:nvPr/>
        </p:nvSpPr>
        <p:spPr>
          <a:xfrm>
            <a:off x="2774138" y="5190687"/>
            <a:ext cx="45720" cy="1208622"/>
          </a:xfrm>
          <a:prstGeom prst="rect">
            <a:avLst/>
          </a:prstGeom>
          <a:solidFill>
            <a:srgbClr val="20135A"/>
          </a:solidFill>
          <a:ln>
            <a:noFill/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23" name="TextBox 30">
            <a:extLst>
              <a:ext uri="{FF2B5EF4-FFF2-40B4-BE49-F238E27FC236}">
                <a16:creationId xmlns:a16="http://schemas.microsoft.com/office/drawing/2014/main" id="{733BE5CD-EBE0-42D4-2BA0-667454C67F4B}"/>
              </a:ext>
            </a:extLst>
          </p:cNvPr>
          <p:cNvSpPr txBox="1"/>
          <p:nvPr/>
        </p:nvSpPr>
        <p:spPr>
          <a:xfrm>
            <a:off x="2938730" y="5300415"/>
            <a:ext cx="6529334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92500" lnSpcReduction="20000"/>
          </a:bodyPr>
          <a:lstStyle/>
          <a:p>
            <a:pPr algn="l">
              <a:spcAft>
                <a:spcPts val="300"/>
              </a:spcAft>
            </a:pPr>
            <a:r>
              <a:rPr lang="vi-VN" sz="16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Vì sao phù hợp với đề tài</a:t>
            </a:r>
          </a:p>
        </p:txBody>
      </p:sp>
      <p:sp>
        <p:nvSpPr>
          <p:cNvPr id="24" name="TextBox 31">
            <a:extLst>
              <a:ext uri="{FF2B5EF4-FFF2-40B4-BE49-F238E27FC236}">
                <a16:creationId xmlns:a16="http://schemas.microsoft.com/office/drawing/2014/main" id="{1B865937-482C-8870-0CCD-84E97C4098C5}"/>
              </a:ext>
            </a:extLst>
          </p:cNvPr>
          <p:cNvSpPr txBox="1"/>
          <p:nvPr/>
        </p:nvSpPr>
        <p:spPr>
          <a:xfrm>
            <a:off x="2938730" y="5519871"/>
            <a:ext cx="6437894" cy="94281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vi-VN" sz="11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Tri thức thể thao có nhiều quan hệ: kỹ thuật thuộc môn, dụng cụ dùng cho kỹ thuật, luật quy định tình huống.</a:t>
            </a:r>
          </a:p>
          <a:p>
            <a:pPr algn="l">
              <a:spcAft>
                <a:spcPts val="300"/>
              </a:spcAft>
            </a:pPr>
            <a:r>
              <a:rPr lang="vi-VN" sz="11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Duyệt graph giúp tránh chỉ trả lời theo đoạn văn rời rạc như RAG truyền thống.</a:t>
            </a:r>
            <a:endParaRPr lang="en-US" sz="1100" dirty="0">
              <a:solidFill>
                <a:srgbClr val="263238"/>
              </a:solidFill>
              <a:latin typeface="+mj-lt"/>
              <a:ea typeface="Arial"/>
              <a:cs typeface="Arial"/>
            </a:endParaRPr>
          </a:p>
          <a:p>
            <a:pPr>
              <a:spcAft>
                <a:spcPts val="300"/>
              </a:spcAft>
            </a:pPr>
            <a:r>
              <a:rPr lang="vi-VN" sz="11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</a:t>
            </a:r>
            <a:r>
              <a:rPr lang="vi-VN" sz="1100" dirty="0" err="1">
                <a:solidFill>
                  <a:srgbClr val="263238"/>
                </a:solidFill>
                <a:latin typeface="+mj-lt"/>
                <a:ea typeface="Arial"/>
                <a:cs typeface="Arial"/>
              </a:rPr>
              <a:t>Sport</a:t>
            </a:r>
            <a:r>
              <a:rPr lang="vi-VN" sz="11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 </a:t>
            </a:r>
            <a:r>
              <a:rPr lang="vi-VN" sz="1100" dirty="0" err="1">
                <a:solidFill>
                  <a:srgbClr val="263238"/>
                </a:solidFill>
                <a:latin typeface="+mj-lt"/>
                <a:ea typeface="Arial"/>
                <a:cs typeface="Arial"/>
              </a:rPr>
              <a:t>boost</a:t>
            </a:r>
            <a:r>
              <a:rPr lang="vi-VN" sz="11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 giảm nhầm lẫn giữa </a:t>
            </a:r>
            <a:r>
              <a:rPr lang="vi-VN" sz="1100" dirty="0" err="1">
                <a:solidFill>
                  <a:srgbClr val="263238"/>
                </a:solidFill>
                <a:latin typeface="+mj-lt"/>
                <a:ea typeface="Arial"/>
                <a:cs typeface="Arial"/>
              </a:rPr>
              <a:t>bida</a:t>
            </a:r>
            <a:r>
              <a:rPr lang="vi-VN" sz="11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, </a:t>
            </a:r>
            <a:r>
              <a:rPr lang="vi-VN" sz="1100" dirty="0" err="1">
                <a:solidFill>
                  <a:srgbClr val="263238"/>
                </a:solidFill>
                <a:latin typeface="+mj-lt"/>
                <a:ea typeface="Arial"/>
                <a:cs typeface="Arial"/>
              </a:rPr>
              <a:t>pickleball</a:t>
            </a:r>
            <a:r>
              <a:rPr lang="vi-VN" sz="11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 và cầu lông.</a:t>
            </a:r>
          </a:p>
          <a:p>
            <a:pPr>
              <a:spcAft>
                <a:spcPts val="300"/>
              </a:spcAft>
            </a:pPr>
            <a:r>
              <a:rPr lang="vi-VN" sz="11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</a:t>
            </a:r>
            <a:r>
              <a:rPr lang="vi-VN" sz="1100" dirty="0" err="1">
                <a:solidFill>
                  <a:srgbClr val="263238"/>
                </a:solidFill>
                <a:latin typeface="+mj-lt"/>
                <a:ea typeface="Arial"/>
                <a:cs typeface="Arial"/>
              </a:rPr>
              <a:t>Bilingual</a:t>
            </a:r>
            <a:r>
              <a:rPr lang="vi-VN" sz="11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 </a:t>
            </a:r>
            <a:r>
              <a:rPr lang="vi-VN" sz="1100" dirty="0" err="1">
                <a:solidFill>
                  <a:srgbClr val="263238"/>
                </a:solidFill>
                <a:latin typeface="+mj-lt"/>
                <a:ea typeface="Arial"/>
                <a:cs typeface="Arial"/>
              </a:rPr>
              <a:t>fields</a:t>
            </a:r>
            <a:r>
              <a:rPr lang="vi-VN" sz="11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 và </a:t>
            </a:r>
            <a:r>
              <a:rPr lang="vi-VN" sz="1100" dirty="0" err="1">
                <a:solidFill>
                  <a:srgbClr val="263238"/>
                </a:solidFill>
                <a:latin typeface="+mj-lt"/>
                <a:ea typeface="Arial"/>
                <a:cs typeface="Arial"/>
              </a:rPr>
              <a:t>query</a:t>
            </a:r>
            <a:r>
              <a:rPr lang="vi-VN" sz="11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 </a:t>
            </a:r>
            <a:r>
              <a:rPr lang="vi-VN" sz="1100" dirty="0" err="1">
                <a:solidFill>
                  <a:srgbClr val="263238"/>
                </a:solidFill>
                <a:latin typeface="+mj-lt"/>
                <a:ea typeface="Arial"/>
                <a:cs typeface="Arial"/>
              </a:rPr>
              <a:t>expansion</a:t>
            </a:r>
            <a:r>
              <a:rPr lang="vi-VN" sz="11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 hỗ trợ câu hỏi tiếng Việt lẫn thuật ngữ tiếng Anh.</a:t>
            </a:r>
          </a:p>
          <a:p>
            <a:pPr algn="l">
              <a:spcAft>
                <a:spcPts val="300"/>
              </a:spcAft>
            </a:pPr>
            <a:endParaRPr lang="vi-VN" sz="1100" dirty="0">
              <a:solidFill>
                <a:srgbClr val="263238"/>
              </a:solidFill>
              <a:latin typeface="+mj-lt"/>
              <a:ea typeface="Arial"/>
              <a:cs typeface="Arial"/>
            </a:endParaRPr>
          </a:p>
        </p:txBody>
      </p:sp>
      <p:sp>
        <p:nvSpPr>
          <p:cNvPr id="25" name="Shape 33">
            <a:extLst>
              <a:ext uri="{FF2B5EF4-FFF2-40B4-BE49-F238E27FC236}">
                <a16:creationId xmlns:a16="http://schemas.microsoft.com/office/drawing/2014/main" id="{75305AF9-9D5B-580F-0231-19238616F6FF}"/>
              </a:ext>
            </a:extLst>
          </p:cNvPr>
          <p:cNvSpPr/>
          <p:nvPr/>
        </p:nvSpPr>
        <p:spPr>
          <a:xfrm>
            <a:off x="934413" y="1270671"/>
            <a:ext cx="73152" cy="502920"/>
          </a:xfrm>
          <a:prstGeom prst="rect">
            <a:avLst/>
          </a:prstGeom>
          <a:solidFill>
            <a:srgbClr val="F2C94C"/>
          </a:solidFill>
          <a:ln>
            <a:noFill/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26" name="TextBox 34">
            <a:extLst>
              <a:ext uri="{FF2B5EF4-FFF2-40B4-BE49-F238E27FC236}">
                <a16:creationId xmlns:a16="http://schemas.microsoft.com/office/drawing/2014/main" id="{820947CC-5C5D-6FCC-4545-6801566CA91D}"/>
              </a:ext>
            </a:extLst>
          </p:cNvPr>
          <p:cNvSpPr txBox="1"/>
          <p:nvPr/>
        </p:nvSpPr>
        <p:spPr>
          <a:xfrm>
            <a:off x="1099005" y="1206663"/>
            <a:ext cx="101498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lnSpcReduction="10000"/>
          </a:bodyPr>
          <a:lstStyle/>
          <a:p>
            <a:pPr algn="l">
              <a:spcAft>
                <a:spcPts val="300"/>
              </a:spcAft>
            </a:pPr>
            <a:r>
              <a:rPr lang="vi-VN" sz="28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Điểm nổi bật của Graph RAG</a:t>
            </a:r>
          </a:p>
        </p:txBody>
      </p:sp>
    </p:spTree>
    <p:extLst>
      <p:ext uri="{BB962C8B-B14F-4D97-AF65-F5344CB8AC3E}">
        <p14:creationId xmlns:p14="http://schemas.microsoft.com/office/powerpoint/2010/main" val="24000921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CEAD6-7492-D683-0A03-C039091F6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74D32E-F2D2-ED9A-1A0F-A7DECB6F92F9}"/>
              </a:ext>
            </a:extLst>
          </p:cNvPr>
          <p:cNvSpPr txBox="1"/>
          <p:nvPr/>
        </p:nvSpPr>
        <p:spPr>
          <a:xfrm>
            <a:off x="1950719" y="356486"/>
            <a:ext cx="8290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>
                <a:solidFill>
                  <a:schemeClr val="bg1"/>
                </a:solidFill>
                <a:latin typeface="+mj-lt"/>
              </a:rPr>
              <a:t>ĐẠI HỌC GIAO THÔNG VẬN TẢI PHÂN HIỆ</a:t>
            </a:r>
            <a:r>
              <a:rPr lang="en-US" altLang="vi-VN" b="1" dirty="0">
                <a:solidFill>
                  <a:schemeClr val="bg1"/>
                </a:solidFill>
                <a:latin typeface="+mj-lt"/>
              </a:rPr>
              <a:t>U</a:t>
            </a:r>
            <a:r>
              <a:rPr lang="vi-VN" b="1" dirty="0">
                <a:solidFill>
                  <a:schemeClr val="bg1"/>
                </a:solidFill>
                <a:latin typeface="+mj-lt"/>
              </a:rPr>
              <a:t> THÀNH PHỐ HỒ CHÍ MINH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BBF0D9B-5561-BFD4-F10B-CB8FB9A41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FCFE7-4CFC-4698-A5C8-57D6C94FD847}" type="slidenum">
              <a:rPr lang="en-US" smtClean="0"/>
              <a:t>12</a:t>
            </a:fld>
            <a:endParaRPr lang="en-US"/>
          </a:p>
        </p:txBody>
      </p:sp>
      <p:sp>
        <p:nvSpPr>
          <p:cNvPr id="4" name="Shape 11">
            <a:extLst>
              <a:ext uri="{FF2B5EF4-FFF2-40B4-BE49-F238E27FC236}">
                <a16:creationId xmlns:a16="http://schemas.microsoft.com/office/drawing/2014/main" id="{14C63E89-1117-34DD-57D2-AD318FC2A434}"/>
              </a:ext>
            </a:extLst>
          </p:cNvPr>
          <p:cNvSpPr/>
          <p:nvPr/>
        </p:nvSpPr>
        <p:spPr>
          <a:xfrm>
            <a:off x="883920" y="2326544"/>
            <a:ext cx="1325880" cy="658368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C7D2FE"/>
            </a:solidFill>
          </a:ln>
        </p:spPr>
        <p:txBody>
          <a:bodyPr/>
          <a:lstStyle/>
          <a:p>
            <a:pPr algn="ctr"/>
            <a:endParaRPr sz="1300">
              <a:latin typeface="+mj-lt"/>
            </a:endParaRPr>
          </a:p>
        </p:txBody>
      </p:sp>
      <p:sp>
        <p:nvSpPr>
          <p:cNvPr id="6" name="TextBox 12">
            <a:extLst>
              <a:ext uri="{FF2B5EF4-FFF2-40B4-BE49-F238E27FC236}">
                <a16:creationId xmlns:a16="http://schemas.microsoft.com/office/drawing/2014/main" id="{7830E42F-1D80-713B-6632-777088E87862}"/>
              </a:ext>
            </a:extLst>
          </p:cNvPr>
          <p:cNvSpPr txBox="1"/>
          <p:nvPr/>
        </p:nvSpPr>
        <p:spPr>
          <a:xfrm>
            <a:off x="957072" y="2454560"/>
            <a:ext cx="1179576" cy="49377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>
              <a:spcAft>
                <a:spcPts val="300"/>
              </a:spcAft>
            </a:pPr>
            <a:r>
              <a:rPr lang="vi-VN" sz="13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Chat API</a:t>
            </a:r>
          </a:p>
        </p:txBody>
      </p:sp>
      <p:sp>
        <p:nvSpPr>
          <p:cNvPr id="9" name="TextBox 13">
            <a:extLst>
              <a:ext uri="{FF2B5EF4-FFF2-40B4-BE49-F238E27FC236}">
                <a16:creationId xmlns:a16="http://schemas.microsoft.com/office/drawing/2014/main" id="{F7A7A66A-96E3-02E2-75B6-D922ECB98D6F}"/>
              </a:ext>
            </a:extLst>
          </p:cNvPr>
          <p:cNvSpPr txBox="1"/>
          <p:nvPr/>
        </p:nvSpPr>
        <p:spPr>
          <a:xfrm>
            <a:off x="2255520" y="2491136"/>
            <a:ext cx="146304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vi-VN" sz="1300" b="1" dirty="0">
                <a:solidFill>
                  <a:srgbClr val="64748B"/>
                </a:solidFill>
                <a:latin typeface="+mj-lt"/>
                <a:ea typeface="Arial"/>
                <a:cs typeface="Arial"/>
              </a:rPr>
              <a:t>→</a:t>
            </a:r>
          </a:p>
        </p:txBody>
      </p:sp>
      <p:sp>
        <p:nvSpPr>
          <p:cNvPr id="11" name="Shape 14">
            <a:extLst>
              <a:ext uri="{FF2B5EF4-FFF2-40B4-BE49-F238E27FC236}">
                <a16:creationId xmlns:a16="http://schemas.microsoft.com/office/drawing/2014/main" id="{14848D8F-7995-72CF-5831-E64CEA8C3250}"/>
              </a:ext>
            </a:extLst>
          </p:cNvPr>
          <p:cNvSpPr/>
          <p:nvPr/>
        </p:nvSpPr>
        <p:spPr>
          <a:xfrm>
            <a:off x="2447544" y="2326544"/>
            <a:ext cx="1325880" cy="658368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C7D2FE"/>
            </a:solidFill>
          </a:ln>
        </p:spPr>
        <p:txBody>
          <a:bodyPr/>
          <a:lstStyle/>
          <a:p>
            <a:pPr algn="ctr"/>
            <a:endParaRPr sz="1300">
              <a:latin typeface="+mj-lt"/>
            </a:endParaRPr>
          </a:p>
        </p:txBody>
      </p:sp>
      <p:sp>
        <p:nvSpPr>
          <p:cNvPr id="13" name="TextBox 15">
            <a:extLst>
              <a:ext uri="{FF2B5EF4-FFF2-40B4-BE49-F238E27FC236}">
                <a16:creationId xmlns:a16="http://schemas.microsoft.com/office/drawing/2014/main" id="{A0FEB689-86E6-54B6-F479-F27FDACC9FDC}"/>
              </a:ext>
            </a:extLst>
          </p:cNvPr>
          <p:cNvSpPr txBox="1"/>
          <p:nvPr/>
        </p:nvSpPr>
        <p:spPr>
          <a:xfrm>
            <a:off x="2520696" y="2454560"/>
            <a:ext cx="1179576" cy="49377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>
              <a:spcAft>
                <a:spcPts val="300"/>
              </a:spcAft>
            </a:pPr>
            <a:r>
              <a:rPr lang="vi-VN" sz="13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ChatService</a:t>
            </a:r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7C29D378-8611-CD76-E1D0-8B8450AEADF3}"/>
              </a:ext>
            </a:extLst>
          </p:cNvPr>
          <p:cNvSpPr txBox="1"/>
          <p:nvPr/>
        </p:nvSpPr>
        <p:spPr>
          <a:xfrm>
            <a:off x="3819144" y="2491136"/>
            <a:ext cx="146304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vi-VN" sz="1300" b="1" dirty="0">
                <a:solidFill>
                  <a:srgbClr val="64748B"/>
                </a:solidFill>
                <a:latin typeface="+mj-lt"/>
                <a:ea typeface="Arial"/>
                <a:cs typeface="Arial"/>
              </a:rPr>
              <a:t>→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5B95954F-5F94-F587-DB04-17AD2724B6F3}"/>
              </a:ext>
            </a:extLst>
          </p:cNvPr>
          <p:cNvSpPr/>
          <p:nvPr/>
        </p:nvSpPr>
        <p:spPr>
          <a:xfrm>
            <a:off x="4011168" y="2326544"/>
            <a:ext cx="1325880" cy="658368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C7D2FE"/>
            </a:solidFill>
          </a:ln>
        </p:spPr>
        <p:txBody>
          <a:bodyPr/>
          <a:lstStyle/>
          <a:p>
            <a:pPr algn="ctr"/>
            <a:endParaRPr sz="1300">
              <a:latin typeface="+mj-l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33D64D-E199-AAD9-FD9C-2E16F262921F}"/>
              </a:ext>
            </a:extLst>
          </p:cNvPr>
          <p:cNvSpPr txBox="1"/>
          <p:nvPr/>
        </p:nvSpPr>
        <p:spPr>
          <a:xfrm>
            <a:off x="4084320" y="2454560"/>
            <a:ext cx="1179576" cy="49377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vi-VN" sz="13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IntentRouter</a:t>
            </a:r>
          </a:p>
        </p:txBody>
      </p:sp>
      <p:sp>
        <p:nvSpPr>
          <p:cNvPr id="21" name="TextBox 19">
            <a:extLst>
              <a:ext uri="{FF2B5EF4-FFF2-40B4-BE49-F238E27FC236}">
                <a16:creationId xmlns:a16="http://schemas.microsoft.com/office/drawing/2014/main" id="{82FD20AA-8398-994C-EC74-66AE8AB44C35}"/>
              </a:ext>
            </a:extLst>
          </p:cNvPr>
          <p:cNvSpPr txBox="1"/>
          <p:nvPr/>
        </p:nvSpPr>
        <p:spPr>
          <a:xfrm>
            <a:off x="5382768" y="2491136"/>
            <a:ext cx="146304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vi-VN" sz="1300" b="1" dirty="0">
                <a:solidFill>
                  <a:srgbClr val="64748B"/>
                </a:solidFill>
                <a:latin typeface="+mj-lt"/>
                <a:ea typeface="Arial"/>
                <a:cs typeface="Arial"/>
              </a:rPr>
              <a:t>→</a:t>
            </a:r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5BAC7ED0-CB3D-54FC-9135-BDBF63DDDD59}"/>
              </a:ext>
            </a:extLst>
          </p:cNvPr>
          <p:cNvSpPr/>
          <p:nvPr/>
        </p:nvSpPr>
        <p:spPr>
          <a:xfrm>
            <a:off x="5574792" y="2326544"/>
            <a:ext cx="1325880" cy="658368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C7D2FE"/>
            </a:solidFill>
          </a:ln>
        </p:spPr>
        <p:txBody>
          <a:bodyPr/>
          <a:lstStyle/>
          <a:p>
            <a:pPr algn="ctr"/>
            <a:endParaRPr sz="1300">
              <a:latin typeface="+mj-lt"/>
            </a:endParaRPr>
          </a:p>
        </p:txBody>
      </p:sp>
      <p:sp>
        <p:nvSpPr>
          <p:cNvPr id="25" name="TextBox 21">
            <a:extLst>
              <a:ext uri="{FF2B5EF4-FFF2-40B4-BE49-F238E27FC236}">
                <a16:creationId xmlns:a16="http://schemas.microsoft.com/office/drawing/2014/main" id="{782C8D25-CEAE-3888-B528-CCA364F93E46}"/>
              </a:ext>
            </a:extLst>
          </p:cNvPr>
          <p:cNvSpPr txBox="1"/>
          <p:nvPr/>
        </p:nvSpPr>
        <p:spPr>
          <a:xfrm>
            <a:off x="5647944" y="2454560"/>
            <a:ext cx="1179576" cy="49377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>
              <a:spcAft>
                <a:spcPts val="300"/>
              </a:spcAft>
            </a:pPr>
            <a:r>
              <a:rPr lang="vi-VN" sz="13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VenueAgent</a:t>
            </a:r>
          </a:p>
        </p:txBody>
      </p:sp>
      <p:sp>
        <p:nvSpPr>
          <p:cNvPr id="27" name="TextBox 22">
            <a:extLst>
              <a:ext uri="{FF2B5EF4-FFF2-40B4-BE49-F238E27FC236}">
                <a16:creationId xmlns:a16="http://schemas.microsoft.com/office/drawing/2014/main" id="{079A02AB-3736-12A9-8F5F-2F89EC2D456F}"/>
              </a:ext>
            </a:extLst>
          </p:cNvPr>
          <p:cNvSpPr txBox="1"/>
          <p:nvPr/>
        </p:nvSpPr>
        <p:spPr>
          <a:xfrm>
            <a:off x="6946392" y="2491136"/>
            <a:ext cx="146304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vi-VN" sz="1300" b="1" dirty="0">
                <a:solidFill>
                  <a:srgbClr val="64748B"/>
                </a:solidFill>
                <a:latin typeface="+mj-lt"/>
                <a:ea typeface="Arial"/>
                <a:cs typeface="Arial"/>
              </a:rPr>
              <a:t>→</a:t>
            </a:r>
          </a:p>
        </p:txBody>
      </p:sp>
      <p:sp>
        <p:nvSpPr>
          <p:cNvPr id="29" name="Shape 23">
            <a:extLst>
              <a:ext uri="{FF2B5EF4-FFF2-40B4-BE49-F238E27FC236}">
                <a16:creationId xmlns:a16="http://schemas.microsoft.com/office/drawing/2014/main" id="{0BACC517-3240-29E2-009E-190C5CA3ABF7}"/>
              </a:ext>
            </a:extLst>
          </p:cNvPr>
          <p:cNvSpPr/>
          <p:nvPr/>
        </p:nvSpPr>
        <p:spPr>
          <a:xfrm>
            <a:off x="7138416" y="2326544"/>
            <a:ext cx="1325880" cy="658368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C7D2FE"/>
            </a:solidFill>
          </a:ln>
        </p:spPr>
        <p:txBody>
          <a:bodyPr/>
          <a:lstStyle/>
          <a:p>
            <a:pPr algn="ctr"/>
            <a:endParaRPr sz="1300">
              <a:latin typeface="+mj-lt"/>
            </a:endParaRPr>
          </a:p>
        </p:txBody>
      </p:sp>
      <p:sp>
        <p:nvSpPr>
          <p:cNvPr id="31" name="TextBox 24">
            <a:extLst>
              <a:ext uri="{FF2B5EF4-FFF2-40B4-BE49-F238E27FC236}">
                <a16:creationId xmlns:a16="http://schemas.microsoft.com/office/drawing/2014/main" id="{2A8425EA-BB89-1669-C106-CB9175E5721C}"/>
              </a:ext>
            </a:extLst>
          </p:cNvPr>
          <p:cNvSpPr txBox="1"/>
          <p:nvPr/>
        </p:nvSpPr>
        <p:spPr>
          <a:xfrm>
            <a:off x="7211568" y="2454560"/>
            <a:ext cx="1252728" cy="49377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vi-VN" sz="13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AgentExecutor</a:t>
            </a:r>
          </a:p>
        </p:txBody>
      </p:sp>
      <p:sp>
        <p:nvSpPr>
          <p:cNvPr id="33" name="TextBox 25">
            <a:extLst>
              <a:ext uri="{FF2B5EF4-FFF2-40B4-BE49-F238E27FC236}">
                <a16:creationId xmlns:a16="http://schemas.microsoft.com/office/drawing/2014/main" id="{6DB534B5-540B-15AB-750F-B72A0EC859B2}"/>
              </a:ext>
            </a:extLst>
          </p:cNvPr>
          <p:cNvSpPr txBox="1"/>
          <p:nvPr/>
        </p:nvSpPr>
        <p:spPr>
          <a:xfrm>
            <a:off x="8510016" y="2491136"/>
            <a:ext cx="146304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vi-VN" sz="1300" b="1" dirty="0">
                <a:solidFill>
                  <a:srgbClr val="64748B"/>
                </a:solidFill>
                <a:latin typeface="+mj-lt"/>
                <a:ea typeface="Arial"/>
                <a:cs typeface="Arial"/>
              </a:rPr>
              <a:t>→</a:t>
            </a:r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E23FE0F5-1F46-2CD2-34B7-AE29DEE21F94}"/>
              </a:ext>
            </a:extLst>
          </p:cNvPr>
          <p:cNvSpPr/>
          <p:nvPr/>
        </p:nvSpPr>
        <p:spPr>
          <a:xfrm>
            <a:off x="8702040" y="2326544"/>
            <a:ext cx="1325880" cy="658368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C7D2FE"/>
            </a:solidFill>
          </a:ln>
        </p:spPr>
        <p:txBody>
          <a:bodyPr/>
          <a:lstStyle/>
          <a:p>
            <a:pPr algn="ctr"/>
            <a:endParaRPr sz="1300">
              <a:latin typeface="+mj-lt"/>
            </a:endParaRPr>
          </a:p>
        </p:txBody>
      </p:sp>
      <p:sp>
        <p:nvSpPr>
          <p:cNvPr id="37" name="TextBox 27">
            <a:extLst>
              <a:ext uri="{FF2B5EF4-FFF2-40B4-BE49-F238E27FC236}">
                <a16:creationId xmlns:a16="http://schemas.microsoft.com/office/drawing/2014/main" id="{FAA2CB7E-600E-C7B6-9644-ED0665E79D87}"/>
              </a:ext>
            </a:extLst>
          </p:cNvPr>
          <p:cNvSpPr txBox="1"/>
          <p:nvPr/>
        </p:nvSpPr>
        <p:spPr>
          <a:xfrm>
            <a:off x="8775192" y="2454560"/>
            <a:ext cx="1179576" cy="49377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>
              <a:spcAft>
                <a:spcPts val="300"/>
              </a:spcAft>
            </a:pPr>
            <a:r>
              <a:rPr lang="vi-VN" sz="13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Tools</a:t>
            </a:r>
          </a:p>
        </p:txBody>
      </p:sp>
      <p:sp>
        <p:nvSpPr>
          <p:cNvPr id="39" name="TextBox 28">
            <a:extLst>
              <a:ext uri="{FF2B5EF4-FFF2-40B4-BE49-F238E27FC236}">
                <a16:creationId xmlns:a16="http://schemas.microsoft.com/office/drawing/2014/main" id="{6C2EC04F-5F0B-C43F-68AC-D276CE7206F6}"/>
              </a:ext>
            </a:extLst>
          </p:cNvPr>
          <p:cNvSpPr txBox="1"/>
          <p:nvPr/>
        </p:nvSpPr>
        <p:spPr>
          <a:xfrm>
            <a:off x="10073640" y="2491136"/>
            <a:ext cx="146304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vi-VN" sz="1300" b="1" dirty="0">
                <a:solidFill>
                  <a:srgbClr val="64748B"/>
                </a:solidFill>
                <a:latin typeface="+mj-lt"/>
                <a:ea typeface="Arial"/>
                <a:cs typeface="Arial"/>
              </a:rPr>
              <a:t>→</a:t>
            </a:r>
          </a:p>
        </p:txBody>
      </p:sp>
      <p:sp>
        <p:nvSpPr>
          <p:cNvPr id="41" name="Shape 29">
            <a:extLst>
              <a:ext uri="{FF2B5EF4-FFF2-40B4-BE49-F238E27FC236}">
                <a16:creationId xmlns:a16="http://schemas.microsoft.com/office/drawing/2014/main" id="{9438B209-851B-D967-1BEB-E8857C155F17}"/>
              </a:ext>
            </a:extLst>
          </p:cNvPr>
          <p:cNvSpPr/>
          <p:nvPr/>
        </p:nvSpPr>
        <p:spPr>
          <a:xfrm>
            <a:off x="10265664" y="2326544"/>
            <a:ext cx="1325880" cy="658368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C7D2FE"/>
            </a:solidFill>
          </a:ln>
        </p:spPr>
        <p:txBody>
          <a:bodyPr/>
          <a:lstStyle/>
          <a:p>
            <a:pPr algn="ctr"/>
            <a:endParaRPr sz="1300">
              <a:latin typeface="+mj-lt"/>
            </a:endParaRPr>
          </a:p>
        </p:txBody>
      </p:sp>
      <p:sp>
        <p:nvSpPr>
          <p:cNvPr id="43" name="TextBox 30">
            <a:extLst>
              <a:ext uri="{FF2B5EF4-FFF2-40B4-BE49-F238E27FC236}">
                <a16:creationId xmlns:a16="http://schemas.microsoft.com/office/drawing/2014/main" id="{77E1E5D7-764C-0CC3-998D-14207F358D88}"/>
              </a:ext>
            </a:extLst>
          </p:cNvPr>
          <p:cNvSpPr txBox="1"/>
          <p:nvPr/>
        </p:nvSpPr>
        <p:spPr>
          <a:xfrm>
            <a:off x="10338816" y="2454560"/>
            <a:ext cx="1298448" cy="49377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vi-VN" sz="13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Services/Repos</a:t>
            </a:r>
          </a:p>
        </p:txBody>
      </p:sp>
      <p:sp>
        <p:nvSpPr>
          <p:cNvPr id="45" name="Card 31">
            <a:extLst>
              <a:ext uri="{FF2B5EF4-FFF2-40B4-BE49-F238E27FC236}">
                <a16:creationId xmlns:a16="http://schemas.microsoft.com/office/drawing/2014/main" id="{2DDBD36A-0F6A-45F9-502A-76495348375C}"/>
              </a:ext>
            </a:extLst>
          </p:cNvPr>
          <p:cNvSpPr/>
          <p:nvPr/>
        </p:nvSpPr>
        <p:spPr>
          <a:xfrm>
            <a:off x="975360" y="3332384"/>
            <a:ext cx="3246120" cy="1828800"/>
          </a:xfrm>
          <a:prstGeom prst="roundRect">
            <a:avLst/>
          </a:prstGeom>
          <a:solidFill>
            <a:srgbClr val="F7F8FB"/>
          </a:solidFill>
          <a:ln w="9000">
            <a:solidFill>
              <a:srgbClr val="D3D8E2"/>
            </a:solidFill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47" name="Accent 32">
            <a:extLst>
              <a:ext uri="{FF2B5EF4-FFF2-40B4-BE49-F238E27FC236}">
                <a16:creationId xmlns:a16="http://schemas.microsoft.com/office/drawing/2014/main" id="{3BE6361E-B49F-0F39-CBDD-275332022F1C}"/>
              </a:ext>
            </a:extLst>
          </p:cNvPr>
          <p:cNvSpPr/>
          <p:nvPr/>
        </p:nvSpPr>
        <p:spPr>
          <a:xfrm>
            <a:off x="975360" y="3332384"/>
            <a:ext cx="64008" cy="1828800"/>
          </a:xfrm>
          <a:prstGeom prst="rect">
            <a:avLst/>
          </a:prstGeom>
          <a:solidFill>
            <a:srgbClr val="20135A"/>
          </a:solidFill>
          <a:ln>
            <a:noFill/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49" name="TextBox 33">
            <a:extLst>
              <a:ext uri="{FF2B5EF4-FFF2-40B4-BE49-F238E27FC236}">
                <a16:creationId xmlns:a16="http://schemas.microsoft.com/office/drawing/2014/main" id="{72D5A189-CEC2-2B62-6790-1680320A6301}"/>
              </a:ext>
            </a:extLst>
          </p:cNvPr>
          <p:cNvSpPr txBox="1"/>
          <p:nvPr/>
        </p:nvSpPr>
        <p:spPr>
          <a:xfrm>
            <a:off x="1139952" y="3442112"/>
            <a:ext cx="29718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92500" lnSpcReduction="20000"/>
          </a:bodyPr>
          <a:lstStyle/>
          <a:p>
            <a:pPr algn="l">
              <a:spcAft>
                <a:spcPts val="300"/>
              </a:spcAft>
            </a:pPr>
            <a:r>
              <a:rPr lang="vi-VN" sz="16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ChatService</a:t>
            </a:r>
          </a:p>
        </p:txBody>
      </p:sp>
      <p:sp>
        <p:nvSpPr>
          <p:cNvPr id="51" name="TextBox 34">
            <a:extLst>
              <a:ext uri="{FF2B5EF4-FFF2-40B4-BE49-F238E27FC236}">
                <a16:creationId xmlns:a16="http://schemas.microsoft.com/office/drawing/2014/main" id="{804CACC6-9CAC-802E-6DB8-0BE927B9BA53}"/>
              </a:ext>
            </a:extLst>
          </p:cNvPr>
          <p:cNvSpPr txBox="1"/>
          <p:nvPr/>
        </p:nvSpPr>
        <p:spPr>
          <a:xfrm>
            <a:off x="1139952" y="3807872"/>
            <a:ext cx="2971800" cy="126187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Nạp/lưu lịch sử hội thoại trong Redis.</a:t>
            </a:r>
          </a:p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Enrich message bằng current date/time, venue, loại sân, resource, giá.</a:t>
            </a:r>
          </a:p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Trả text streaming và metadata cho UI booking/order card.</a:t>
            </a:r>
          </a:p>
        </p:txBody>
      </p:sp>
      <p:sp>
        <p:nvSpPr>
          <p:cNvPr id="53" name="Card 35">
            <a:extLst>
              <a:ext uri="{FF2B5EF4-FFF2-40B4-BE49-F238E27FC236}">
                <a16:creationId xmlns:a16="http://schemas.microsoft.com/office/drawing/2014/main" id="{ED770CD0-DD58-55AB-4983-AC4687FCF01F}"/>
              </a:ext>
            </a:extLst>
          </p:cNvPr>
          <p:cNvSpPr/>
          <p:nvPr/>
        </p:nvSpPr>
        <p:spPr>
          <a:xfrm>
            <a:off x="4450080" y="3332384"/>
            <a:ext cx="3154680" cy="1828800"/>
          </a:xfrm>
          <a:prstGeom prst="roundRect">
            <a:avLst/>
          </a:prstGeom>
          <a:solidFill>
            <a:srgbClr val="F7F8FB"/>
          </a:solidFill>
          <a:ln w="9000">
            <a:solidFill>
              <a:srgbClr val="D3D8E2"/>
            </a:solidFill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55" name="Accent 36">
            <a:extLst>
              <a:ext uri="{FF2B5EF4-FFF2-40B4-BE49-F238E27FC236}">
                <a16:creationId xmlns:a16="http://schemas.microsoft.com/office/drawing/2014/main" id="{D7FE2E21-A056-D860-A270-C03807613ACC}"/>
              </a:ext>
            </a:extLst>
          </p:cNvPr>
          <p:cNvSpPr/>
          <p:nvPr/>
        </p:nvSpPr>
        <p:spPr>
          <a:xfrm>
            <a:off x="4450080" y="3332384"/>
            <a:ext cx="64008" cy="18288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57" name="TextBox 37">
            <a:extLst>
              <a:ext uri="{FF2B5EF4-FFF2-40B4-BE49-F238E27FC236}">
                <a16:creationId xmlns:a16="http://schemas.microsoft.com/office/drawing/2014/main" id="{AD1E6C5D-EFC5-E4BD-84D5-F62776E1EEA9}"/>
              </a:ext>
            </a:extLst>
          </p:cNvPr>
          <p:cNvSpPr txBox="1"/>
          <p:nvPr/>
        </p:nvSpPr>
        <p:spPr>
          <a:xfrm>
            <a:off x="4614672" y="3442112"/>
            <a:ext cx="28803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92500" lnSpcReduction="20000"/>
          </a:bodyPr>
          <a:lstStyle/>
          <a:p>
            <a:pPr algn="l">
              <a:spcAft>
                <a:spcPts val="300"/>
              </a:spcAft>
            </a:pPr>
            <a:r>
              <a:rPr lang="vi-VN" sz="1600" b="1" dirty="0">
                <a:solidFill>
                  <a:srgbClr val="0F766E"/>
                </a:solidFill>
                <a:latin typeface="+mj-lt"/>
                <a:ea typeface="Arial"/>
                <a:cs typeface="Arial"/>
              </a:rPr>
              <a:t>IntentRouter</a:t>
            </a:r>
          </a:p>
        </p:txBody>
      </p:sp>
      <p:sp>
        <p:nvSpPr>
          <p:cNvPr id="59" name="TextBox 38">
            <a:extLst>
              <a:ext uri="{FF2B5EF4-FFF2-40B4-BE49-F238E27FC236}">
                <a16:creationId xmlns:a16="http://schemas.microsoft.com/office/drawing/2014/main" id="{E5BEB43F-7CA2-4E0A-29BB-F13CE9303991}"/>
              </a:ext>
            </a:extLst>
          </p:cNvPr>
          <p:cNvSpPr txBox="1"/>
          <p:nvPr/>
        </p:nvSpPr>
        <p:spPr>
          <a:xfrm>
            <a:off x="4614672" y="3807872"/>
            <a:ext cx="2880360" cy="126187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92500" lnSpcReduction="10000"/>
          </a:bodyPr>
          <a:lstStyle/>
          <a:p>
            <a:pPr algn="l">
              <a:spcAft>
                <a:spcPts val="300"/>
              </a:spcAft>
            </a:pPr>
            <a:r>
              <a:rPr lang="vi-VN" sz="13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Keyword-first để giảm gọi embedding khi intent rõ.</a:t>
            </a:r>
          </a:p>
          <a:p>
            <a:pPr algn="l">
              <a:spcAft>
                <a:spcPts val="300"/>
              </a:spcAft>
            </a:pPr>
            <a:r>
              <a:rPr lang="vi-VN" sz="13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Cache Redis cho intent và cache vector mẫu 7 ngày.</a:t>
            </a:r>
          </a:p>
          <a:p>
            <a:pPr algn="l">
              <a:spcAft>
                <a:spcPts val="300"/>
              </a:spcAft>
            </a:pPr>
            <a:r>
              <a:rPr lang="vi-VN" sz="13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Không cache query động như giá, giờ mở cửa, sân còn trống.</a:t>
            </a:r>
          </a:p>
        </p:txBody>
      </p:sp>
      <p:sp>
        <p:nvSpPr>
          <p:cNvPr id="61" name="Card 39">
            <a:extLst>
              <a:ext uri="{FF2B5EF4-FFF2-40B4-BE49-F238E27FC236}">
                <a16:creationId xmlns:a16="http://schemas.microsoft.com/office/drawing/2014/main" id="{2756EB46-870B-756F-6BBE-E476C40A70AE}"/>
              </a:ext>
            </a:extLst>
          </p:cNvPr>
          <p:cNvSpPr/>
          <p:nvPr/>
        </p:nvSpPr>
        <p:spPr>
          <a:xfrm>
            <a:off x="7833360" y="3332384"/>
            <a:ext cx="3611880" cy="1828800"/>
          </a:xfrm>
          <a:prstGeom prst="roundRect">
            <a:avLst/>
          </a:prstGeom>
          <a:solidFill>
            <a:srgbClr val="F7F8FB"/>
          </a:solidFill>
          <a:ln w="9000">
            <a:solidFill>
              <a:srgbClr val="D3D8E2"/>
            </a:solidFill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63" name="Accent 40">
            <a:extLst>
              <a:ext uri="{FF2B5EF4-FFF2-40B4-BE49-F238E27FC236}">
                <a16:creationId xmlns:a16="http://schemas.microsoft.com/office/drawing/2014/main" id="{8D730C8F-5F3F-81CF-87BF-82F33F852DDA}"/>
              </a:ext>
            </a:extLst>
          </p:cNvPr>
          <p:cNvSpPr/>
          <p:nvPr/>
        </p:nvSpPr>
        <p:spPr>
          <a:xfrm>
            <a:off x="7833360" y="3332384"/>
            <a:ext cx="64008" cy="1828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65" name="TextBox 41">
            <a:extLst>
              <a:ext uri="{FF2B5EF4-FFF2-40B4-BE49-F238E27FC236}">
                <a16:creationId xmlns:a16="http://schemas.microsoft.com/office/drawing/2014/main" id="{1F1D79F0-086F-2CE1-E6F8-51D78D27AC76}"/>
              </a:ext>
            </a:extLst>
          </p:cNvPr>
          <p:cNvSpPr txBox="1"/>
          <p:nvPr/>
        </p:nvSpPr>
        <p:spPr>
          <a:xfrm>
            <a:off x="7997952" y="3442112"/>
            <a:ext cx="33375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92500" lnSpcReduction="20000"/>
          </a:bodyPr>
          <a:lstStyle/>
          <a:p>
            <a:pPr algn="l">
              <a:spcAft>
                <a:spcPts val="300"/>
              </a:spcAft>
            </a:pPr>
            <a:r>
              <a:rPr lang="vi-VN" sz="1600" b="1" dirty="0">
                <a:solidFill>
                  <a:srgbClr val="7C3AED"/>
                </a:solidFill>
                <a:latin typeface="+mj-lt"/>
                <a:ea typeface="Arial"/>
                <a:cs typeface="Arial"/>
              </a:rPr>
              <a:t>VenueAgent</a:t>
            </a:r>
          </a:p>
        </p:txBody>
      </p:sp>
      <p:sp>
        <p:nvSpPr>
          <p:cNvPr id="67" name="TextBox 42">
            <a:extLst>
              <a:ext uri="{FF2B5EF4-FFF2-40B4-BE49-F238E27FC236}">
                <a16:creationId xmlns:a16="http://schemas.microsoft.com/office/drawing/2014/main" id="{2FC1DEE8-C5E2-C7CC-8A40-DBABBB06D459}"/>
              </a:ext>
            </a:extLst>
          </p:cNvPr>
          <p:cNvSpPr txBox="1"/>
          <p:nvPr/>
        </p:nvSpPr>
        <p:spPr>
          <a:xfrm>
            <a:off x="7997952" y="3807872"/>
            <a:ext cx="3337560" cy="126187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92500" lnSpcReduction="10000"/>
          </a:bodyPr>
          <a:lstStyle/>
          <a:p>
            <a:pPr algn="l">
              <a:spcAft>
                <a:spcPts val="300"/>
              </a:spcAft>
            </a:pPr>
            <a:r>
              <a:rPr lang="vi-VN" sz="13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LangChain create_tool_calling_agent + AgentExecutor.</a:t>
            </a:r>
          </a:p>
          <a:p>
            <a:pPr algn="l">
              <a:spcAft>
                <a:spcPts val="300"/>
              </a:spcAft>
            </a:pPr>
            <a:r>
              <a:rPr lang="vi-VN" sz="13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Provider: Google/MiMo/Ollama; sticky fallback 24h khi rate limit.</a:t>
            </a:r>
          </a:p>
          <a:p>
            <a:pPr algn="l">
              <a:spcAft>
                <a:spcPts val="300"/>
              </a:spcAft>
            </a:pPr>
            <a:r>
              <a:rPr lang="vi-VN" sz="13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Giới hạn max_iterations, handle parsing errors và repair tool leak.</a:t>
            </a:r>
          </a:p>
        </p:txBody>
      </p:sp>
      <p:sp>
        <p:nvSpPr>
          <p:cNvPr id="69" name="TextBox 43">
            <a:extLst>
              <a:ext uri="{FF2B5EF4-FFF2-40B4-BE49-F238E27FC236}">
                <a16:creationId xmlns:a16="http://schemas.microsoft.com/office/drawing/2014/main" id="{651DC1AF-3045-4A86-B988-4C268A8AF86A}"/>
              </a:ext>
            </a:extLst>
          </p:cNvPr>
          <p:cNvSpPr txBox="1"/>
          <p:nvPr/>
        </p:nvSpPr>
        <p:spPr>
          <a:xfrm>
            <a:off x="1066800" y="5773832"/>
            <a:ext cx="1014984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lang="vi-VN" sz="1400" b="1" dirty="0">
                <a:solidFill>
                  <a:srgbClr val="B45309"/>
                </a:solidFill>
                <a:latin typeface="+mj-lt"/>
                <a:ea typeface="Arial"/>
                <a:cs typeface="Arial"/>
              </a:rPr>
              <a:t>Ranh giới quan trọng: LLM chỉ sinh action/arguments; business rule và dữ liệu tin cậy nằm ở backend service.</a:t>
            </a:r>
          </a:p>
        </p:txBody>
      </p:sp>
      <p:sp>
        <p:nvSpPr>
          <p:cNvPr id="71" name="Shape 45">
            <a:extLst>
              <a:ext uri="{FF2B5EF4-FFF2-40B4-BE49-F238E27FC236}">
                <a16:creationId xmlns:a16="http://schemas.microsoft.com/office/drawing/2014/main" id="{84311BAD-32D2-1DA5-D1ED-738B0301F5A3}"/>
              </a:ext>
            </a:extLst>
          </p:cNvPr>
          <p:cNvSpPr/>
          <p:nvPr/>
        </p:nvSpPr>
        <p:spPr>
          <a:xfrm>
            <a:off x="993648" y="1416716"/>
            <a:ext cx="73152" cy="502920"/>
          </a:xfrm>
          <a:prstGeom prst="rect">
            <a:avLst/>
          </a:prstGeom>
          <a:solidFill>
            <a:srgbClr val="F2C94C"/>
          </a:solidFill>
          <a:ln>
            <a:noFill/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73" name="TextBox 46">
            <a:extLst>
              <a:ext uri="{FF2B5EF4-FFF2-40B4-BE49-F238E27FC236}">
                <a16:creationId xmlns:a16="http://schemas.microsoft.com/office/drawing/2014/main" id="{279F32F2-8E3F-D8B6-005A-63A01DBA9BCE}"/>
              </a:ext>
            </a:extLst>
          </p:cNvPr>
          <p:cNvSpPr txBox="1"/>
          <p:nvPr/>
        </p:nvSpPr>
        <p:spPr>
          <a:xfrm>
            <a:off x="1021080" y="1439576"/>
            <a:ext cx="101498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lnSpcReduction="10000"/>
          </a:bodyPr>
          <a:lstStyle/>
          <a:p>
            <a:pPr algn="l">
              <a:spcAft>
                <a:spcPts val="300"/>
              </a:spcAft>
            </a:pPr>
            <a:r>
              <a:rPr lang="vi-VN" sz="28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AI Agent: kiến trúc triển khai</a:t>
            </a:r>
          </a:p>
        </p:txBody>
      </p:sp>
    </p:spTree>
    <p:extLst>
      <p:ext uri="{BB962C8B-B14F-4D97-AF65-F5344CB8AC3E}">
        <p14:creationId xmlns:p14="http://schemas.microsoft.com/office/powerpoint/2010/main" val="12783253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42B50-77D8-D396-5BB4-AEAF6FB98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28EE44-C396-13EE-C84D-EA1CB870F912}"/>
              </a:ext>
            </a:extLst>
          </p:cNvPr>
          <p:cNvSpPr txBox="1"/>
          <p:nvPr/>
        </p:nvSpPr>
        <p:spPr>
          <a:xfrm>
            <a:off x="1950719" y="356486"/>
            <a:ext cx="8290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>
                <a:solidFill>
                  <a:schemeClr val="bg1"/>
                </a:solidFill>
                <a:latin typeface="+mj-lt"/>
              </a:rPr>
              <a:t>ĐẠI HỌC GIAO THÔNG VẬN TẢI PHÂN HIỆ</a:t>
            </a:r>
            <a:r>
              <a:rPr lang="en-US" altLang="vi-VN" b="1" dirty="0">
                <a:solidFill>
                  <a:schemeClr val="bg1"/>
                </a:solidFill>
                <a:latin typeface="+mj-lt"/>
              </a:rPr>
              <a:t>U</a:t>
            </a:r>
            <a:r>
              <a:rPr lang="vi-VN" b="1" dirty="0">
                <a:solidFill>
                  <a:schemeClr val="bg1"/>
                </a:solidFill>
                <a:latin typeface="+mj-lt"/>
              </a:rPr>
              <a:t> THÀNH PHỐ HỒ CHÍ MINH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499144A-12E0-BC5E-925F-C793DAC02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FCFE7-4CFC-4698-A5C8-57D6C94FD847}" type="slidenum">
              <a:rPr lang="en-US" smtClean="0"/>
              <a:t>13</a:t>
            </a:fld>
            <a:endParaRPr lang="en-US"/>
          </a:p>
        </p:txBody>
      </p:sp>
      <p:sp>
        <p:nvSpPr>
          <p:cNvPr id="4" name="Shape 11">
            <a:extLst>
              <a:ext uri="{FF2B5EF4-FFF2-40B4-BE49-F238E27FC236}">
                <a16:creationId xmlns:a16="http://schemas.microsoft.com/office/drawing/2014/main" id="{AE39E42D-9740-D53E-E72B-4D2A7E151F79}"/>
              </a:ext>
            </a:extLst>
          </p:cNvPr>
          <p:cNvSpPr/>
          <p:nvPr/>
        </p:nvSpPr>
        <p:spPr>
          <a:xfrm>
            <a:off x="947784" y="1820346"/>
            <a:ext cx="3017520" cy="1078992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CBD5E1"/>
            </a:solidFill>
          </a:ln>
        </p:spPr>
        <p:txBody>
          <a:bodyPr/>
          <a:lstStyle/>
          <a:p>
            <a:endParaRPr sz="1400">
              <a:latin typeface="+mj-lt"/>
            </a:endParaRPr>
          </a:p>
        </p:txBody>
      </p:sp>
      <p:sp>
        <p:nvSpPr>
          <p:cNvPr id="6" name="Shape 12">
            <a:extLst>
              <a:ext uri="{FF2B5EF4-FFF2-40B4-BE49-F238E27FC236}">
                <a16:creationId xmlns:a16="http://schemas.microsoft.com/office/drawing/2014/main" id="{AD063648-6272-C2D7-23D5-6B3A6D3E7FA1}"/>
              </a:ext>
            </a:extLst>
          </p:cNvPr>
          <p:cNvSpPr/>
          <p:nvPr/>
        </p:nvSpPr>
        <p:spPr>
          <a:xfrm>
            <a:off x="947784" y="1820346"/>
            <a:ext cx="91440" cy="1078992"/>
          </a:xfrm>
          <a:prstGeom prst="rect">
            <a:avLst/>
          </a:prstGeom>
          <a:solidFill>
            <a:srgbClr val="20135A"/>
          </a:solidFill>
          <a:ln>
            <a:noFill/>
          </a:ln>
        </p:spPr>
        <p:txBody>
          <a:bodyPr/>
          <a:lstStyle/>
          <a:p>
            <a:endParaRPr sz="1400">
              <a:latin typeface="+mj-lt"/>
            </a:endParaRPr>
          </a:p>
        </p:txBody>
      </p:sp>
      <p:sp>
        <p:nvSpPr>
          <p:cNvPr id="9" name="TextBox 13">
            <a:extLst>
              <a:ext uri="{FF2B5EF4-FFF2-40B4-BE49-F238E27FC236}">
                <a16:creationId xmlns:a16="http://schemas.microsoft.com/office/drawing/2014/main" id="{1E8DC12C-0E2A-F1E5-D41A-810C22554F69}"/>
              </a:ext>
            </a:extLst>
          </p:cNvPr>
          <p:cNvSpPr txBox="1"/>
          <p:nvPr/>
        </p:nvSpPr>
        <p:spPr>
          <a:xfrm>
            <a:off x="1148952" y="1984938"/>
            <a:ext cx="26060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vi-VN" sz="14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query_knowledge</a:t>
            </a:r>
          </a:p>
        </p:txBody>
      </p:sp>
      <p:sp>
        <p:nvSpPr>
          <p:cNvPr id="11" name="TextBox 14">
            <a:extLst>
              <a:ext uri="{FF2B5EF4-FFF2-40B4-BE49-F238E27FC236}">
                <a16:creationId xmlns:a16="http://schemas.microsoft.com/office/drawing/2014/main" id="{3B1A99C1-8CB7-6335-0B0D-525920204332}"/>
              </a:ext>
            </a:extLst>
          </p:cNvPr>
          <p:cNvSpPr txBox="1"/>
          <p:nvPr/>
        </p:nvSpPr>
        <p:spPr>
          <a:xfrm>
            <a:off x="1176384" y="2323266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vi-VN" sz="1400" dirty="0">
                <a:solidFill>
                  <a:srgbClr val="334155"/>
                </a:solidFill>
                <a:latin typeface="+mj-lt"/>
                <a:ea typeface="Arial"/>
                <a:cs typeface="Arial"/>
              </a:rPr>
              <a:t>Graph RAG luật/kỹ thuật</a:t>
            </a:r>
          </a:p>
        </p:txBody>
      </p:sp>
      <p:sp>
        <p:nvSpPr>
          <p:cNvPr id="13" name="Shape 15">
            <a:extLst>
              <a:ext uri="{FF2B5EF4-FFF2-40B4-BE49-F238E27FC236}">
                <a16:creationId xmlns:a16="http://schemas.microsoft.com/office/drawing/2014/main" id="{A5463695-48C9-9C61-2552-012BBC519D61}"/>
              </a:ext>
            </a:extLst>
          </p:cNvPr>
          <p:cNvSpPr/>
          <p:nvPr/>
        </p:nvSpPr>
        <p:spPr>
          <a:xfrm>
            <a:off x="4468224" y="1820346"/>
            <a:ext cx="3017520" cy="1078992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CBD5E1"/>
            </a:solidFill>
          </a:ln>
        </p:spPr>
        <p:txBody>
          <a:bodyPr/>
          <a:lstStyle/>
          <a:p>
            <a:endParaRPr sz="1400">
              <a:latin typeface="+mj-lt"/>
            </a:endParaRPr>
          </a:p>
        </p:txBody>
      </p:sp>
      <p:sp>
        <p:nvSpPr>
          <p:cNvPr id="15" name="Shape 16">
            <a:extLst>
              <a:ext uri="{FF2B5EF4-FFF2-40B4-BE49-F238E27FC236}">
                <a16:creationId xmlns:a16="http://schemas.microsoft.com/office/drawing/2014/main" id="{69C98F69-9A85-A6BD-B6D8-3B2512683E25}"/>
              </a:ext>
            </a:extLst>
          </p:cNvPr>
          <p:cNvSpPr/>
          <p:nvPr/>
        </p:nvSpPr>
        <p:spPr>
          <a:xfrm>
            <a:off x="4468224" y="1820346"/>
            <a:ext cx="91440" cy="107899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>
            <a:endParaRPr sz="1400">
              <a:latin typeface="+mj-lt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D89D2C7F-B24C-7ED2-62B9-10DAB22C3686}"/>
              </a:ext>
            </a:extLst>
          </p:cNvPr>
          <p:cNvSpPr txBox="1"/>
          <p:nvPr/>
        </p:nvSpPr>
        <p:spPr>
          <a:xfrm>
            <a:off x="4669392" y="1984938"/>
            <a:ext cx="26060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vi-VN" sz="1400" b="1" dirty="0">
                <a:solidFill>
                  <a:srgbClr val="0F766E"/>
                </a:solidFill>
                <a:latin typeface="+mj-lt"/>
                <a:ea typeface="Arial"/>
                <a:cs typeface="Arial"/>
              </a:rPr>
              <a:t>book_court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6767DE-4ACE-8183-F36D-63E514D1FF07}"/>
              </a:ext>
            </a:extLst>
          </p:cNvPr>
          <p:cNvSpPr txBox="1"/>
          <p:nvPr/>
        </p:nvSpPr>
        <p:spPr>
          <a:xfrm>
            <a:off x="4696824" y="2323266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vi-VN" sz="1400" dirty="0">
                <a:solidFill>
                  <a:srgbClr val="334155"/>
                </a:solidFill>
                <a:latin typeface="+mj-lt"/>
                <a:ea typeface="Arial"/>
                <a:cs typeface="Arial"/>
              </a:rPr>
              <a:t>Kiểm tra trống và tạo booking</a:t>
            </a: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E18B5FF8-7339-C440-11F0-DC381B6694BA}"/>
              </a:ext>
            </a:extLst>
          </p:cNvPr>
          <p:cNvSpPr/>
          <p:nvPr/>
        </p:nvSpPr>
        <p:spPr>
          <a:xfrm>
            <a:off x="7988664" y="1820346"/>
            <a:ext cx="3017520" cy="1078992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CBD5E1"/>
            </a:solidFill>
          </a:ln>
        </p:spPr>
        <p:txBody>
          <a:bodyPr/>
          <a:lstStyle/>
          <a:p>
            <a:endParaRPr sz="1400">
              <a:latin typeface="+mj-lt"/>
            </a:endParaRPr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BA708DE4-5552-A550-AA82-D0658DAFFE8B}"/>
              </a:ext>
            </a:extLst>
          </p:cNvPr>
          <p:cNvSpPr/>
          <p:nvPr/>
        </p:nvSpPr>
        <p:spPr>
          <a:xfrm>
            <a:off x="7988664" y="1820346"/>
            <a:ext cx="91440" cy="107899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/>
          <a:lstStyle/>
          <a:p>
            <a:endParaRPr sz="1400">
              <a:latin typeface="+mj-lt"/>
            </a:endParaRPr>
          </a:p>
        </p:txBody>
      </p:sp>
      <p:sp>
        <p:nvSpPr>
          <p:cNvPr id="25" name="TextBox 21">
            <a:extLst>
              <a:ext uri="{FF2B5EF4-FFF2-40B4-BE49-F238E27FC236}">
                <a16:creationId xmlns:a16="http://schemas.microsoft.com/office/drawing/2014/main" id="{8D4934C1-33A0-4B50-00BD-44DEEA0FFBC7}"/>
              </a:ext>
            </a:extLst>
          </p:cNvPr>
          <p:cNvSpPr txBox="1"/>
          <p:nvPr/>
        </p:nvSpPr>
        <p:spPr>
          <a:xfrm>
            <a:off x="8189832" y="1984938"/>
            <a:ext cx="26060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vi-VN" sz="1400" b="1" dirty="0">
                <a:solidFill>
                  <a:srgbClr val="0369A1"/>
                </a:solidFill>
                <a:latin typeface="+mj-lt"/>
                <a:ea typeface="Arial"/>
                <a:cs typeface="Arial"/>
              </a:rPr>
              <a:t>check_schedule</a:t>
            </a:r>
          </a:p>
        </p:txBody>
      </p:sp>
      <p:sp>
        <p:nvSpPr>
          <p:cNvPr id="27" name="TextBox 22">
            <a:extLst>
              <a:ext uri="{FF2B5EF4-FFF2-40B4-BE49-F238E27FC236}">
                <a16:creationId xmlns:a16="http://schemas.microsoft.com/office/drawing/2014/main" id="{BAB1EFDA-9424-DDD4-D3CF-912E778EAA3C}"/>
              </a:ext>
            </a:extLst>
          </p:cNvPr>
          <p:cNvSpPr txBox="1"/>
          <p:nvPr/>
        </p:nvSpPr>
        <p:spPr>
          <a:xfrm>
            <a:off x="8217264" y="2323266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vi-VN" sz="1400" dirty="0">
                <a:solidFill>
                  <a:srgbClr val="334155"/>
                </a:solidFill>
                <a:latin typeface="+mj-lt"/>
                <a:ea typeface="Arial"/>
                <a:cs typeface="Arial"/>
              </a:rPr>
              <a:t>Xem lịch đặt theo ngày/venue</a:t>
            </a:r>
          </a:p>
        </p:txBody>
      </p:sp>
      <p:sp>
        <p:nvSpPr>
          <p:cNvPr id="29" name="Shape 23">
            <a:extLst>
              <a:ext uri="{FF2B5EF4-FFF2-40B4-BE49-F238E27FC236}">
                <a16:creationId xmlns:a16="http://schemas.microsoft.com/office/drawing/2014/main" id="{1078DD4B-1913-5503-E3D2-094DA47A550D}"/>
              </a:ext>
            </a:extLst>
          </p:cNvPr>
          <p:cNvSpPr/>
          <p:nvPr/>
        </p:nvSpPr>
        <p:spPr>
          <a:xfrm>
            <a:off x="952356" y="3256472"/>
            <a:ext cx="3017520" cy="1078992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CBD5E1"/>
            </a:solidFill>
          </a:ln>
        </p:spPr>
        <p:txBody>
          <a:bodyPr/>
          <a:lstStyle/>
          <a:p>
            <a:endParaRPr sz="1400">
              <a:latin typeface="+mj-lt"/>
            </a:endParaRPr>
          </a:p>
        </p:txBody>
      </p:sp>
      <p:sp>
        <p:nvSpPr>
          <p:cNvPr id="31" name="Shape 24">
            <a:extLst>
              <a:ext uri="{FF2B5EF4-FFF2-40B4-BE49-F238E27FC236}">
                <a16:creationId xmlns:a16="http://schemas.microsoft.com/office/drawing/2014/main" id="{D032BECA-3D24-CC4F-955D-AC56185AFE68}"/>
              </a:ext>
            </a:extLst>
          </p:cNvPr>
          <p:cNvSpPr/>
          <p:nvPr/>
        </p:nvSpPr>
        <p:spPr>
          <a:xfrm>
            <a:off x="952356" y="3256472"/>
            <a:ext cx="91440" cy="107899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/>
          <a:lstStyle/>
          <a:p>
            <a:endParaRPr sz="1400">
              <a:latin typeface="+mj-lt"/>
            </a:endParaRPr>
          </a:p>
        </p:txBody>
      </p:sp>
      <p:sp>
        <p:nvSpPr>
          <p:cNvPr id="33" name="TextBox 25">
            <a:extLst>
              <a:ext uri="{FF2B5EF4-FFF2-40B4-BE49-F238E27FC236}">
                <a16:creationId xmlns:a16="http://schemas.microsoft.com/office/drawing/2014/main" id="{885A5474-F0F6-1F61-CA6C-B8EFA389B065}"/>
              </a:ext>
            </a:extLst>
          </p:cNvPr>
          <p:cNvSpPr txBox="1"/>
          <p:nvPr/>
        </p:nvSpPr>
        <p:spPr>
          <a:xfrm>
            <a:off x="1153524" y="3421064"/>
            <a:ext cx="26060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vi-VN" sz="1400" b="1" dirty="0">
                <a:solidFill>
                  <a:srgbClr val="B45309"/>
                </a:solidFill>
                <a:latin typeface="+mj-lt"/>
                <a:ea typeface="Arial"/>
                <a:cs typeface="Arial"/>
              </a:rPr>
              <a:t>recommend_menu</a:t>
            </a:r>
          </a:p>
        </p:txBody>
      </p:sp>
      <p:sp>
        <p:nvSpPr>
          <p:cNvPr id="35" name="TextBox 26">
            <a:extLst>
              <a:ext uri="{FF2B5EF4-FFF2-40B4-BE49-F238E27FC236}">
                <a16:creationId xmlns:a16="http://schemas.microsoft.com/office/drawing/2014/main" id="{66B58533-F5B3-01BF-4065-F6FF7325E125}"/>
              </a:ext>
            </a:extLst>
          </p:cNvPr>
          <p:cNvSpPr txBox="1"/>
          <p:nvPr/>
        </p:nvSpPr>
        <p:spPr>
          <a:xfrm>
            <a:off x="1180956" y="3759392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vi-VN" sz="1400" dirty="0">
                <a:solidFill>
                  <a:srgbClr val="334155"/>
                </a:solidFill>
                <a:latin typeface="+mj-lt"/>
                <a:ea typeface="Arial"/>
                <a:cs typeface="Arial"/>
              </a:rPr>
              <a:t>Gợi ý món theo sở thích</a:t>
            </a:r>
          </a:p>
        </p:txBody>
      </p:sp>
      <p:sp>
        <p:nvSpPr>
          <p:cNvPr id="37" name="Shape 27">
            <a:extLst>
              <a:ext uri="{FF2B5EF4-FFF2-40B4-BE49-F238E27FC236}">
                <a16:creationId xmlns:a16="http://schemas.microsoft.com/office/drawing/2014/main" id="{D8695DA4-C4D2-3CC0-2ACE-1BDF7EFA80E7}"/>
              </a:ext>
            </a:extLst>
          </p:cNvPr>
          <p:cNvSpPr/>
          <p:nvPr/>
        </p:nvSpPr>
        <p:spPr>
          <a:xfrm>
            <a:off x="4472796" y="3256472"/>
            <a:ext cx="3017520" cy="1078992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CBD5E1"/>
            </a:solidFill>
          </a:ln>
        </p:spPr>
        <p:txBody>
          <a:bodyPr/>
          <a:lstStyle/>
          <a:p>
            <a:endParaRPr sz="1400">
              <a:latin typeface="+mj-lt"/>
            </a:endParaRPr>
          </a:p>
        </p:txBody>
      </p:sp>
      <p:sp>
        <p:nvSpPr>
          <p:cNvPr id="39" name="Shape 28">
            <a:extLst>
              <a:ext uri="{FF2B5EF4-FFF2-40B4-BE49-F238E27FC236}">
                <a16:creationId xmlns:a16="http://schemas.microsoft.com/office/drawing/2014/main" id="{B2533D1B-FF3C-47A8-78BE-51ABF820BE6F}"/>
              </a:ext>
            </a:extLst>
          </p:cNvPr>
          <p:cNvSpPr/>
          <p:nvPr/>
        </p:nvSpPr>
        <p:spPr>
          <a:xfrm>
            <a:off x="4472796" y="3256472"/>
            <a:ext cx="91440" cy="10789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/>
          <a:lstStyle/>
          <a:p>
            <a:endParaRPr sz="1400">
              <a:latin typeface="+mj-lt"/>
            </a:endParaRPr>
          </a:p>
        </p:txBody>
      </p:sp>
      <p:sp>
        <p:nvSpPr>
          <p:cNvPr id="41" name="TextBox 29">
            <a:extLst>
              <a:ext uri="{FF2B5EF4-FFF2-40B4-BE49-F238E27FC236}">
                <a16:creationId xmlns:a16="http://schemas.microsoft.com/office/drawing/2014/main" id="{D3D9032E-B504-C700-C32D-F8B6C6CD65D5}"/>
              </a:ext>
            </a:extLst>
          </p:cNvPr>
          <p:cNvSpPr txBox="1"/>
          <p:nvPr/>
        </p:nvSpPr>
        <p:spPr>
          <a:xfrm>
            <a:off x="4673964" y="3421064"/>
            <a:ext cx="26060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vi-VN" sz="1400" b="1" dirty="0">
                <a:solidFill>
                  <a:srgbClr val="7C3AED"/>
                </a:solidFill>
                <a:latin typeface="+mj-lt"/>
                <a:ea typeface="Arial"/>
                <a:cs typeface="Arial"/>
              </a:rPr>
              <a:t>order_menu_items</a:t>
            </a:r>
          </a:p>
        </p:txBody>
      </p:sp>
      <p:sp>
        <p:nvSpPr>
          <p:cNvPr id="43" name="TextBox 30">
            <a:extLst>
              <a:ext uri="{FF2B5EF4-FFF2-40B4-BE49-F238E27FC236}">
                <a16:creationId xmlns:a16="http://schemas.microsoft.com/office/drawing/2014/main" id="{E61D25A7-DAFA-D7FC-D6CB-5D411B1D4535}"/>
              </a:ext>
            </a:extLst>
          </p:cNvPr>
          <p:cNvSpPr txBox="1"/>
          <p:nvPr/>
        </p:nvSpPr>
        <p:spPr>
          <a:xfrm>
            <a:off x="4701396" y="3759392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vi-VN" sz="1400" dirty="0">
                <a:solidFill>
                  <a:srgbClr val="334155"/>
                </a:solidFill>
                <a:latin typeface="+mj-lt"/>
                <a:ea typeface="Arial"/>
                <a:cs typeface="Arial"/>
              </a:rPr>
              <a:t>Tạo order sau xác nhận</a:t>
            </a:r>
          </a:p>
        </p:txBody>
      </p:sp>
      <p:sp>
        <p:nvSpPr>
          <p:cNvPr id="45" name="Shape 31">
            <a:extLst>
              <a:ext uri="{FF2B5EF4-FFF2-40B4-BE49-F238E27FC236}">
                <a16:creationId xmlns:a16="http://schemas.microsoft.com/office/drawing/2014/main" id="{D580BACC-3CEC-4F6C-899D-C0ABDC8C26DF}"/>
              </a:ext>
            </a:extLst>
          </p:cNvPr>
          <p:cNvSpPr/>
          <p:nvPr/>
        </p:nvSpPr>
        <p:spPr>
          <a:xfrm>
            <a:off x="7993236" y="3256472"/>
            <a:ext cx="3017520" cy="1078992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CBD5E1"/>
            </a:solidFill>
          </a:ln>
        </p:spPr>
        <p:txBody>
          <a:bodyPr/>
          <a:lstStyle/>
          <a:p>
            <a:endParaRPr sz="1400">
              <a:latin typeface="+mj-lt"/>
            </a:endParaRPr>
          </a:p>
        </p:txBody>
      </p:sp>
      <p:sp>
        <p:nvSpPr>
          <p:cNvPr id="47" name="Shape 32">
            <a:extLst>
              <a:ext uri="{FF2B5EF4-FFF2-40B4-BE49-F238E27FC236}">
                <a16:creationId xmlns:a16="http://schemas.microsoft.com/office/drawing/2014/main" id="{9D5FA6AD-72FB-544F-C2A6-219E0F5BF4C9}"/>
              </a:ext>
            </a:extLst>
          </p:cNvPr>
          <p:cNvSpPr/>
          <p:nvPr/>
        </p:nvSpPr>
        <p:spPr>
          <a:xfrm>
            <a:off x="7993236" y="3256472"/>
            <a:ext cx="91440" cy="1078992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txBody>
          <a:bodyPr/>
          <a:lstStyle/>
          <a:p>
            <a:endParaRPr sz="1400">
              <a:latin typeface="+mj-lt"/>
            </a:endParaRPr>
          </a:p>
        </p:txBody>
      </p:sp>
      <p:sp>
        <p:nvSpPr>
          <p:cNvPr id="49" name="TextBox 33">
            <a:extLst>
              <a:ext uri="{FF2B5EF4-FFF2-40B4-BE49-F238E27FC236}">
                <a16:creationId xmlns:a16="http://schemas.microsoft.com/office/drawing/2014/main" id="{3A5AE46D-62D0-C56B-9F74-55DAE362C52B}"/>
              </a:ext>
            </a:extLst>
          </p:cNvPr>
          <p:cNvSpPr txBox="1"/>
          <p:nvPr/>
        </p:nvSpPr>
        <p:spPr>
          <a:xfrm>
            <a:off x="8194404" y="3421064"/>
            <a:ext cx="26060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vi-VN" sz="1400" b="1" dirty="0">
                <a:solidFill>
                  <a:srgbClr val="BE123C"/>
                </a:solidFill>
                <a:latin typeface="+mj-lt"/>
                <a:ea typeface="Arial"/>
                <a:cs typeface="Arial"/>
              </a:rPr>
              <a:t>call_staff</a:t>
            </a:r>
          </a:p>
        </p:txBody>
      </p:sp>
      <p:sp>
        <p:nvSpPr>
          <p:cNvPr id="51" name="TextBox 34">
            <a:extLst>
              <a:ext uri="{FF2B5EF4-FFF2-40B4-BE49-F238E27FC236}">
                <a16:creationId xmlns:a16="http://schemas.microsoft.com/office/drawing/2014/main" id="{EE7E1031-FF98-ABF7-8C1E-6075A27795B4}"/>
              </a:ext>
            </a:extLst>
          </p:cNvPr>
          <p:cNvSpPr txBox="1"/>
          <p:nvPr/>
        </p:nvSpPr>
        <p:spPr>
          <a:xfrm>
            <a:off x="8221836" y="3759392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vi-VN" sz="1400" dirty="0">
                <a:solidFill>
                  <a:srgbClr val="334155"/>
                </a:solidFill>
                <a:latin typeface="+mj-lt"/>
                <a:ea typeface="Arial"/>
                <a:cs typeface="Arial"/>
              </a:rPr>
              <a:t>Tạo yêu cầu nhân viên và thông báo</a:t>
            </a:r>
          </a:p>
        </p:txBody>
      </p:sp>
      <p:sp>
        <p:nvSpPr>
          <p:cNvPr id="53" name="Card 35">
            <a:extLst>
              <a:ext uri="{FF2B5EF4-FFF2-40B4-BE49-F238E27FC236}">
                <a16:creationId xmlns:a16="http://schemas.microsoft.com/office/drawing/2014/main" id="{2FFA4354-3930-4878-148A-B383F2808685}"/>
              </a:ext>
            </a:extLst>
          </p:cNvPr>
          <p:cNvSpPr/>
          <p:nvPr/>
        </p:nvSpPr>
        <p:spPr>
          <a:xfrm>
            <a:off x="2660386" y="4670743"/>
            <a:ext cx="6521570" cy="1436126"/>
          </a:xfrm>
          <a:prstGeom prst="roundRect">
            <a:avLst/>
          </a:prstGeom>
          <a:solidFill>
            <a:srgbClr val="F7F8FB"/>
          </a:solidFill>
          <a:ln w="9000">
            <a:solidFill>
              <a:srgbClr val="D3D8E2"/>
            </a:solidFill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55" name="Accent 36">
            <a:extLst>
              <a:ext uri="{FF2B5EF4-FFF2-40B4-BE49-F238E27FC236}">
                <a16:creationId xmlns:a16="http://schemas.microsoft.com/office/drawing/2014/main" id="{430632C7-A020-5DEC-E8C1-0A93CEB6036E}"/>
              </a:ext>
            </a:extLst>
          </p:cNvPr>
          <p:cNvSpPr/>
          <p:nvPr/>
        </p:nvSpPr>
        <p:spPr>
          <a:xfrm>
            <a:off x="2660386" y="4670742"/>
            <a:ext cx="45719" cy="1436125"/>
          </a:xfrm>
          <a:prstGeom prst="rect">
            <a:avLst/>
          </a:prstGeom>
          <a:solidFill>
            <a:srgbClr val="20135A"/>
          </a:solidFill>
          <a:ln>
            <a:noFill/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57" name="TextBox 37">
            <a:extLst>
              <a:ext uri="{FF2B5EF4-FFF2-40B4-BE49-F238E27FC236}">
                <a16:creationId xmlns:a16="http://schemas.microsoft.com/office/drawing/2014/main" id="{DE44B516-3104-5D0F-1F1A-1B9B22006C9A}"/>
              </a:ext>
            </a:extLst>
          </p:cNvPr>
          <p:cNvSpPr txBox="1"/>
          <p:nvPr/>
        </p:nvSpPr>
        <p:spPr>
          <a:xfrm>
            <a:off x="2824978" y="4780471"/>
            <a:ext cx="1873831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92500" lnSpcReduction="20000"/>
          </a:bodyPr>
          <a:lstStyle/>
          <a:p>
            <a:pPr algn="l">
              <a:spcAft>
                <a:spcPts val="300"/>
              </a:spcAft>
            </a:pPr>
            <a:r>
              <a:rPr lang="vi-VN" sz="16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Nguyên tắc an toàn</a:t>
            </a:r>
          </a:p>
        </p:txBody>
      </p:sp>
      <p:sp>
        <p:nvSpPr>
          <p:cNvPr id="59" name="TextBox 38">
            <a:extLst>
              <a:ext uri="{FF2B5EF4-FFF2-40B4-BE49-F238E27FC236}">
                <a16:creationId xmlns:a16="http://schemas.microsoft.com/office/drawing/2014/main" id="{BD1206A6-1158-436D-F59B-E1EF31777B88}"/>
              </a:ext>
            </a:extLst>
          </p:cNvPr>
          <p:cNvSpPr txBox="1"/>
          <p:nvPr/>
        </p:nvSpPr>
        <p:spPr>
          <a:xfrm>
            <a:off x="2824978" y="5146231"/>
            <a:ext cx="6228962" cy="96063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Tool schema khai báo rõ kiểu và tham số bắt buộc.</a:t>
            </a:r>
          </a:p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Không nhận user_id, role hoặc venue ownership từ LLM; backend lấy từ JWT/context.</a:t>
            </a:r>
          </a:p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Tool trả lỗi nghiệp vụ để LLM diễn giải và đề xuất lựa chọn hợp lệ.</a:t>
            </a:r>
          </a:p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Hành động order/booking có guard xác nhận và metadata có cấu trúc cho Flutter.</a:t>
            </a:r>
          </a:p>
        </p:txBody>
      </p:sp>
      <p:sp>
        <p:nvSpPr>
          <p:cNvPr id="61" name="Shape 40">
            <a:extLst>
              <a:ext uri="{FF2B5EF4-FFF2-40B4-BE49-F238E27FC236}">
                <a16:creationId xmlns:a16="http://schemas.microsoft.com/office/drawing/2014/main" id="{B0350428-DC9B-B1EC-535C-5F97F295FF43}"/>
              </a:ext>
            </a:extLst>
          </p:cNvPr>
          <p:cNvSpPr/>
          <p:nvPr/>
        </p:nvSpPr>
        <p:spPr>
          <a:xfrm>
            <a:off x="956928" y="1230558"/>
            <a:ext cx="73152" cy="502920"/>
          </a:xfrm>
          <a:prstGeom prst="rect">
            <a:avLst/>
          </a:prstGeom>
          <a:solidFill>
            <a:srgbClr val="F2C94C"/>
          </a:solidFill>
          <a:ln>
            <a:noFill/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63" name="TextBox 41">
            <a:extLst>
              <a:ext uri="{FF2B5EF4-FFF2-40B4-BE49-F238E27FC236}">
                <a16:creationId xmlns:a16="http://schemas.microsoft.com/office/drawing/2014/main" id="{EFF66904-BC82-B3E5-BEC8-AD614758C2A8}"/>
              </a:ext>
            </a:extLst>
          </p:cNvPr>
          <p:cNvSpPr txBox="1"/>
          <p:nvPr/>
        </p:nvSpPr>
        <p:spPr>
          <a:xfrm>
            <a:off x="1039224" y="1230558"/>
            <a:ext cx="101498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lnSpcReduction="10000"/>
          </a:bodyPr>
          <a:lstStyle/>
          <a:p>
            <a:pPr algn="l">
              <a:spcAft>
                <a:spcPts val="300"/>
              </a:spcAft>
            </a:pPr>
            <a:r>
              <a:rPr lang="vi-VN" sz="28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Tool Registry của AI Agent</a:t>
            </a:r>
          </a:p>
        </p:txBody>
      </p:sp>
    </p:spTree>
    <p:extLst>
      <p:ext uri="{BB962C8B-B14F-4D97-AF65-F5344CB8AC3E}">
        <p14:creationId xmlns:p14="http://schemas.microsoft.com/office/powerpoint/2010/main" val="37218290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99B5D-E91D-176F-0BFD-42F2A1F82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717E2E-EC4B-617E-CE65-77C365BEF74F}"/>
              </a:ext>
            </a:extLst>
          </p:cNvPr>
          <p:cNvSpPr txBox="1"/>
          <p:nvPr/>
        </p:nvSpPr>
        <p:spPr>
          <a:xfrm>
            <a:off x="1950719" y="356486"/>
            <a:ext cx="8290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>
                <a:solidFill>
                  <a:schemeClr val="bg1"/>
                </a:solidFill>
                <a:latin typeface="+mj-lt"/>
              </a:rPr>
              <a:t>ĐẠI HỌC GIAO THÔNG VẬN TẢI PHÂN HIỆ</a:t>
            </a:r>
            <a:r>
              <a:rPr lang="en-US" altLang="vi-VN" b="1" dirty="0">
                <a:solidFill>
                  <a:schemeClr val="bg1"/>
                </a:solidFill>
                <a:latin typeface="+mj-lt"/>
              </a:rPr>
              <a:t>U</a:t>
            </a:r>
            <a:r>
              <a:rPr lang="vi-VN" b="1" dirty="0">
                <a:solidFill>
                  <a:schemeClr val="bg1"/>
                </a:solidFill>
                <a:latin typeface="+mj-lt"/>
              </a:rPr>
              <a:t> THÀNH PHỐ HỒ CHÍ MINH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723E76-1E3D-5F8F-4C4B-568EA7637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FCFE7-4CFC-4698-A5C8-57D6C94FD847}" type="slidenum">
              <a:rPr lang="en-US" smtClean="0"/>
              <a:t>14</a:t>
            </a:fld>
            <a:endParaRPr lang="en-US"/>
          </a:p>
        </p:txBody>
      </p:sp>
      <p:sp>
        <p:nvSpPr>
          <p:cNvPr id="4" name="Card 11">
            <a:extLst>
              <a:ext uri="{FF2B5EF4-FFF2-40B4-BE49-F238E27FC236}">
                <a16:creationId xmlns:a16="http://schemas.microsoft.com/office/drawing/2014/main" id="{A98CAE26-33F3-0E6C-13FB-3338425A16FA}"/>
              </a:ext>
            </a:extLst>
          </p:cNvPr>
          <p:cNvSpPr/>
          <p:nvPr/>
        </p:nvSpPr>
        <p:spPr>
          <a:xfrm>
            <a:off x="1087791" y="2068384"/>
            <a:ext cx="5257800" cy="2011680"/>
          </a:xfrm>
          <a:prstGeom prst="roundRect">
            <a:avLst/>
          </a:prstGeom>
          <a:solidFill>
            <a:srgbClr val="F7F8FB"/>
          </a:solidFill>
          <a:ln w="9000">
            <a:solidFill>
              <a:srgbClr val="D3D8E2"/>
            </a:solidFill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6" name="Accent 12">
            <a:extLst>
              <a:ext uri="{FF2B5EF4-FFF2-40B4-BE49-F238E27FC236}">
                <a16:creationId xmlns:a16="http://schemas.microsoft.com/office/drawing/2014/main" id="{AD597784-A4EC-4D3D-A75C-678BA85838E7}"/>
              </a:ext>
            </a:extLst>
          </p:cNvPr>
          <p:cNvSpPr/>
          <p:nvPr/>
        </p:nvSpPr>
        <p:spPr>
          <a:xfrm>
            <a:off x="1087791" y="2068384"/>
            <a:ext cx="64008" cy="20116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9" name="TextBox 13">
            <a:extLst>
              <a:ext uri="{FF2B5EF4-FFF2-40B4-BE49-F238E27FC236}">
                <a16:creationId xmlns:a16="http://schemas.microsoft.com/office/drawing/2014/main" id="{1EFDDDDE-BAEC-BA36-F8CC-79E20261474D}"/>
              </a:ext>
            </a:extLst>
          </p:cNvPr>
          <p:cNvSpPr txBox="1"/>
          <p:nvPr/>
        </p:nvSpPr>
        <p:spPr>
          <a:xfrm>
            <a:off x="1252383" y="2178112"/>
            <a:ext cx="49834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92500" lnSpcReduction="20000"/>
          </a:bodyPr>
          <a:lstStyle/>
          <a:p>
            <a:pPr algn="l">
              <a:spcAft>
                <a:spcPts val="300"/>
              </a:spcAft>
            </a:pPr>
            <a:r>
              <a:rPr lang="vi-VN" sz="1600" b="1" dirty="0">
                <a:solidFill>
                  <a:srgbClr val="0F766E"/>
                </a:solidFill>
                <a:latin typeface="+mj-lt"/>
                <a:ea typeface="Arial"/>
                <a:cs typeface="Arial"/>
              </a:rPr>
              <a:t>Đặt sân</a:t>
            </a:r>
          </a:p>
        </p:txBody>
      </p:sp>
      <p:sp>
        <p:nvSpPr>
          <p:cNvPr id="11" name="TextBox 14">
            <a:extLst>
              <a:ext uri="{FF2B5EF4-FFF2-40B4-BE49-F238E27FC236}">
                <a16:creationId xmlns:a16="http://schemas.microsoft.com/office/drawing/2014/main" id="{1B102541-9F51-1D96-67C7-417453F96898}"/>
              </a:ext>
            </a:extLst>
          </p:cNvPr>
          <p:cNvSpPr txBox="1"/>
          <p:nvPr/>
        </p:nvSpPr>
        <p:spPr>
          <a:xfrm>
            <a:off x="1252383" y="2543872"/>
            <a:ext cx="4983480" cy="144475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Thu thập loại sân, ngày giờ bắt đầu, thời lượng và số sân/bàn.</a:t>
            </a:r>
          </a:p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Nếu venue chỉ có một loại sân, Agent không hỏi lại môn.</a:t>
            </a:r>
          </a:p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Khi đủ dữ liệu: gọi book_court, service kiểm tra trùng lịch và ghi PostgreSQL.</a:t>
            </a:r>
          </a:p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Nếu kín lịch: tool gợi ý sân/giờ khác thay vì LLM tự trả lời.</a:t>
            </a:r>
          </a:p>
        </p:txBody>
      </p:sp>
      <p:sp>
        <p:nvSpPr>
          <p:cNvPr id="13" name="Card 15">
            <a:extLst>
              <a:ext uri="{FF2B5EF4-FFF2-40B4-BE49-F238E27FC236}">
                <a16:creationId xmlns:a16="http://schemas.microsoft.com/office/drawing/2014/main" id="{3A0E759D-21CD-6AE6-670B-880B6C2CFB72}"/>
              </a:ext>
            </a:extLst>
          </p:cNvPr>
          <p:cNvSpPr/>
          <p:nvPr/>
        </p:nvSpPr>
        <p:spPr>
          <a:xfrm>
            <a:off x="6574191" y="2068384"/>
            <a:ext cx="5029200" cy="2011680"/>
          </a:xfrm>
          <a:prstGeom prst="roundRect">
            <a:avLst/>
          </a:prstGeom>
          <a:solidFill>
            <a:srgbClr val="F7F8FB"/>
          </a:solidFill>
          <a:ln w="9000">
            <a:solidFill>
              <a:srgbClr val="D3D8E2"/>
            </a:solidFill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15" name="Accent 16">
            <a:extLst>
              <a:ext uri="{FF2B5EF4-FFF2-40B4-BE49-F238E27FC236}">
                <a16:creationId xmlns:a16="http://schemas.microsoft.com/office/drawing/2014/main" id="{6ED14DC0-CDEB-5BF6-DC50-DDC35E304CEB}"/>
              </a:ext>
            </a:extLst>
          </p:cNvPr>
          <p:cNvSpPr/>
          <p:nvPr/>
        </p:nvSpPr>
        <p:spPr>
          <a:xfrm>
            <a:off x="6574191" y="2068384"/>
            <a:ext cx="64008" cy="20116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9E285048-2C47-B796-160B-9D70CE9B584C}"/>
              </a:ext>
            </a:extLst>
          </p:cNvPr>
          <p:cNvSpPr txBox="1"/>
          <p:nvPr/>
        </p:nvSpPr>
        <p:spPr>
          <a:xfrm>
            <a:off x="6738783" y="2178112"/>
            <a:ext cx="47548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92500" lnSpcReduction="20000"/>
          </a:bodyPr>
          <a:lstStyle/>
          <a:p>
            <a:pPr algn="l">
              <a:spcAft>
                <a:spcPts val="300"/>
              </a:spcAft>
            </a:pPr>
            <a:r>
              <a:rPr lang="vi-VN" sz="1600" b="1" dirty="0">
                <a:solidFill>
                  <a:srgbClr val="B45309"/>
                </a:solidFill>
                <a:latin typeface="+mj-lt"/>
                <a:ea typeface="Arial"/>
                <a:cs typeface="Arial"/>
              </a:rPr>
              <a:t>Đặt món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5E08C8-1B77-44D6-3C75-BC2BA6B685EA}"/>
              </a:ext>
            </a:extLst>
          </p:cNvPr>
          <p:cNvSpPr txBox="1"/>
          <p:nvPr/>
        </p:nvSpPr>
        <p:spPr>
          <a:xfrm>
            <a:off x="6738783" y="2543872"/>
            <a:ext cx="4754880" cy="144475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92500"/>
          </a:bodyPr>
          <a:lstStyle/>
          <a:p>
            <a:pPr algn="l">
              <a:spcAft>
                <a:spcPts val="300"/>
              </a:spcAft>
            </a:pPr>
            <a:r>
              <a:rPr lang="vi-VN" sz="13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Agent nhận món và số lượng, sau đó bắt buộc hỏi ghi chú/yêu cầu đặc biệt.</a:t>
            </a:r>
          </a:p>
          <a:p>
            <a:pPr algn="l">
              <a:spcAft>
                <a:spcPts val="300"/>
              </a:spcAft>
            </a:pPr>
            <a:r>
              <a:rPr lang="vi-VN" sz="13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Tóm tắt món + ghi chú và xin xác nhận trước khi gọi order_menu_items.</a:t>
            </a:r>
          </a:p>
          <a:p>
            <a:pPr algn="l">
              <a:spcAft>
                <a:spcPts val="300"/>
              </a:spcAft>
            </a:pPr>
            <a:r>
              <a:rPr lang="vi-VN" sz="13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OrderService liên kết active booking nếu có, tính tổng tiền và tạo metadata.</a:t>
            </a:r>
          </a:p>
          <a:p>
            <a:pPr algn="l">
              <a:spcAft>
                <a:spcPts val="300"/>
              </a:spcAft>
            </a:pPr>
            <a:r>
              <a:rPr lang="vi-VN" sz="13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Flutter hiển thị order card và trạng thái thanh toán từ metadata.</a:t>
            </a: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452C548E-96D5-5B6E-304B-D14D95C8C897}"/>
              </a:ext>
            </a:extLst>
          </p:cNvPr>
          <p:cNvSpPr/>
          <p:nvPr/>
        </p:nvSpPr>
        <p:spPr>
          <a:xfrm>
            <a:off x="1224951" y="4628704"/>
            <a:ext cx="1755648" cy="621792"/>
          </a:xfrm>
          <a:prstGeom prst="roundRect">
            <a:avLst/>
          </a:prstGeom>
          <a:solidFill>
            <a:srgbClr val="EEF2FF"/>
          </a:solidFill>
          <a:ln w="10000">
            <a:solidFill>
              <a:srgbClr val="C7D2FE"/>
            </a:solidFill>
          </a:ln>
        </p:spPr>
        <p:txBody>
          <a:bodyPr/>
          <a:lstStyle/>
          <a:p>
            <a:pPr algn="ctr"/>
            <a:endParaRPr sz="1400">
              <a:latin typeface="+mj-lt"/>
            </a:endParaRPr>
          </a:p>
        </p:txBody>
      </p:sp>
      <p:sp>
        <p:nvSpPr>
          <p:cNvPr id="23" name="TextBox 20">
            <a:extLst>
              <a:ext uri="{FF2B5EF4-FFF2-40B4-BE49-F238E27FC236}">
                <a16:creationId xmlns:a16="http://schemas.microsoft.com/office/drawing/2014/main" id="{8E091B86-5879-9003-2830-1F102121FD76}"/>
              </a:ext>
            </a:extLst>
          </p:cNvPr>
          <p:cNvSpPr txBox="1"/>
          <p:nvPr/>
        </p:nvSpPr>
        <p:spPr>
          <a:xfrm>
            <a:off x="1298103" y="4756720"/>
            <a:ext cx="1609344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>
              <a:spcAft>
                <a:spcPts val="300"/>
              </a:spcAft>
            </a:pPr>
            <a:r>
              <a:rPr lang="vi-VN" sz="14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User nói tự nhiên</a:t>
            </a:r>
          </a:p>
        </p:txBody>
      </p:sp>
      <p:sp>
        <p:nvSpPr>
          <p:cNvPr id="25" name="TextBox 21">
            <a:extLst>
              <a:ext uri="{FF2B5EF4-FFF2-40B4-BE49-F238E27FC236}">
                <a16:creationId xmlns:a16="http://schemas.microsoft.com/office/drawing/2014/main" id="{B86609E3-0663-BDF2-0EC5-CB2048CC6BC4}"/>
              </a:ext>
            </a:extLst>
          </p:cNvPr>
          <p:cNvSpPr txBox="1"/>
          <p:nvPr/>
        </p:nvSpPr>
        <p:spPr>
          <a:xfrm>
            <a:off x="3026319" y="4793296"/>
            <a:ext cx="292608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vi-VN" sz="1400" b="1" dirty="0">
                <a:solidFill>
                  <a:srgbClr val="64748B"/>
                </a:solidFill>
                <a:latin typeface="+mj-lt"/>
                <a:ea typeface="Arial"/>
                <a:cs typeface="Arial"/>
              </a:rPr>
              <a:t>→</a:t>
            </a: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45BCB85E-1E1F-0EAA-AFC2-2F9B529890FF}"/>
              </a:ext>
            </a:extLst>
          </p:cNvPr>
          <p:cNvSpPr/>
          <p:nvPr/>
        </p:nvSpPr>
        <p:spPr>
          <a:xfrm>
            <a:off x="3364647" y="4628704"/>
            <a:ext cx="1755648" cy="621792"/>
          </a:xfrm>
          <a:prstGeom prst="roundRect">
            <a:avLst/>
          </a:prstGeom>
          <a:solidFill>
            <a:srgbClr val="EEF2FF"/>
          </a:solidFill>
          <a:ln w="10000">
            <a:solidFill>
              <a:srgbClr val="C7D2FE"/>
            </a:solidFill>
          </a:ln>
        </p:spPr>
        <p:txBody>
          <a:bodyPr/>
          <a:lstStyle/>
          <a:p>
            <a:pPr algn="ctr"/>
            <a:endParaRPr sz="1400">
              <a:latin typeface="+mj-lt"/>
            </a:endParaRPr>
          </a:p>
        </p:txBody>
      </p:sp>
      <p:sp>
        <p:nvSpPr>
          <p:cNvPr id="29" name="TextBox 23">
            <a:extLst>
              <a:ext uri="{FF2B5EF4-FFF2-40B4-BE49-F238E27FC236}">
                <a16:creationId xmlns:a16="http://schemas.microsoft.com/office/drawing/2014/main" id="{FD9B173D-A3B6-2512-3E9F-4EC3CBD8E72B}"/>
              </a:ext>
            </a:extLst>
          </p:cNvPr>
          <p:cNvSpPr txBox="1"/>
          <p:nvPr/>
        </p:nvSpPr>
        <p:spPr>
          <a:xfrm>
            <a:off x="3437799" y="4756720"/>
            <a:ext cx="1609344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vi-VN" sz="14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Context enrichment</a:t>
            </a:r>
          </a:p>
        </p:txBody>
      </p:sp>
      <p:sp>
        <p:nvSpPr>
          <p:cNvPr id="31" name="TextBox 24">
            <a:extLst>
              <a:ext uri="{FF2B5EF4-FFF2-40B4-BE49-F238E27FC236}">
                <a16:creationId xmlns:a16="http://schemas.microsoft.com/office/drawing/2014/main" id="{5047AA95-5DFD-99D1-5476-FCB7977063A9}"/>
              </a:ext>
            </a:extLst>
          </p:cNvPr>
          <p:cNvSpPr txBox="1"/>
          <p:nvPr/>
        </p:nvSpPr>
        <p:spPr>
          <a:xfrm>
            <a:off x="5166015" y="4793296"/>
            <a:ext cx="292608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vi-VN" sz="1400" b="1" dirty="0">
                <a:solidFill>
                  <a:srgbClr val="64748B"/>
                </a:solidFill>
                <a:latin typeface="+mj-lt"/>
                <a:ea typeface="Arial"/>
                <a:cs typeface="Arial"/>
              </a:rPr>
              <a:t>→</a:t>
            </a:r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137C013A-C8BC-E7D6-99CC-3F4DFFC0C216}"/>
              </a:ext>
            </a:extLst>
          </p:cNvPr>
          <p:cNvSpPr/>
          <p:nvPr/>
        </p:nvSpPr>
        <p:spPr>
          <a:xfrm>
            <a:off x="5504343" y="4628704"/>
            <a:ext cx="1755648" cy="621792"/>
          </a:xfrm>
          <a:prstGeom prst="roundRect">
            <a:avLst/>
          </a:prstGeom>
          <a:solidFill>
            <a:srgbClr val="EEF2FF"/>
          </a:solidFill>
          <a:ln w="10000">
            <a:solidFill>
              <a:srgbClr val="C7D2FE"/>
            </a:solidFill>
          </a:ln>
        </p:spPr>
        <p:txBody>
          <a:bodyPr/>
          <a:lstStyle/>
          <a:p>
            <a:pPr algn="ctr"/>
            <a:endParaRPr sz="1400">
              <a:latin typeface="+mj-lt"/>
            </a:endParaRPr>
          </a:p>
        </p:txBody>
      </p:sp>
      <p:sp>
        <p:nvSpPr>
          <p:cNvPr id="35" name="TextBox 26">
            <a:extLst>
              <a:ext uri="{FF2B5EF4-FFF2-40B4-BE49-F238E27FC236}">
                <a16:creationId xmlns:a16="http://schemas.microsoft.com/office/drawing/2014/main" id="{237BB4C5-F9B7-637C-9785-39CCC51B480C}"/>
              </a:ext>
            </a:extLst>
          </p:cNvPr>
          <p:cNvSpPr txBox="1"/>
          <p:nvPr/>
        </p:nvSpPr>
        <p:spPr>
          <a:xfrm>
            <a:off x="5577495" y="4756720"/>
            <a:ext cx="1609344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>
              <a:spcAft>
                <a:spcPts val="300"/>
              </a:spcAft>
            </a:pPr>
            <a:r>
              <a:rPr lang="vi-VN" sz="14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LLM chọn tool</a:t>
            </a:r>
          </a:p>
        </p:txBody>
      </p:sp>
      <p:sp>
        <p:nvSpPr>
          <p:cNvPr id="37" name="TextBox 27">
            <a:extLst>
              <a:ext uri="{FF2B5EF4-FFF2-40B4-BE49-F238E27FC236}">
                <a16:creationId xmlns:a16="http://schemas.microsoft.com/office/drawing/2014/main" id="{B7FD9D14-5DF1-6FA3-4D21-DCC0229A8C1F}"/>
              </a:ext>
            </a:extLst>
          </p:cNvPr>
          <p:cNvSpPr txBox="1"/>
          <p:nvPr/>
        </p:nvSpPr>
        <p:spPr>
          <a:xfrm>
            <a:off x="7305711" y="4793296"/>
            <a:ext cx="292608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vi-VN" sz="1400" b="1" dirty="0">
                <a:solidFill>
                  <a:srgbClr val="64748B"/>
                </a:solidFill>
                <a:latin typeface="+mj-lt"/>
                <a:ea typeface="Arial"/>
                <a:cs typeface="Arial"/>
              </a:rPr>
              <a:t>→</a:t>
            </a:r>
          </a:p>
        </p:txBody>
      </p:sp>
      <p:sp>
        <p:nvSpPr>
          <p:cNvPr id="39" name="Shape 28">
            <a:extLst>
              <a:ext uri="{FF2B5EF4-FFF2-40B4-BE49-F238E27FC236}">
                <a16:creationId xmlns:a16="http://schemas.microsoft.com/office/drawing/2014/main" id="{22840CEE-F93F-0E4B-D1A2-0586B532322A}"/>
              </a:ext>
            </a:extLst>
          </p:cNvPr>
          <p:cNvSpPr/>
          <p:nvPr/>
        </p:nvSpPr>
        <p:spPr>
          <a:xfrm>
            <a:off x="7644039" y="4628704"/>
            <a:ext cx="1755648" cy="621792"/>
          </a:xfrm>
          <a:prstGeom prst="roundRect">
            <a:avLst/>
          </a:prstGeom>
          <a:solidFill>
            <a:srgbClr val="EEF2FF"/>
          </a:solidFill>
          <a:ln w="10000">
            <a:solidFill>
              <a:srgbClr val="C7D2FE"/>
            </a:solidFill>
          </a:ln>
        </p:spPr>
        <p:txBody>
          <a:bodyPr/>
          <a:lstStyle/>
          <a:p>
            <a:pPr algn="ctr"/>
            <a:endParaRPr sz="1400">
              <a:latin typeface="+mj-lt"/>
            </a:endParaRPr>
          </a:p>
        </p:txBody>
      </p:sp>
      <p:sp>
        <p:nvSpPr>
          <p:cNvPr id="41" name="TextBox 29">
            <a:extLst>
              <a:ext uri="{FF2B5EF4-FFF2-40B4-BE49-F238E27FC236}">
                <a16:creationId xmlns:a16="http://schemas.microsoft.com/office/drawing/2014/main" id="{5B914C9B-EE3F-68CE-0969-BC072345473C}"/>
              </a:ext>
            </a:extLst>
          </p:cNvPr>
          <p:cNvSpPr txBox="1"/>
          <p:nvPr/>
        </p:nvSpPr>
        <p:spPr>
          <a:xfrm>
            <a:off x="7717191" y="4756720"/>
            <a:ext cx="1609344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>
              <a:spcAft>
                <a:spcPts val="300"/>
              </a:spcAft>
            </a:pPr>
            <a:r>
              <a:rPr lang="vi-VN" sz="14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Service xử lý</a:t>
            </a:r>
          </a:p>
        </p:txBody>
      </p:sp>
      <p:sp>
        <p:nvSpPr>
          <p:cNvPr id="43" name="TextBox 30">
            <a:extLst>
              <a:ext uri="{FF2B5EF4-FFF2-40B4-BE49-F238E27FC236}">
                <a16:creationId xmlns:a16="http://schemas.microsoft.com/office/drawing/2014/main" id="{8D2B3CFE-9A3A-795D-09B7-F2043C14781C}"/>
              </a:ext>
            </a:extLst>
          </p:cNvPr>
          <p:cNvSpPr txBox="1"/>
          <p:nvPr/>
        </p:nvSpPr>
        <p:spPr>
          <a:xfrm>
            <a:off x="9445407" y="4793296"/>
            <a:ext cx="292608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lang="vi-VN" sz="1400" b="1" dirty="0">
                <a:solidFill>
                  <a:srgbClr val="64748B"/>
                </a:solidFill>
                <a:latin typeface="+mj-lt"/>
                <a:ea typeface="Arial"/>
                <a:cs typeface="Arial"/>
              </a:rPr>
              <a:t>→</a:t>
            </a:r>
          </a:p>
        </p:txBody>
      </p:sp>
      <p:sp>
        <p:nvSpPr>
          <p:cNvPr id="45" name="Shape 31">
            <a:extLst>
              <a:ext uri="{FF2B5EF4-FFF2-40B4-BE49-F238E27FC236}">
                <a16:creationId xmlns:a16="http://schemas.microsoft.com/office/drawing/2014/main" id="{489DF8F8-37E4-E111-5D8B-ECF880B18CE6}"/>
              </a:ext>
            </a:extLst>
          </p:cNvPr>
          <p:cNvSpPr/>
          <p:nvPr/>
        </p:nvSpPr>
        <p:spPr>
          <a:xfrm>
            <a:off x="9783735" y="4628704"/>
            <a:ext cx="1755648" cy="621792"/>
          </a:xfrm>
          <a:prstGeom prst="roundRect">
            <a:avLst/>
          </a:prstGeom>
          <a:solidFill>
            <a:srgbClr val="EEF2FF"/>
          </a:solidFill>
          <a:ln w="10000">
            <a:solidFill>
              <a:srgbClr val="C7D2FE"/>
            </a:solidFill>
          </a:ln>
        </p:spPr>
        <p:txBody>
          <a:bodyPr/>
          <a:lstStyle/>
          <a:p>
            <a:pPr algn="ctr"/>
            <a:endParaRPr sz="1400">
              <a:latin typeface="+mj-lt"/>
            </a:endParaRPr>
          </a:p>
        </p:txBody>
      </p:sp>
      <p:sp>
        <p:nvSpPr>
          <p:cNvPr id="47" name="TextBox 32">
            <a:extLst>
              <a:ext uri="{FF2B5EF4-FFF2-40B4-BE49-F238E27FC236}">
                <a16:creationId xmlns:a16="http://schemas.microsoft.com/office/drawing/2014/main" id="{008B5CC5-5C03-3D8B-4A4E-7EF5E58C6E89}"/>
              </a:ext>
            </a:extLst>
          </p:cNvPr>
          <p:cNvSpPr txBox="1"/>
          <p:nvPr/>
        </p:nvSpPr>
        <p:spPr>
          <a:xfrm>
            <a:off x="9856887" y="4756720"/>
            <a:ext cx="1609344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ctr">
              <a:spcAft>
                <a:spcPts val="300"/>
              </a:spcAft>
            </a:pPr>
            <a:r>
              <a:rPr lang="vi-VN" sz="14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Metadata/UI card</a:t>
            </a:r>
          </a:p>
        </p:txBody>
      </p:sp>
      <p:sp>
        <p:nvSpPr>
          <p:cNvPr id="49" name="TextBox 33">
            <a:extLst>
              <a:ext uri="{FF2B5EF4-FFF2-40B4-BE49-F238E27FC236}">
                <a16:creationId xmlns:a16="http://schemas.microsoft.com/office/drawing/2014/main" id="{7FCC3A43-6D18-412E-57CC-003CD61589F7}"/>
              </a:ext>
            </a:extLst>
          </p:cNvPr>
          <p:cNvSpPr txBox="1"/>
          <p:nvPr/>
        </p:nvSpPr>
        <p:spPr>
          <a:xfrm>
            <a:off x="1179231" y="5607112"/>
            <a:ext cx="6791577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lnSpcReduction="10000"/>
          </a:bodyPr>
          <a:lstStyle/>
          <a:p>
            <a:pPr algn="l">
              <a:spcAft>
                <a:spcPts val="300"/>
              </a:spcAft>
            </a:pPr>
            <a:r>
              <a:rPr lang="vi-VN" sz="14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Ví dụ demo: “Mai 19h đặt bàn bida bất kỳ 2 tiếng” hoặc “Cho tôi 2 cà phê sữa ít đá”.</a:t>
            </a:r>
          </a:p>
        </p:txBody>
      </p:sp>
      <p:sp>
        <p:nvSpPr>
          <p:cNvPr id="51" name="Shape 35">
            <a:extLst>
              <a:ext uri="{FF2B5EF4-FFF2-40B4-BE49-F238E27FC236}">
                <a16:creationId xmlns:a16="http://schemas.microsoft.com/office/drawing/2014/main" id="{A38FFDE3-FC3E-95DD-D634-A142247B6566}"/>
              </a:ext>
            </a:extLst>
          </p:cNvPr>
          <p:cNvSpPr/>
          <p:nvPr/>
        </p:nvSpPr>
        <p:spPr>
          <a:xfrm>
            <a:off x="1051215" y="1291144"/>
            <a:ext cx="73152" cy="502920"/>
          </a:xfrm>
          <a:prstGeom prst="rect">
            <a:avLst/>
          </a:prstGeom>
          <a:solidFill>
            <a:srgbClr val="F2C94C"/>
          </a:solidFill>
          <a:ln>
            <a:noFill/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53" name="TextBox 36">
            <a:extLst>
              <a:ext uri="{FF2B5EF4-FFF2-40B4-BE49-F238E27FC236}">
                <a16:creationId xmlns:a16="http://schemas.microsoft.com/office/drawing/2014/main" id="{B11BEEA4-7CC6-5973-236E-3E2D05D95769}"/>
              </a:ext>
            </a:extLst>
          </p:cNvPr>
          <p:cNvSpPr txBox="1"/>
          <p:nvPr/>
        </p:nvSpPr>
        <p:spPr>
          <a:xfrm>
            <a:off x="1087791" y="1291144"/>
            <a:ext cx="6025896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lnSpcReduction="10000"/>
          </a:bodyPr>
          <a:lstStyle/>
          <a:p>
            <a:pPr algn="l">
              <a:spcAft>
                <a:spcPts val="300"/>
              </a:spcAft>
            </a:pPr>
            <a:r>
              <a:rPr lang="vi-VN" sz="28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Luồng hội thoại nghiệp vụ qua Agent</a:t>
            </a:r>
          </a:p>
        </p:txBody>
      </p:sp>
    </p:spTree>
    <p:extLst>
      <p:ext uri="{BB962C8B-B14F-4D97-AF65-F5344CB8AC3E}">
        <p14:creationId xmlns:p14="http://schemas.microsoft.com/office/powerpoint/2010/main" val="8102945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0EB9F-CEB0-F373-D950-619F70CB3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7E9EC0-DDDD-8410-83AA-B82E6A161935}"/>
              </a:ext>
            </a:extLst>
          </p:cNvPr>
          <p:cNvSpPr txBox="1"/>
          <p:nvPr/>
        </p:nvSpPr>
        <p:spPr>
          <a:xfrm>
            <a:off x="1950719" y="356486"/>
            <a:ext cx="8290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>
                <a:solidFill>
                  <a:schemeClr val="bg1"/>
                </a:solidFill>
                <a:latin typeface="+mj-lt"/>
              </a:rPr>
              <a:t>ĐẠI HỌC GIAO THÔNG VẬN TẢI PHÂN HIỆ</a:t>
            </a:r>
            <a:r>
              <a:rPr lang="en-US" altLang="vi-VN" b="1" dirty="0">
                <a:solidFill>
                  <a:schemeClr val="bg1"/>
                </a:solidFill>
                <a:latin typeface="+mj-lt"/>
              </a:rPr>
              <a:t>U</a:t>
            </a:r>
            <a:r>
              <a:rPr lang="vi-VN" b="1" dirty="0">
                <a:solidFill>
                  <a:schemeClr val="bg1"/>
                </a:solidFill>
                <a:latin typeface="+mj-lt"/>
              </a:rPr>
              <a:t> THÀNH PHỐ HỒ CHÍ MINH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4BCB0A4-2E67-ABC5-6644-FF7CE6822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FCFE7-4CFC-4698-A5C8-57D6C94FD847}" type="slidenum">
              <a:rPr lang="en-US" smtClean="0"/>
              <a:t>15</a:t>
            </a:fld>
            <a:endParaRPr lang="en-US"/>
          </a:p>
        </p:txBody>
      </p:sp>
      <p:sp>
        <p:nvSpPr>
          <p:cNvPr id="41" name="Card 11">
            <a:extLst>
              <a:ext uri="{FF2B5EF4-FFF2-40B4-BE49-F238E27FC236}">
                <a16:creationId xmlns:a16="http://schemas.microsoft.com/office/drawing/2014/main" id="{54F685DD-7F13-97B9-00D7-DE1B5C2898C4}"/>
              </a:ext>
            </a:extLst>
          </p:cNvPr>
          <p:cNvSpPr/>
          <p:nvPr/>
        </p:nvSpPr>
        <p:spPr>
          <a:xfrm>
            <a:off x="1070538" y="2315272"/>
            <a:ext cx="3246120" cy="1645920"/>
          </a:xfrm>
          <a:prstGeom prst="roundRect">
            <a:avLst/>
          </a:prstGeom>
          <a:solidFill>
            <a:srgbClr val="F7F8FB"/>
          </a:solidFill>
          <a:ln w="9000">
            <a:solidFill>
              <a:srgbClr val="D3D8E2"/>
            </a:solidFill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43" name="Accent 12">
            <a:extLst>
              <a:ext uri="{FF2B5EF4-FFF2-40B4-BE49-F238E27FC236}">
                <a16:creationId xmlns:a16="http://schemas.microsoft.com/office/drawing/2014/main" id="{FA926A89-A740-B161-30A9-B53B5E8D46BD}"/>
              </a:ext>
            </a:extLst>
          </p:cNvPr>
          <p:cNvSpPr/>
          <p:nvPr/>
        </p:nvSpPr>
        <p:spPr>
          <a:xfrm>
            <a:off x="1070538" y="2315272"/>
            <a:ext cx="64008" cy="16459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45" name="TextBox 13">
            <a:extLst>
              <a:ext uri="{FF2B5EF4-FFF2-40B4-BE49-F238E27FC236}">
                <a16:creationId xmlns:a16="http://schemas.microsoft.com/office/drawing/2014/main" id="{30156581-E773-77C8-2C4B-283C5BA54A90}"/>
              </a:ext>
            </a:extLst>
          </p:cNvPr>
          <p:cNvSpPr txBox="1"/>
          <p:nvPr/>
        </p:nvSpPr>
        <p:spPr>
          <a:xfrm>
            <a:off x="1235130" y="2425000"/>
            <a:ext cx="29718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92500" lnSpcReduction="20000"/>
          </a:bodyPr>
          <a:lstStyle/>
          <a:p>
            <a:pPr algn="l">
              <a:spcAft>
                <a:spcPts val="300"/>
              </a:spcAft>
            </a:pPr>
            <a:r>
              <a:rPr lang="vi-VN" sz="1600" b="1" dirty="0">
                <a:solidFill>
                  <a:srgbClr val="0F766E"/>
                </a:solidFill>
                <a:latin typeface="+mj-lt"/>
                <a:ea typeface="Arial"/>
                <a:cs typeface="Arial"/>
              </a:rPr>
              <a:t>Hiệu năng</a:t>
            </a:r>
          </a:p>
        </p:txBody>
      </p:sp>
      <p:sp>
        <p:nvSpPr>
          <p:cNvPr id="47" name="TextBox 14">
            <a:extLst>
              <a:ext uri="{FF2B5EF4-FFF2-40B4-BE49-F238E27FC236}">
                <a16:creationId xmlns:a16="http://schemas.microsoft.com/office/drawing/2014/main" id="{0F589839-3C06-25C9-AE39-44800FE73C23}"/>
              </a:ext>
            </a:extLst>
          </p:cNvPr>
          <p:cNvSpPr txBox="1"/>
          <p:nvPr/>
        </p:nvSpPr>
        <p:spPr>
          <a:xfrm>
            <a:off x="1235130" y="2790760"/>
            <a:ext cx="2971800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92500" lnSpcReduction="20000"/>
          </a:bodyPr>
          <a:lstStyle/>
          <a:p>
            <a:pPr algn="l">
              <a:spcAft>
                <a:spcPts val="300"/>
              </a:spcAft>
            </a:pPr>
            <a:r>
              <a:rPr lang="vi-VN" sz="13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Keyword-first intent routing: giảm số lần gọi embedding.</a:t>
            </a:r>
          </a:p>
          <a:p>
            <a:pPr algn="l">
              <a:spcAft>
                <a:spcPts val="300"/>
              </a:spcAft>
            </a:pPr>
            <a:r>
              <a:rPr lang="vi-VN" sz="13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Redis cache cho intent result, KG answer và vector mẫu intent.</a:t>
            </a:r>
          </a:p>
          <a:p>
            <a:pPr algn="l">
              <a:spcAft>
                <a:spcPts val="300"/>
              </a:spcAft>
            </a:pPr>
            <a:r>
              <a:rPr lang="vi-VN" sz="13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Startup chỉ sync embedding node thiếu hoặc stale, không nhúng lại toàn bộ.</a:t>
            </a:r>
          </a:p>
        </p:txBody>
      </p:sp>
      <p:sp>
        <p:nvSpPr>
          <p:cNvPr id="49" name="Card 15">
            <a:extLst>
              <a:ext uri="{FF2B5EF4-FFF2-40B4-BE49-F238E27FC236}">
                <a16:creationId xmlns:a16="http://schemas.microsoft.com/office/drawing/2014/main" id="{54B52F50-D982-3306-E071-BAD1CA8E4FC9}"/>
              </a:ext>
            </a:extLst>
          </p:cNvPr>
          <p:cNvSpPr/>
          <p:nvPr/>
        </p:nvSpPr>
        <p:spPr>
          <a:xfrm>
            <a:off x="4545258" y="2315272"/>
            <a:ext cx="3154680" cy="1645920"/>
          </a:xfrm>
          <a:prstGeom prst="roundRect">
            <a:avLst/>
          </a:prstGeom>
          <a:solidFill>
            <a:srgbClr val="F7F8FB"/>
          </a:solidFill>
          <a:ln w="9000">
            <a:solidFill>
              <a:srgbClr val="D3D8E2"/>
            </a:solidFill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51" name="Accent 16">
            <a:extLst>
              <a:ext uri="{FF2B5EF4-FFF2-40B4-BE49-F238E27FC236}">
                <a16:creationId xmlns:a16="http://schemas.microsoft.com/office/drawing/2014/main" id="{E420625E-7FE9-BAE0-01DF-4D469E994226}"/>
              </a:ext>
            </a:extLst>
          </p:cNvPr>
          <p:cNvSpPr/>
          <p:nvPr/>
        </p:nvSpPr>
        <p:spPr>
          <a:xfrm>
            <a:off x="4545258" y="2315272"/>
            <a:ext cx="64008" cy="1645920"/>
          </a:xfrm>
          <a:prstGeom prst="rect">
            <a:avLst/>
          </a:prstGeom>
          <a:solidFill>
            <a:srgbClr val="20135A"/>
          </a:solidFill>
          <a:ln>
            <a:noFill/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53" name="TextBox 17">
            <a:extLst>
              <a:ext uri="{FF2B5EF4-FFF2-40B4-BE49-F238E27FC236}">
                <a16:creationId xmlns:a16="http://schemas.microsoft.com/office/drawing/2014/main" id="{CE0A776D-02A1-6BEF-FC28-D865F580E38E}"/>
              </a:ext>
            </a:extLst>
          </p:cNvPr>
          <p:cNvSpPr txBox="1"/>
          <p:nvPr/>
        </p:nvSpPr>
        <p:spPr>
          <a:xfrm>
            <a:off x="4709850" y="2425000"/>
            <a:ext cx="28803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92500" lnSpcReduction="20000"/>
          </a:bodyPr>
          <a:lstStyle/>
          <a:p>
            <a:pPr algn="l">
              <a:spcAft>
                <a:spcPts val="300"/>
              </a:spcAft>
            </a:pPr>
            <a:r>
              <a:rPr lang="vi-VN" sz="16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Trải nghiệm</a:t>
            </a:r>
          </a:p>
        </p:txBody>
      </p:sp>
      <p:sp>
        <p:nvSpPr>
          <p:cNvPr id="55" name="TextBox 18">
            <a:extLst>
              <a:ext uri="{FF2B5EF4-FFF2-40B4-BE49-F238E27FC236}">
                <a16:creationId xmlns:a16="http://schemas.microsoft.com/office/drawing/2014/main" id="{9951AB39-B986-1020-D67C-23A8E36C6DC4}"/>
              </a:ext>
            </a:extLst>
          </p:cNvPr>
          <p:cNvSpPr txBox="1"/>
          <p:nvPr/>
        </p:nvSpPr>
        <p:spPr>
          <a:xfrm>
            <a:off x="4709850" y="2790760"/>
            <a:ext cx="2880360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92500" lnSpcReduction="20000"/>
          </a:bodyPr>
          <a:lstStyle/>
          <a:p>
            <a:pPr algn="l">
              <a:spcAft>
                <a:spcPts val="300"/>
              </a:spcAft>
            </a:pPr>
            <a:r>
              <a:rPr lang="vi-VN" sz="13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SSE streaming: Flutter thấy token ngay khi LLM sinh.</a:t>
            </a:r>
          </a:p>
          <a:p>
            <a:pPr algn="l">
              <a:spcAft>
                <a:spcPts val="300"/>
              </a:spcAft>
            </a:pPr>
            <a:r>
              <a:rPr lang="vi-VN" sz="13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Backend gửi session_id sớm để giữ liên tục hội thoại.</a:t>
            </a:r>
          </a:p>
          <a:p>
            <a:pPr algn="l">
              <a:spcAft>
                <a:spcPts val="300"/>
              </a:spcAft>
            </a:pPr>
            <a:r>
              <a:rPr lang="vi-VN" sz="13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Metadata booking/order giúp UI hiển thị card thanh toán rõ ràng.</a:t>
            </a:r>
          </a:p>
        </p:txBody>
      </p:sp>
      <p:sp>
        <p:nvSpPr>
          <p:cNvPr id="57" name="Card 19">
            <a:extLst>
              <a:ext uri="{FF2B5EF4-FFF2-40B4-BE49-F238E27FC236}">
                <a16:creationId xmlns:a16="http://schemas.microsoft.com/office/drawing/2014/main" id="{9787C5CA-9D05-DAE9-D911-26841BE108F6}"/>
              </a:ext>
            </a:extLst>
          </p:cNvPr>
          <p:cNvSpPr/>
          <p:nvPr/>
        </p:nvSpPr>
        <p:spPr>
          <a:xfrm>
            <a:off x="7928538" y="2315272"/>
            <a:ext cx="3611880" cy="1645920"/>
          </a:xfrm>
          <a:prstGeom prst="roundRect">
            <a:avLst/>
          </a:prstGeom>
          <a:solidFill>
            <a:srgbClr val="F7F8FB"/>
          </a:solidFill>
          <a:ln w="9000">
            <a:solidFill>
              <a:srgbClr val="D3D8E2"/>
            </a:solidFill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59" name="Accent 20">
            <a:extLst>
              <a:ext uri="{FF2B5EF4-FFF2-40B4-BE49-F238E27FC236}">
                <a16:creationId xmlns:a16="http://schemas.microsoft.com/office/drawing/2014/main" id="{E7F0747D-818A-74DE-100B-DDE04308CA19}"/>
              </a:ext>
            </a:extLst>
          </p:cNvPr>
          <p:cNvSpPr/>
          <p:nvPr/>
        </p:nvSpPr>
        <p:spPr>
          <a:xfrm>
            <a:off x="7928538" y="2315272"/>
            <a:ext cx="64008" cy="16459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61" name="TextBox 21">
            <a:extLst>
              <a:ext uri="{FF2B5EF4-FFF2-40B4-BE49-F238E27FC236}">
                <a16:creationId xmlns:a16="http://schemas.microsoft.com/office/drawing/2014/main" id="{8BBBBC5D-800A-4907-8FDC-63F54AC25C86}"/>
              </a:ext>
            </a:extLst>
          </p:cNvPr>
          <p:cNvSpPr txBox="1"/>
          <p:nvPr/>
        </p:nvSpPr>
        <p:spPr>
          <a:xfrm>
            <a:off x="8093130" y="2425000"/>
            <a:ext cx="33375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92500" lnSpcReduction="20000"/>
          </a:bodyPr>
          <a:lstStyle/>
          <a:p>
            <a:pPr algn="l">
              <a:spcAft>
                <a:spcPts val="300"/>
              </a:spcAft>
            </a:pPr>
            <a:r>
              <a:rPr lang="vi-VN" sz="1600" b="1" dirty="0">
                <a:solidFill>
                  <a:srgbClr val="B45309"/>
                </a:solidFill>
                <a:latin typeface="+mj-lt"/>
                <a:ea typeface="Arial"/>
                <a:cs typeface="Arial"/>
              </a:rPr>
              <a:t>Độ tin cậy</a:t>
            </a:r>
          </a:p>
        </p:txBody>
      </p:sp>
      <p:sp>
        <p:nvSpPr>
          <p:cNvPr id="63" name="TextBox 22">
            <a:extLst>
              <a:ext uri="{FF2B5EF4-FFF2-40B4-BE49-F238E27FC236}">
                <a16:creationId xmlns:a16="http://schemas.microsoft.com/office/drawing/2014/main" id="{C1E97ADF-58EF-FDBC-50D4-D75BA4435143}"/>
              </a:ext>
            </a:extLst>
          </p:cNvPr>
          <p:cNvSpPr txBox="1"/>
          <p:nvPr/>
        </p:nvSpPr>
        <p:spPr>
          <a:xfrm>
            <a:off x="8093130" y="2790760"/>
            <a:ext cx="3337560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92500" lnSpcReduction="20000"/>
          </a:bodyPr>
          <a:lstStyle/>
          <a:p>
            <a:pPr algn="l">
              <a:spcAft>
                <a:spcPts val="300"/>
              </a:spcAft>
            </a:pPr>
            <a:r>
              <a:rPr lang="vi-VN" sz="13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Prompt cấm tự bịa giá, giờ mở cửa, số điện thoại, khuyến mãi.</a:t>
            </a:r>
          </a:p>
          <a:p>
            <a:pPr algn="l">
              <a:spcAft>
                <a:spcPts val="300"/>
              </a:spcAft>
            </a:pPr>
            <a:r>
              <a:rPr lang="vi-VN" sz="13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Dynamic query không cache để tránh trả dữ liệu cũ.</a:t>
            </a:r>
          </a:p>
          <a:p>
            <a:pPr algn="l">
              <a:spcAft>
                <a:spcPts val="300"/>
              </a:spcAft>
            </a:pPr>
            <a:r>
              <a:rPr lang="vi-VN" sz="13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Sticky fallback 24h khi provider chính gặp rate limit.</a:t>
            </a:r>
          </a:p>
        </p:txBody>
      </p:sp>
      <p:sp>
        <p:nvSpPr>
          <p:cNvPr id="65" name="Card 23">
            <a:extLst>
              <a:ext uri="{FF2B5EF4-FFF2-40B4-BE49-F238E27FC236}">
                <a16:creationId xmlns:a16="http://schemas.microsoft.com/office/drawing/2014/main" id="{BFCC2C60-810A-279A-4BEE-13203F1DA561}"/>
              </a:ext>
            </a:extLst>
          </p:cNvPr>
          <p:cNvSpPr/>
          <p:nvPr/>
        </p:nvSpPr>
        <p:spPr>
          <a:xfrm>
            <a:off x="1070538" y="4418392"/>
            <a:ext cx="10469880" cy="1447570"/>
          </a:xfrm>
          <a:prstGeom prst="roundRect">
            <a:avLst/>
          </a:prstGeom>
          <a:solidFill>
            <a:srgbClr val="F7F8FB"/>
          </a:solidFill>
          <a:ln w="9000">
            <a:solidFill>
              <a:srgbClr val="D3D8E2"/>
            </a:solidFill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67" name="Accent 24">
            <a:extLst>
              <a:ext uri="{FF2B5EF4-FFF2-40B4-BE49-F238E27FC236}">
                <a16:creationId xmlns:a16="http://schemas.microsoft.com/office/drawing/2014/main" id="{436DF1A3-6164-6C4E-C4C7-0584A336A684}"/>
              </a:ext>
            </a:extLst>
          </p:cNvPr>
          <p:cNvSpPr/>
          <p:nvPr/>
        </p:nvSpPr>
        <p:spPr>
          <a:xfrm>
            <a:off x="1070538" y="4418391"/>
            <a:ext cx="64008" cy="1447569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69" name="TextBox 25">
            <a:extLst>
              <a:ext uri="{FF2B5EF4-FFF2-40B4-BE49-F238E27FC236}">
                <a16:creationId xmlns:a16="http://schemas.microsoft.com/office/drawing/2014/main" id="{6941EB25-4BA5-E56E-BAE6-3DB9D5B5B2C4}"/>
              </a:ext>
            </a:extLst>
          </p:cNvPr>
          <p:cNvSpPr txBox="1"/>
          <p:nvPr/>
        </p:nvSpPr>
        <p:spPr>
          <a:xfrm>
            <a:off x="1235130" y="4528120"/>
            <a:ext cx="101955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92500" lnSpcReduction="20000"/>
          </a:bodyPr>
          <a:lstStyle/>
          <a:p>
            <a:pPr algn="l">
              <a:spcAft>
                <a:spcPts val="300"/>
              </a:spcAft>
            </a:pPr>
            <a:r>
              <a:rPr lang="vi-VN" sz="1600" b="1" dirty="0">
                <a:solidFill>
                  <a:srgbClr val="7C3AED"/>
                </a:solidFill>
                <a:latin typeface="+mj-lt"/>
                <a:ea typeface="Arial"/>
                <a:cs typeface="Arial"/>
              </a:rPr>
              <a:t>Các sửa lỗi kỹ thuật đã làm</a:t>
            </a:r>
          </a:p>
        </p:txBody>
      </p:sp>
      <p:sp>
        <p:nvSpPr>
          <p:cNvPr id="71" name="TextBox 26">
            <a:extLst>
              <a:ext uri="{FF2B5EF4-FFF2-40B4-BE49-F238E27FC236}">
                <a16:creationId xmlns:a16="http://schemas.microsoft.com/office/drawing/2014/main" id="{D1FF9CEC-6FCB-A094-7590-AF338D7EE25A}"/>
              </a:ext>
            </a:extLst>
          </p:cNvPr>
          <p:cNvSpPr txBox="1"/>
          <p:nvPr/>
        </p:nvSpPr>
        <p:spPr>
          <a:xfrm>
            <a:off x="1235129" y="4893880"/>
            <a:ext cx="9806682" cy="97208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Giữ enriched message trong history để không mất context giữa các turn.</a:t>
            </a:r>
          </a:p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Repair khi LLM leak tool call dưới dạng text.</a:t>
            </a:r>
          </a:p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Serialize Decimal/datetime trong metadata streaming.</a:t>
            </a:r>
          </a:p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Hydrate venue context phía server để Agent biết resource, giá và timezone.</a:t>
            </a:r>
          </a:p>
        </p:txBody>
      </p:sp>
      <p:sp>
        <p:nvSpPr>
          <p:cNvPr id="73" name="Shape 28">
            <a:extLst>
              <a:ext uri="{FF2B5EF4-FFF2-40B4-BE49-F238E27FC236}">
                <a16:creationId xmlns:a16="http://schemas.microsoft.com/office/drawing/2014/main" id="{BF300E7E-A97F-474A-2D09-08B0963ED97A}"/>
              </a:ext>
            </a:extLst>
          </p:cNvPr>
          <p:cNvSpPr/>
          <p:nvPr/>
        </p:nvSpPr>
        <p:spPr>
          <a:xfrm>
            <a:off x="1096676" y="1428304"/>
            <a:ext cx="73152" cy="502920"/>
          </a:xfrm>
          <a:prstGeom prst="rect">
            <a:avLst/>
          </a:prstGeom>
          <a:solidFill>
            <a:srgbClr val="F2C94C"/>
          </a:solidFill>
          <a:ln>
            <a:noFill/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75" name="TextBox 29">
            <a:extLst>
              <a:ext uri="{FF2B5EF4-FFF2-40B4-BE49-F238E27FC236}">
                <a16:creationId xmlns:a16="http://schemas.microsoft.com/office/drawing/2014/main" id="{E5FA3BD9-A47A-E40D-E783-CA4A113DBF9E}"/>
              </a:ext>
            </a:extLst>
          </p:cNvPr>
          <p:cNvSpPr txBox="1"/>
          <p:nvPr/>
        </p:nvSpPr>
        <p:spPr>
          <a:xfrm>
            <a:off x="1116258" y="1428304"/>
            <a:ext cx="101498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lnSpcReduction="10000"/>
          </a:bodyPr>
          <a:lstStyle/>
          <a:p>
            <a:pPr algn="l">
              <a:spcAft>
                <a:spcPts val="300"/>
              </a:spcAft>
            </a:pPr>
            <a:r>
              <a:rPr lang="vi-VN" sz="28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Tối ưu và kiểm soát chất lượng AI</a:t>
            </a:r>
          </a:p>
        </p:txBody>
      </p:sp>
    </p:spTree>
    <p:extLst>
      <p:ext uri="{BB962C8B-B14F-4D97-AF65-F5344CB8AC3E}">
        <p14:creationId xmlns:p14="http://schemas.microsoft.com/office/powerpoint/2010/main" val="23169968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054D6-0CF2-0F62-72DA-6F3719DE2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40BF19-2F7D-A15E-8CC5-2CDA3DA89414}"/>
              </a:ext>
            </a:extLst>
          </p:cNvPr>
          <p:cNvSpPr txBox="1"/>
          <p:nvPr/>
        </p:nvSpPr>
        <p:spPr>
          <a:xfrm>
            <a:off x="1950719" y="356486"/>
            <a:ext cx="8290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>
                <a:solidFill>
                  <a:schemeClr val="bg1"/>
                </a:solidFill>
                <a:latin typeface="+mj-lt"/>
              </a:rPr>
              <a:t>ĐẠI HỌC GIAO THÔNG VẬN TẢI PHÂN HIỆ</a:t>
            </a:r>
            <a:r>
              <a:rPr lang="en-US" altLang="vi-VN" b="1" dirty="0">
                <a:solidFill>
                  <a:schemeClr val="bg1"/>
                </a:solidFill>
                <a:latin typeface="+mj-lt"/>
              </a:rPr>
              <a:t>U</a:t>
            </a:r>
            <a:r>
              <a:rPr lang="vi-VN" b="1" dirty="0">
                <a:solidFill>
                  <a:schemeClr val="bg1"/>
                </a:solidFill>
                <a:latin typeface="+mj-lt"/>
              </a:rPr>
              <a:t> THÀNH PHỐ HỒ CHÍ MINH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20E2A3A-C70B-A964-60CC-6ED45D6B1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FCFE7-4CFC-4698-A5C8-57D6C94FD847}" type="slidenum">
              <a:rPr lang="en-US" smtClean="0"/>
              <a:t>16</a:t>
            </a:fld>
            <a:endParaRPr lang="en-US"/>
          </a:p>
        </p:txBody>
      </p:sp>
      <p:sp>
        <p:nvSpPr>
          <p:cNvPr id="4" name="Card 11">
            <a:extLst>
              <a:ext uri="{FF2B5EF4-FFF2-40B4-BE49-F238E27FC236}">
                <a16:creationId xmlns:a16="http://schemas.microsoft.com/office/drawing/2014/main" id="{9BCA140D-AA0C-8C80-92E4-514F41AEA17B}"/>
              </a:ext>
            </a:extLst>
          </p:cNvPr>
          <p:cNvSpPr/>
          <p:nvPr/>
        </p:nvSpPr>
        <p:spPr>
          <a:xfrm>
            <a:off x="1158240" y="2309291"/>
            <a:ext cx="2514600" cy="2011680"/>
          </a:xfrm>
          <a:prstGeom prst="roundRect">
            <a:avLst/>
          </a:prstGeom>
          <a:solidFill>
            <a:srgbClr val="F7F8FB"/>
          </a:solidFill>
          <a:ln w="9000">
            <a:solidFill>
              <a:srgbClr val="D3D8E2"/>
            </a:solidFill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6" name="Accent 12">
            <a:extLst>
              <a:ext uri="{FF2B5EF4-FFF2-40B4-BE49-F238E27FC236}">
                <a16:creationId xmlns:a16="http://schemas.microsoft.com/office/drawing/2014/main" id="{C0DE7D30-4199-73D8-6B6F-49DE768CF5CD}"/>
              </a:ext>
            </a:extLst>
          </p:cNvPr>
          <p:cNvSpPr/>
          <p:nvPr/>
        </p:nvSpPr>
        <p:spPr>
          <a:xfrm>
            <a:off x="1158240" y="2309291"/>
            <a:ext cx="64008" cy="2011680"/>
          </a:xfrm>
          <a:prstGeom prst="rect">
            <a:avLst/>
          </a:prstGeom>
          <a:solidFill>
            <a:srgbClr val="20135A"/>
          </a:solidFill>
          <a:ln>
            <a:noFill/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9" name="TextBox 13">
            <a:extLst>
              <a:ext uri="{FF2B5EF4-FFF2-40B4-BE49-F238E27FC236}">
                <a16:creationId xmlns:a16="http://schemas.microsoft.com/office/drawing/2014/main" id="{2C1E06B9-1C14-6B33-81C7-2EB4306CFCC8}"/>
              </a:ext>
            </a:extLst>
          </p:cNvPr>
          <p:cNvSpPr txBox="1"/>
          <p:nvPr/>
        </p:nvSpPr>
        <p:spPr>
          <a:xfrm>
            <a:off x="1322832" y="2419019"/>
            <a:ext cx="22402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92500" lnSpcReduction="20000"/>
          </a:bodyPr>
          <a:lstStyle/>
          <a:p>
            <a:pPr algn="l">
              <a:spcAft>
                <a:spcPts val="300"/>
              </a:spcAft>
            </a:pPr>
            <a:r>
              <a:rPr lang="vi-VN" sz="16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Khách hàng</a:t>
            </a:r>
          </a:p>
        </p:txBody>
      </p:sp>
      <p:sp>
        <p:nvSpPr>
          <p:cNvPr id="11" name="TextBox 14">
            <a:extLst>
              <a:ext uri="{FF2B5EF4-FFF2-40B4-BE49-F238E27FC236}">
                <a16:creationId xmlns:a16="http://schemas.microsoft.com/office/drawing/2014/main" id="{011CA8D6-4C89-97E9-54C8-5AF5E2E74BF7}"/>
              </a:ext>
            </a:extLst>
          </p:cNvPr>
          <p:cNvSpPr txBox="1"/>
          <p:nvPr/>
        </p:nvSpPr>
        <p:spPr>
          <a:xfrm>
            <a:off x="1322832" y="2784779"/>
            <a:ext cx="2240280" cy="144475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Chat AI/voice agent</a:t>
            </a:r>
          </a:p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Đặt sân, QR/check-in, lịch sử</a:t>
            </a:r>
          </a:p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Menu, gọi món, billing, Stripe</a:t>
            </a:r>
          </a:p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Explore mini apps qua WebView</a:t>
            </a:r>
          </a:p>
        </p:txBody>
      </p:sp>
      <p:sp>
        <p:nvSpPr>
          <p:cNvPr id="13" name="Card 15">
            <a:extLst>
              <a:ext uri="{FF2B5EF4-FFF2-40B4-BE49-F238E27FC236}">
                <a16:creationId xmlns:a16="http://schemas.microsoft.com/office/drawing/2014/main" id="{A34903B8-EC64-5562-4821-D2BCBDE5690B}"/>
              </a:ext>
            </a:extLst>
          </p:cNvPr>
          <p:cNvSpPr/>
          <p:nvPr/>
        </p:nvSpPr>
        <p:spPr>
          <a:xfrm>
            <a:off x="3901440" y="2309291"/>
            <a:ext cx="2514600" cy="2011680"/>
          </a:xfrm>
          <a:prstGeom prst="roundRect">
            <a:avLst/>
          </a:prstGeom>
          <a:solidFill>
            <a:srgbClr val="F7F8FB"/>
          </a:solidFill>
          <a:ln w="9000">
            <a:solidFill>
              <a:srgbClr val="D3D8E2"/>
            </a:solidFill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15" name="Accent 16">
            <a:extLst>
              <a:ext uri="{FF2B5EF4-FFF2-40B4-BE49-F238E27FC236}">
                <a16:creationId xmlns:a16="http://schemas.microsoft.com/office/drawing/2014/main" id="{E66B6264-782F-D798-644E-EBB06A2E3528}"/>
              </a:ext>
            </a:extLst>
          </p:cNvPr>
          <p:cNvSpPr/>
          <p:nvPr/>
        </p:nvSpPr>
        <p:spPr>
          <a:xfrm>
            <a:off x="3901440" y="2309291"/>
            <a:ext cx="64008" cy="20116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AD79D520-645F-7039-7600-9EE0CC1D49BD}"/>
              </a:ext>
            </a:extLst>
          </p:cNvPr>
          <p:cNvSpPr txBox="1"/>
          <p:nvPr/>
        </p:nvSpPr>
        <p:spPr>
          <a:xfrm>
            <a:off x="4066032" y="2419019"/>
            <a:ext cx="22402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92500" lnSpcReduction="20000"/>
          </a:bodyPr>
          <a:lstStyle/>
          <a:p>
            <a:pPr algn="l">
              <a:spcAft>
                <a:spcPts val="300"/>
              </a:spcAft>
            </a:pPr>
            <a:r>
              <a:rPr lang="vi-VN" sz="1600" b="1" dirty="0">
                <a:solidFill>
                  <a:srgbClr val="0F766E"/>
                </a:solidFill>
                <a:latin typeface="+mj-lt"/>
                <a:ea typeface="Arial"/>
                <a:cs typeface="Arial"/>
              </a:rPr>
              <a:t>Nhân viên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1BDD74-8F77-341A-0966-2C07C85EBC8F}"/>
              </a:ext>
            </a:extLst>
          </p:cNvPr>
          <p:cNvSpPr txBox="1"/>
          <p:nvPr/>
        </p:nvSpPr>
        <p:spPr>
          <a:xfrm>
            <a:off x="4066032" y="2784779"/>
            <a:ext cx="2240280" cy="144475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Nhận staff request</a:t>
            </a:r>
          </a:p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Chat realtime với khách</a:t>
            </a:r>
          </a:p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Thông báo WebSocket</a:t>
            </a:r>
          </a:p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Xem camera/resource theo scope</a:t>
            </a:r>
          </a:p>
        </p:txBody>
      </p:sp>
      <p:sp>
        <p:nvSpPr>
          <p:cNvPr id="21" name="Card 19">
            <a:extLst>
              <a:ext uri="{FF2B5EF4-FFF2-40B4-BE49-F238E27FC236}">
                <a16:creationId xmlns:a16="http://schemas.microsoft.com/office/drawing/2014/main" id="{D20AE42C-1F1B-1FB6-62BD-087E73457BEC}"/>
              </a:ext>
            </a:extLst>
          </p:cNvPr>
          <p:cNvSpPr/>
          <p:nvPr/>
        </p:nvSpPr>
        <p:spPr>
          <a:xfrm>
            <a:off x="6644640" y="2309291"/>
            <a:ext cx="2514600" cy="2011680"/>
          </a:xfrm>
          <a:prstGeom prst="roundRect">
            <a:avLst/>
          </a:prstGeom>
          <a:solidFill>
            <a:srgbClr val="F7F8FB"/>
          </a:solidFill>
          <a:ln w="9000">
            <a:solidFill>
              <a:srgbClr val="D3D8E2"/>
            </a:solidFill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23" name="Accent 20">
            <a:extLst>
              <a:ext uri="{FF2B5EF4-FFF2-40B4-BE49-F238E27FC236}">
                <a16:creationId xmlns:a16="http://schemas.microsoft.com/office/drawing/2014/main" id="{45CDDC69-F1E8-6EF2-9E88-48CE615F9566}"/>
              </a:ext>
            </a:extLst>
          </p:cNvPr>
          <p:cNvSpPr/>
          <p:nvPr/>
        </p:nvSpPr>
        <p:spPr>
          <a:xfrm>
            <a:off x="6644640" y="2309291"/>
            <a:ext cx="64008" cy="20116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25" name="TextBox 21">
            <a:extLst>
              <a:ext uri="{FF2B5EF4-FFF2-40B4-BE49-F238E27FC236}">
                <a16:creationId xmlns:a16="http://schemas.microsoft.com/office/drawing/2014/main" id="{68A453FC-F3DE-268B-9097-0080A84A3AE4}"/>
              </a:ext>
            </a:extLst>
          </p:cNvPr>
          <p:cNvSpPr txBox="1"/>
          <p:nvPr/>
        </p:nvSpPr>
        <p:spPr>
          <a:xfrm>
            <a:off x="6809232" y="2419019"/>
            <a:ext cx="22402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92500" lnSpcReduction="20000"/>
          </a:bodyPr>
          <a:lstStyle/>
          <a:p>
            <a:pPr algn="l">
              <a:spcAft>
                <a:spcPts val="300"/>
              </a:spcAft>
            </a:pPr>
            <a:r>
              <a:rPr lang="vi-VN" sz="1600" b="1" dirty="0">
                <a:solidFill>
                  <a:srgbClr val="B45309"/>
                </a:solidFill>
                <a:latin typeface="+mj-lt"/>
                <a:ea typeface="Arial"/>
                <a:cs typeface="Arial"/>
              </a:rPr>
              <a:t>Quản trị viên</a:t>
            </a:r>
          </a:p>
        </p:txBody>
      </p:sp>
      <p:sp>
        <p:nvSpPr>
          <p:cNvPr id="27" name="TextBox 22">
            <a:extLst>
              <a:ext uri="{FF2B5EF4-FFF2-40B4-BE49-F238E27FC236}">
                <a16:creationId xmlns:a16="http://schemas.microsoft.com/office/drawing/2014/main" id="{AE9D2460-AAA9-E460-EA35-3C25C5EA147A}"/>
              </a:ext>
            </a:extLst>
          </p:cNvPr>
          <p:cNvSpPr txBox="1"/>
          <p:nvPr/>
        </p:nvSpPr>
        <p:spPr>
          <a:xfrm>
            <a:off x="6809232" y="2784779"/>
            <a:ext cx="2240280" cy="144475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Dashboard analytics</a:t>
            </a:r>
          </a:p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Quản lý booking/order/menu</a:t>
            </a:r>
          </a:p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Quản lý tài nguyên, giá, staff</a:t>
            </a:r>
          </a:p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Camera CRUD và phân quyền</a:t>
            </a:r>
          </a:p>
        </p:txBody>
      </p:sp>
      <p:sp>
        <p:nvSpPr>
          <p:cNvPr id="29" name="Card 23">
            <a:extLst>
              <a:ext uri="{FF2B5EF4-FFF2-40B4-BE49-F238E27FC236}">
                <a16:creationId xmlns:a16="http://schemas.microsoft.com/office/drawing/2014/main" id="{FCB40312-C682-1EEE-12EE-3B8B0585A516}"/>
              </a:ext>
            </a:extLst>
          </p:cNvPr>
          <p:cNvSpPr/>
          <p:nvPr/>
        </p:nvSpPr>
        <p:spPr>
          <a:xfrm>
            <a:off x="9387840" y="2309291"/>
            <a:ext cx="2331720" cy="2011680"/>
          </a:xfrm>
          <a:prstGeom prst="roundRect">
            <a:avLst/>
          </a:prstGeom>
          <a:solidFill>
            <a:srgbClr val="F7F8FB"/>
          </a:solidFill>
          <a:ln w="9000">
            <a:solidFill>
              <a:srgbClr val="D3D8E2"/>
            </a:solidFill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31" name="Accent 24">
            <a:extLst>
              <a:ext uri="{FF2B5EF4-FFF2-40B4-BE49-F238E27FC236}">
                <a16:creationId xmlns:a16="http://schemas.microsoft.com/office/drawing/2014/main" id="{0469D316-EA8F-128B-F848-3EC914A7C9A5}"/>
              </a:ext>
            </a:extLst>
          </p:cNvPr>
          <p:cNvSpPr/>
          <p:nvPr/>
        </p:nvSpPr>
        <p:spPr>
          <a:xfrm>
            <a:off x="9387840" y="2309291"/>
            <a:ext cx="64008" cy="2011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33" name="TextBox 25">
            <a:extLst>
              <a:ext uri="{FF2B5EF4-FFF2-40B4-BE49-F238E27FC236}">
                <a16:creationId xmlns:a16="http://schemas.microsoft.com/office/drawing/2014/main" id="{CDD6827E-E63E-9BC7-C0DF-0491E2477251}"/>
              </a:ext>
            </a:extLst>
          </p:cNvPr>
          <p:cNvSpPr txBox="1"/>
          <p:nvPr/>
        </p:nvSpPr>
        <p:spPr>
          <a:xfrm>
            <a:off x="9552432" y="2419019"/>
            <a:ext cx="20574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92500" lnSpcReduction="20000"/>
          </a:bodyPr>
          <a:lstStyle/>
          <a:p>
            <a:pPr algn="l">
              <a:spcAft>
                <a:spcPts val="300"/>
              </a:spcAft>
            </a:pPr>
            <a:r>
              <a:rPr lang="vi-VN" sz="1600" b="1" dirty="0">
                <a:solidFill>
                  <a:srgbClr val="7C3AED"/>
                </a:solidFill>
                <a:latin typeface="+mj-lt"/>
                <a:ea typeface="Arial"/>
                <a:cs typeface="Arial"/>
              </a:rPr>
              <a:t>Đối tác</a:t>
            </a:r>
          </a:p>
        </p:txBody>
      </p:sp>
      <p:sp>
        <p:nvSpPr>
          <p:cNvPr id="35" name="TextBox 26">
            <a:extLst>
              <a:ext uri="{FF2B5EF4-FFF2-40B4-BE49-F238E27FC236}">
                <a16:creationId xmlns:a16="http://schemas.microsoft.com/office/drawing/2014/main" id="{CF65AAB1-8F0A-45B1-E6A3-9C8E4457B4F0}"/>
              </a:ext>
            </a:extLst>
          </p:cNvPr>
          <p:cNvSpPr txBox="1"/>
          <p:nvPr/>
        </p:nvSpPr>
        <p:spPr>
          <a:xfrm>
            <a:off x="9552432" y="2784779"/>
            <a:ext cx="2057400" cy="144475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Partner shell riêng</a:t>
            </a:r>
          </a:p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Store/menu CRUD</a:t>
            </a:r>
          </a:p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Quản lý vòng đời đơn</a:t>
            </a:r>
          </a:p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Public API cho mini app F&amp;B</a:t>
            </a:r>
          </a:p>
        </p:txBody>
      </p:sp>
      <p:sp>
        <p:nvSpPr>
          <p:cNvPr id="37" name="Shape 27">
            <a:extLst>
              <a:ext uri="{FF2B5EF4-FFF2-40B4-BE49-F238E27FC236}">
                <a16:creationId xmlns:a16="http://schemas.microsoft.com/office/drawing/2014/main" id="{E476DC41-14BC-A625-835D-B953D3A1C546}"/>
              </a:ext>
            </a:extLst>
          </p:cNvPr>
          <p:cNvSpPr/>
          <p:nvPr/>
        </p:nvSpPr>
        <p:spPr>
          <a:xfrm>
            <a:off x="1249680" y="4778171"/>
            <a:ext cx="10378440" cy="657506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CBD5E1"/>
            </a:solidFill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39" name="TextBox 28">
            <a:extLst>
              <a:ext uri="{FF2B5EF4-FFF2-40B4-BE49-F238E27FC236}">
                <a16:creationId xmlns:a16="http://schemas.microsoft.com/office/drawing/2014/main" id="{51EEC9BF-956D-1710-8992-0FAFA7B7290C}"/>
              </a:ext>
            </a:extLst>
          </p:cNvPr>
          <p:cNvSpPr txBox="1"/>
          <p:nvPr/>
        </p:nvSpPr>
        <p:spPr>
          <a:xfrm>
            <a:off x="1432560" y="4897043"/>
            <a:ext cx="242316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vi-VN" sz="14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Các module backend chính</a:t>
            </a:r>
          </a:p>
        </p:txBody>
      </p:sp>
      <p:sp>
        <p:nvSpPr>
          <p:cNvPr id="41" name="TextBox 29">
            <a:extLst>
              <a:ext uri="{FF2B5EF4-FFF2-40B4-BE49-F238E27FC236}">
                <a16:creationId xmlns:a16="http://schemas.microsoft.com/office/drawing/2014/main" id="{75A72838-A382-9237-91C4-9871C49C81D7}"/>
              </a:ext>
            </a:extLst>
          </p:cNvPr>
          <p:cNvSpPr txBox="1"/>
          <p:nvPr/>
        </p:nvSpPr>
        <p:spPr>
          <a:xfrm>
            <a:off x="3810000" y="4906187"/>
            <a:ext cx="7361208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334155"/>
                </a:solidFill>
                <a:latin typeface="+mj-lt"/>
                <a:ea typeface="Arial"/>
                <a:cs typeface="Arial"/>
              </a:rPr>
              <a:t>auth, chat, booking, order, menu, staff_request, staff_chat, realtime, admin, venue, payment/stripe, partner, camera</a:t>
            </a:r>
          </a:p>
        </p:txBody>
      </p:sp>
      <p:sp>
        <p:nvSpPr>
          <p:cNvPr id="43" name="Shape 31">
            <a:extLst>
              <a:ext uri="{FF2B5EF4-FFF2-40B4-BE49-F238E27FC236}">
                <a16:creationId xmlns:a16="http://schemas.microsoft.com/office/drawing/2014/main" id="{F3CAA282-9E70-07A5-4F98-5CEF58CA8F6A}"/>
              </a:ext>
            </a:extLst>
          </p:cNvPr>
          <p:cNvSpPr/>
          <p:nvPr/>
        </p:nvSpPr>
        <p:spPr>
          <a:xfrm>
            <a:off x="1153668" y="1399463"/>
            <a:ext cx="73152" cy="502920"/>
          </a:xfrm>
          <a:prstGeom prst="rect">
            <a:avLst/>
          </a:prstGeom>
          <a:solidFill>
            <a:srgbClr val="F2C94C"/>
          </a:solidFill>
          <a:ln>
            <a:noFill/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45" name="TextBox 32">
            <a:extLst>
              <a:ext uri="{FF2B5EF4-FFF2-40B4-BE49-F238E27FC236}">
                <a16:creationId xmlns:a16="http://schemas.microsoft.com/office/drawing/2014/main" id="{6E1C2004-C642-DA82-96D8-CC7FF9A2B1E9}"/>
              </a:ext>
            </a:extLst>
          </p:cNvPr>
          <p:cNvSpPr txBox="1"/>
          <p:nvPr/>
        </p:nvSpPr>
        <p:spPr>
          <a:xfrm>
            <a:off x="1203960" y="1422323"/>
            <a:ext cx="101498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lnSpcReduction="10000"/>
          </a:bodyPr>
          <a:lstStyle/>
          <a:p>
            <a:pPr algn="l">
              <a:spcAft>
                <a:spcPts val="300"/>
              </a:spcAft>
            </a:pPr>
            <a:r>
              <a:rPr lang="vi-VN" sz="28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Tính năng đã hoàn thành</a:t>
            </a:r>
          </a:p>
        </p:txBody>
      </p:sp>
    </p:spTree>
    <p:extLst>
      <p:ext uri="{BB962C8B-B14F-4D97-AF65-F5344CB8AC3E}">
        <p14:creationId xmlns:p14="http://schemas.microsoft.com/office/powerpoint/2010/main" val="12756007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80DC1-FD71-101A-7194-C766ADB6B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CC4074-36BC-969D-D2BB-970B3EA0B9C9}"/>
              </a:ext>
            </a:extLst>
          </p:cNvPr>
          <p:cNvSpPr txBox="1"/>
          <p:nvPr/>
        </p:nvSpPr>
        <p:spPr>
          <a:xfrm>
            <a:off x="1950719" y="356486"/>
            <a:ext cx="8290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>
                <a:solidFill>
                  <a:schemeClr val="bg1"/>
                </a:solidFill>
                <a:latin typeface="+mj-lt"/>
              </a:rPr>
              <a:t>ĐẠI HỌC GIAO THÔNG VẬN TẢI PHÂN HIỆ</a:t>
            </a:r>
            <a:r>
              <a:rPr lang="en-US" altLang="vi-VN" b="1" dirty="0">
                <a:solidFill>
                  <a:schemeClr val="bg1"/>
                </a:solidFill>
                <a:latin typeface="+mj-lt"/>
              </a:rPr>
              <a:t>U</a:t>
            </a:r>
            <a:r>
              <a:rPr lang="vi-VN" b="1" dirty="0">
                <a:solidFill>
                  <a:schemeClr val="bg1"/>
                </a:solidFill>
                <a:latin typeface="+mj-lt"/>
              </a:rPr>
              <a:t> THÀNH PHỐ HỒ CHÍ MINH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8511EAB-E8B0-23D0-C119-A7DE1EBEC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FCFE7-4CFC-4698-A5C8-57D6C94FD847}" type="slidenum">
              <a:rPr lang="en-US" smtClean="0"/>
              <a:t>17</a:t>
            </a:fld>
            <a:endParaRPr lang="en-US"/>
          </a:p>
        </p:txBody>
      </p:sp>
      <p:sp>
        <p:nvSpPr>
          <p:cNvPr id="4" name="Shape 11">
            <a:extLst>
              <a:ext uri="{FF2B5EF4-FFF2-40B4-BE49-F238E27FC236}">
                <a16:creationId xmlns:a16="http://schemas.microsoft.com/office/drawing/2014/main" id="{DFD54775-B20B-2AF9-FFF1-6F6FE19E4984}"/>
              </a:ext>
            </a:extLst>
          </p:cNvPr>
          <p:cNvSpPr/>
          <p:nvPr/>
        </p:nvSpPr>
        <p:spPr>
          <a:xfrm>
            <a:off x="1249679" y="2076378"/>
            <a:ext cx="509053" cy="502920"/>
          </a:xfrm>
          <a:prstGeom prst="ellipse">
            <a:avLst/>
          </a:prstGeom>
          <a:solidFill>
            <a:srgbClr val="20135A"/>
          </a:solidFill>
          <a:ln>
            <a:noFill/>
          </a:ln>
        </p:spPr>
        <p:txBody>
          <a:bodyPr/>
          <a:lstStyle/>
          <a:p>
            <a:endParaRPr sz="1200">
              <a:latin typeface="+mj-lt"/>
            </a:endParaRPr>
          </a:p>
        </p:txBody>
      </p:sp>
      <p:sp>
        <p:nvSpPr>
          <p:cNvPr id="6" name="TextBox 12">
            <a:extLst>
              <a:ext uri="{FF2B5EF4-FFF2-40B4-BE49-F238E27FC236}">
                <a16:creationId xmlns:a16="http://schemas.microsoft.com/office/drawing/2014/main" id="{ACD0CDBC-7014-8AF7-FE0F-E64A60C5EBBB}"/>
              </a:ext>
            </a:extLst>
          </p:cNvPr>
          <p:cNvSpPr txBox="1"/>
          <p:nvPr/>
        </p:nvSpPr>
        <p:spPr>
          <a:xfrm>
            <a:off x="1368551" y="2204394"/>
            <a:ext cx="277665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vi-VN" sz="1200" b="1" dirty="0">
                <a:solidFill>
                  <a:srgbClr val="FFFFFF"/>
                </a:solidFill>
                <a:latin typeface="+mj-lt"/>
                <a:ea typeface="Arial"/>
                <a:cs typeface="Arial"/>
              </a:rPr>
              <a:t>1</a:t>
            </a:r>
          </a:p>
        </p:txBody>
      </p:sp>
      <p:sp>
        <p:nvSpPr>
          <p:cNvPr id="9" name="TextBox 13">
            <a:extLst>
              <a:ext uri="{FF2B5EF4-FFF2-40B4-BE49-F238E27FC236}">
                <a16:creationId xmlns:a16="http://schemas.microsoft.com/office/drawing/2014/main" id="{C0B20E68-20CD-61B2-235C-17E661899384}"/>
              </a:ext>
            </a:extLst>
          </p:cNvPr>
          <p:cNvSpPr txBox="1"/>
          <p:nvPr/>
        </p:nvSpPr>
        <p:spPr>
          <a:xfrm>
            <a:off x="1981200" y="2158674"/>
            <a:ext cx="185110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vi-VN" sz="12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Graph RAG</a:t>
            </a:r>
          </a:p>
        </p:txBody>
      </p:sp>
      <p:sp>
        <p:nvSpPr>
          <p:cNvPr id="11" name="TextBox 14">
            <a:extLst>
              <a:ext uri="{FF2B5EF4-FFF2-40B4-BE49-F238E27FC236}">
                <a16:creationId xmlns:a16="http://schemas.microsoft.com/office/drawing/2014/main" id="{1A1F3729-91D9-5A0A-E887-285FF38A17E3}"/>
              </a:ext>
            </a:extLst>
          </p:cNvPr>
          <p:cNvSpPr txBox="1"/>
          <p:nvPr/>
        </p:nvSpPr>
        <p:spPr>
          <a:xfrm>
            <a:off x="3901440" y="2067234"/>
            <a:ext cx="758952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334155"/>
                </a:solidFill>
                <a:latin typeface="+mj-lt"/>
                <a:ea typeface="Arial"/>
                <a:cs typeface="Arial"/>
              </a:rPr>
              <a:t>Hỏi: “Luật giao bóng pickleball như thế nào?”</a:t>
            </a:r>
          </a:p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334155"/>
                </a:solidFill>
                <a:latin typeface="+mj-lt"/>
                <a:ea typeface="Arial"/>
                <a:cs typeface="Arial"/>
              </a:rPr>
              <a:t>Kỳ vọng: Agent gọi query_knowledge, trả lời có grounding từ Neo4j.</a:t>
            </a:r>
          </a:p>
        </p:txBody>
      </p:sp>
      <p:sp>
        <p:nvSpPr>
          <p:cNvPr id="13" name="Shape 15">
            <a:extLst>
              <a:ext uri="{FF2B5EF4-FFF2-40B4-BE49-F238E27FC236}">
                <a16:creationId xmlns:a16="http://schemas.microsoft.com/office/drawing/2014/main" id="{4AB30A42-1637-0D11-E0B2-F238408E58BB}"/>
              </a:ext>
            </a:extLst>
          </p:cNvPr>
          <p:cNvSpPr/>
          <p:nvPr/>
        </p:nvSpPr>
        <p:spPr>
          <a:xfrm>
            <a:off x="1249679" y="3036498"/>
            <a:ext cx="509053" cy="502920"/>
          </a:xfrm>
          <a:prstGeom prst="ellipse">
            <a:avLst/>
          </a:prstGeom>
          <a:solidFill>
            <a:srgbClr val="20135A"/>
          </a:solidFill>
          <a:ln>
            <a:noFill/>
          </a:ln>
        </p:spPr>
        <p:txBody>
          <a:bodyPr/>
          <a:lstStyle/>
          <a:p>
            <a:endParaRPr sz="1200">
              <a:latin typeface="+mj-lt"/>
            </a:endParaRPr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30EA25FD-AD5F-E3C5-EB6B-58CFD18F4BD6}"/>
              </a:ext>
            </a:extLst>
          </p:cNvPr>
          <p:cNvSpPr txBox="1"/>
          <p:nvPr/>
        </p:nvSpPr>
        <p:spPr>
          <a:xfrm>
            <a:off x="1368551" y="3164514"/>
            <a:ext cx="277665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vi-VN" sz="1200" b="1" dirty="0">
                <a:solidFill>
                  <a:srgbClr val="FFFFFF"/>
                </a:solidFill>
                <a:latin typeface="+mj-lt"/>
                <a:ea typeface="Arial"/>
                <a:cs typeface="Arial"/>
              </a:rPr>
              <a:t>2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14F95941-48EE-7156-D4B9-61E7CC83311C}"/>
              </a:ext>
            </a:extLst>
          </p:cNvPr>
          <p:cNvSpPr txBox="1"/>
          <p:nvPr/>
        </p:nvSpPr>
        <p:spPr>
          <a:xfrm>
            <a:off x="1981200" y="3140187"/>
            <a:ext cx="185110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vi-VN" sz="12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Booking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537C47-3EC8-F6B4-3A32-3A34DA889E3D}"/>
              </a:ext>
            </a:extLst>
          </p:cNvPr>
          <p:cNvSpPr txBox="1"/>
          <p:nvPr/>
        </p:nvSpPr>
        <p:spPr>
          <a:xfrm>
            <a:off x="3901440" y="3027354"/>
            <a:ext cx="758952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334155"/>
                </a:solidFill>
                <a:latin typeface="+mj-lt"/>
                <a:ea typeface="Arial"/>
                <a:cs typeface="Arial"/>
              </a:rPr>
              <a:t>Hỏi: “Mai 19h đặt bàn bida bất kỳ 2 tiếng.”</a:t>
            </a:r>
          </a:p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334155"/>
                </a:solidFill>
                <a:latin typeface="+mj-lt"/>
                <a:ea typeface="Arial"/>
                <a:cs typeface="Arial"/>
              </a:rPr>
              <a:t>Kỳ vọng: book_court kiểm tra lịch, tạo booking và trả metadata.</a:t>
            </a: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298170CE-E4A9-B9F6-A805-9FBE9DB875FA}"/>
              </a:ext>
            </a:extLst>
          </p:cNvPr>
          <p:cNvSpPr/>
          <p:nvPr/>
        </p:nvSpPr>
        <p:spPr>
          <a:xfrm>
            <a:off x="1249679" y="3996618"/>
            <a:ext cx="509053" cy="502920"/>
          </a:xfrm>
          <a:prstGeom prst="ellipse">
            <a:avLst/>
          </a:prstGeom>
          <a:solidFill>
            <a:srgbClr val="20135A"/>
          </a:solidFill>
          <a:ln>
            <a:noFill/>
          </a:ln>
        </p:spPr>
        <p:txBody>
          <a:bodyPr/>
          <a:lstStyle/>
          <a:p>
            <a:endParaRPr sz="1200">
              <a:latin typeface="+mj-lt"/>
            </a:endParaRPr>
          </a:p>
        </p:txBody>
      </p:sp>
      <p:sp>
        <p:nvSpPr>
          <p:cNvPr id="23" name="TextBox 20">
            <a:extLst>
              <a:ext uri="{FF2B5EF4-FFF2-40B4-BE49-F238E27FC236}">
                <a16:creationId xmlns:a16="http://schemas.microsoft.com/office/drawing/2014/main" id="{83B180F2-02E0-5DE1-F967-B9C7657B42CD}"/>
              </a:ext>
            </a:extLst>
          </p:cNvPr>
          <p:cNvSpPr txBox="1"/>
          <p:nvPr/>
        </p:nvSpPr>
        <p:spPr>
          <a:xfrm>
            <a:off x="1368551" y="4124634"/>
            <a:ext cx="277665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vi-VN" sz="1200" b="1" dirty="0">
                <a:solidFill>
                  <a:srgbClr val="FFFFFF"/>
                </a:solidFill>
                <a:latin typeface="+mj-lt"/>
                <a:ea typeface="Arial"/>
                <a:cs typeface="Arial"/>
              </a:rPr>
              <a:t>3</a:t>
            </a:r>
          </a:p>
        </p:txBody>
      </p:sp>
      <p:sp>
        <p:nvSpPr>
          <p:cNvPr id="25" name="TextBox 21">
            <a:extLst>
              <a:ext uri="{FF2B5EF4-FFF2-40B4-BE49-F238E27FC236}">
                <a16:creationId xmlns:a16="http://schemas.microsoft.com/office/drawing/2014/main" id="{CD959982-0B3F-9A37-6B1F-6E3490980816}"/>
              </a:ext>
            </a:extLst>
          </p:cNvPr>
          <p:cNvSpPr txBox="1"/>
          <p:nvPr/>
        </p:nvSpPr>
        <p:spPr>
          <a:xfrm>
            <a:off x="1981200" y="4120062"/>
            <a:ext cx="185110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vi-VN" sz="12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Order</a:t>
            </a:r>
          </a:p>
        </p:txBody>
      </p:sp>
      <p:sp>
        <p:nvSpPr>
          <p:cNvPr id="27" name="TextBox 22">
            <a:extLst>
              <a:ext uri="{FF2B5EF4-FFF2-40B4-BE49-F238E27FC236}">
                <a16:creationId xmlns:a16="http://schemas.microsoft.com/office/drawing/2014/main" id="{79283A2C-45C8-0B1A-8C1F-8FA8D3346A1B}"/>
              </a:ext>
            </a:extLst>
          </p:cNvPr>
          <p:cNvSpPr txBox="1"/>
          <p:nvPr/>
        </p:nvSpPr>
        <p:spPr>
          <a:xfrm>
            <a:off x="3901440" y="3987474"/>
            <a:ext cx="758952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334155"/>
                </a:solidFill>
                <a:latin typeface="+mj-lt"/>
                <a:ea typeface="Arial"/>
                <a:cs typeface="Arial"/>
              </a:rPr>
              <a:t>Hỏi: “Cho tôi 2 cà phê sữa ít đá.”</a:t>
            </a:r>
          </a:p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334155"/>
                </a:solidFill>
                <a:latin typeface="+mj-lt"/>
                <a:ea typeface="Arial"/>
                <a:cs typeface="Arial"/>
              </a:rPr>
              <a:t>Kỳ vọng: Agent hỏi ghi chú/xác nhận, sau đó tạo order và hiển thị card.</a:t>
            </a:r>
          </a:p>
        </p:txBody>
      </p:sp>
      <p:sp>
        <p:nvSpPr>
          <p:cNvPr id="37" name="TextBox 27">
            <a:extLst>
              <a:ext uri="{FF2B5EF4-FFF2-40B4-BE49-F238E27FC236}">
                <a16:creationId xmlns:a16="http://schemas.microsoft.com/office/drawing/2014/main" id="{B040C45D-0C0D-9DB4-F50A-0369E7AE1DFB}"/>
              </a:ext>
            </a:extLst>
          </p:cNvPr>
          <p:cNvSpPr txBox="1"/>
          <p:nvPr/>
        </p:nvSpPr>
        <p:spPr>
          <a:xfrm>
            <a:off x="1158240" y="5022213"/>
            <a:ext cx="102412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92500" lnSpcReduction="10000"/>
          </a:bodyPr>
          <a:lstStyle/>
          <a:p>
            <a:pPr algn="l">
              <a:spcAft>
                <a:spcPts val="300"/>
              </a:spcAft>
            </a:pPr>
            <a:r>
              <a:rPr lang="vi-VN" sz="1300" b="1" dirty="0">
                <a:solidFill>
                  <a:srgbClr val="B45309"/>
                </a:solidFill>
                <a:latin typeface="+mj-lt"/>
                <a:ea typeface="Arial"/>
                <a:cs typeface="Arial"/>
              </a:rPr>
              <a:t>Mục tiêu demo: chứng minh AI không chỉ trả lời văn bản mà còn truy xuất tri thức và thực hiện nghiệp vụ thật.</a:t>
            </a:r>
          </a:p>
        </p:txBody>
      </p:sp>
      <p:sp>
        <p:nvSpPr>
          <p:cNvPr id="39" name="Shape 29">
            <a:extLst>
              <a:ext uri="{FF2B5EF4-FFF2-40B4-BE49-F238E27FC236}">
                <a16:creationId xmlns:a16="http://schemas.microsoft.com/office/drawing/2014/main" id="{82324875-3625-6068-F5E3-EA01F953F275}"/>
              </a:ext>
            </a:extLst>
          </p:cNvPr>
          <p:cNvSpPr/>
          <p:nvPr/>
        </p:nvSpPr>
        <p:spPr>
          <a:xfrm>
            <a:off x="1109127" y="1189410"/>
            <a:ext cx="73152" cy="502920"/>
          </a:xfrm>
          <a:prstGeom prst="rect">
            <a:avLst/>
          </a:prstGeom>
          <a:solidFill>
            <a:srgbClr val="F2C94C"/>
          </a:solidFill>
          <a:ln>
            <a:noFill/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41" name="TextBox 30">
            <a:extLst>
              <a:ext uri="{FF2B5EF4-FFF2-40B4-BE49-F238E27FC236}">
                <a16:creationId xmlns:a16="http://schemas.microsoft.com/office/drawing/2014/main" id="{66FEA15C-2F94-8321-531F-5DD54ED543BC}"/>
              </a:ext>
            </a:extLst>
          </p:cNvPr>
          <p:cNvSpPr txBox="1"/>
          <p:nvPr/>
        </p:nvSpPr>
        <p:spPr>
          <a:xfrm>
            <a:off x="1203960" y="1189410"/>
            <a:ext cx="101498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lnSpcReduction="10000"/>
          </a:bodyPr>
          <a:lstStyle/>
          <a:p>
            <a:pPr algn="l">
              <a:spcAft>
                <a:spcPts val="300"/>
              </a:spcAft>
            </a:pPr>
            <a:r>
              <a:rPr lang="vi-VN" sz="28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Kịch bản demo đề xuất</a:t>
            </a:r>
          </a:p>
        </p:txBody>
      </p:sp>
    </p:spTree>
    <p:extLst>
      <p:ext uri="{BB962C8B-B14F-4D97-AF65-F5344CB8AC3E}">
        <p14:creationId xmlns:p14="http://schemas.microsoft.com/office/powerpoint/2010/main" val="37811383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C2343-3CF7-2F7F-06F2-1756A46E5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52905C-92E8-13C3-8C18-7523B7409BD1}"/>
              </a:ext>
            </a:extLst>
          </p:cNvPr>
          <p:cNvSpPr txBox="1"/>
          <p:nvPr/>
        </p:nvSpPr>
        <p:spPr>
          <a:xfrm>
            <a:off x="1950719" y="356486"/>
            <a:ext cx="8290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>
                <a:solidFill>
                  <a:schemeClr val="bg1"/>
                </a:solidFill>
                <a:latin typeface="+mj-lt"/>
              </a:rPr>
              <a:t>ĐẠI HỌC GIAO THÔNG VẬN TẢI PHÂN HIỆ</a:t>
            </a:r>
            <a:r>
              <a:rPr lang="en-US" altLang="vi-VN" b="1" dirty="0">
                <a:solidFill>
                  <a:schemeClr val="bg1"/>
                </a:solidFill>
                <a:latin typeface="+mj-lt"/>
              </a:rPr>
              <a:t>U</a:t>
            </a:r>
            <a:r>
              <a:rPr lang="vi-VN" b="1" dirty="0">
                <a:solidFill>
                  <a:schemeClr val="bg1"/>
                </a:solidFill>
                <a:latin typeface="+mj-lt"/>
              </a:rPr>
              <a:t> THÀNH PHỐ HỒ CHÍ MINH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DDA46C0-1095-4D72-BC43-FE458EEB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FCFE7-4CFC-4698-A5C8-57D6C94FD847}" type="slidenum">
              <a:rPr lang="en-US" smtClean="0"/>
              <a:t>18</a:t>
            </a:fld>
            <a:endParaRPr lang="en-US"/>
          </a:p>
        </p:txBody>
      </p:sp>
      <p:sp>
        <p:nvSpPr>
          <p:cNvPr id="4" name="Card 11">
            <a:extLst>
              <a:ext uri="{FF2B5EF4-FFF2-40B4-BE49-F238E27FC236}">
                <a16:creationId xmlns:a16="http://schemas.microsoft.com/office/drawing/2014/main" id="{E2B451D6-AE73-EECE-9630-8BDF5BDE2A98}"/>
              </a:ext>
            </a:extLst>
          </p:cNvPr>
          <p:cNvSpPr/>
          <p:nvPr/>
        </p:nvSpPr>
        <p:spPr>
          <a:xfrm>
            <a:off x="975360" y="2223832"/>
            <a:ext cx="3246120" cy="1828800"/>
          </a:xfrm>
          <a:prstGeom prst="roundRect">
            <a:avLst/>
          </a:prstGeom>
          <a:solidFill>
            <a:srgbClr val="F7F8FB"/>
          </a:solidFill>
          <a:ln w="9000">
            <a:solidFill>
              <a:srgbClr val="D3D8E2"/>
            </a:solidFill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6" name="Accent 12">
            <a:extLst>
              <a:ext uri="{FF2B5EF4-FFF2-40B4-BE49-F238E27FC236}">
                <a16:creationId xmlns:a16="http://schemas.microsoft.com/office/drawing/2014/main" id="{26E05199-3B32-14C3-2277-24F55D0B71AD}"/>
              </a:ext>
            </a:extLst>
          </p:cNvPr>
          <p:cNvSpPr/>
          <p:nvPr/>
        </p:nvSpPr>
        <p:spPr>
          <a:xfrm>
            <a:off x="975360" y="2223832"/>
            <a:ext cx="64008" cy="1828800"/>
          </a:xfrm>
          <a:prstGeom prst="rect">
            <a:avLst/>
          </a:prstGeom>
          <a:solidFill>
            <a:srgbClr val="20135A"/>
          </a:solidFill>
          <a:ln>
            <a:noFill/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9" name="TextBox 13">
            <a:extLst>
              <a:ext uri="{FF2B5EF4-FFF2-40B4-BE49-F238E27FC236}">
                <a16:creationId xmlns:a16="http://schemas.microsoft.com/office/drawing/2014/main" id="{3665CA53-482F-65A3-C959-1D71904D3D3E}"/>
              </a:ext>
            </a:extLst>
          </p:cNvPr>
          <p:cNvSpPr txBox="1"/>
          <p:nvPr/>
        </p:nvSpPr>
        <p:spPr>
          <a:xfrm>
            <a:off x="1139952" y="2333560"/>
            <a:ext cx="29718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92500" lnSpcReduction="20000"/>
          </a:bodyPr>
          <a:lstStyle/>
          <a:p>
            <a:pPr algn="l">
              <a:spcAft>
                <a:spcPts val="300"/>
              </a:spcAft>
            </a:pPr>
            <a:r>
              <a:rPr lang="vi-VN" sz="16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AI Chat</a:t>
            </a:r>
          </a:p>
        </p:txBody>
      </p:sp>
      <p:sp>
        <p:nvSpPr>
          <p:cNvPr id="11" name="TextBox 14">
            <a:extLst>
              <a:ext uri="{FF2B5EF4-FFF2-40B4-BE49-F238E27FC236}">
                <a16:creationId xmlns:a16="http://schemas.microsoft.com/office/drawing/2014/main" id="{BAAA371E-7200-E42A-B4B9-21EDDD145500}"/>
              </a:ext>
            </a:extLst>
          </p:cNvPr>
          <p:cNvSpPr txBox="1"/>
          <p:nvPr/>
        </p:nvSpPr>
        <p:spPr>
          <a:xfrm>
            <a:off x="1139952" y="2699320"/>
            <a:ext cx="2971800" cy="126187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Tool calling qua LangChain AgentExecutor</a:t>
            </a:r>
          </a:p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Streaming response SSE</a:t>
            </a:r>
          </a:p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Metadata booking/order cho Flutter</a:t>
            </a:r>
          </a:p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Fallback deterministic khi LLM provider không khả dụng</a:t>
            </a:r>
          </a:p>
        </p:txBody>
      </p:sp>
      <p:sp>
        <p:nvSpPr>
          <p:cNvPr id="13" name="Card 15">
            <a:extLst>
              <a:ext uri="{FF2B5EF4-FFF2-40B4-BE49-F238E27FC236}">
                <a16:creationId xmlns:a16="http://schemas.microsoft.com/office/drawing/2014/main" id="{6BBADF80-BF4C-8997-35AF-6F182D211686}"/>
              </a:ext>
            </a:extLst>
          </p:cNvPr>
          <p:cNvSpPr/>
          <p:nvPr/>
        </p:nvSpPr>
        <p:spPr>
          <a:xfrm>
            <a:off x="4450080" y="2223832"/>
            <a:ext cx="3154680" cy="1828800"/>
          </a:xfrm>
          <a:prstGeom prst="roundRect">
            <a:avLst/>
          </a:prstGeom>
          <a:solidFill>
            <a:srgbClr val="F7F8FB"/>
          </a:solidFill>
          <a:ln w="9000">
            <a:solidFill>
              <a:srgbClr val="D3D8E2"/>
            </a:solidFill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15" name="Accent 16">
            <a:extLst>
              <a:ext uri="{FF2B5EF4-FFF2-40B4-BE49-F238E27FC236}">
                <a16:creationId xmlns:a16="http://schemas.microsoft.com/office/drawing/2014/main" id="{E267CFE9-FB2D-C544-78C1-AE3616B13912}"/>
              </a:ext>
            </a:extLst>
          </p:cNvPr>
          <p:cNvSpPr/>
          <p:nvPr/>
        </p:nvSpPr>
        <p:spPr>
          <a:xfrm>
            <a:off x="4450080" y="2223832"/>
            <a:ext cx="64008" cy="1828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79B3033E-F198-4C18-DEAC-E3C46B77E3C4}"/>
              </a:ext>
            </a:extLst>
          </p:cNvPr>
          <p:cNvSpPr txBox="1"/>
          <p:nvPr/>
        </p:nvSpPr>
        <p:spPr>
          <a:xfrm>
            <a:off x="4614672" y="2333560"/>
            <a:ext cx="28803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92500" lnSpcReduction="20000"/>
          </a:bodyPr>
          <a:lstStyle/>
          <a:p>
            <a:pPr algn="l">
              <a:spcAft>
                <a:spcPts val="300"/>
              </a:spcAft>
            </a:pPr>
            <a:r>
              <a:rPr lang="vi-VN" sz="1600" b="1" dirty="0">
                <a:solidFill>
                  <a:srgbClr val="7C3AED"/>
                </a:solidFill>
                <a:latin typeface="+mj-lt"/>
                <a:ea typeface="Arial"/>
                <a:cs typeface="Arial"/>
              </a:rPr>
              <a:t>Graph RAG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14E63BB-6DE2-35E7-4A50-AD86BB8B167B}"/>
              </a:ext>
            </a:extLst>
          </p:cNvPr>
          <p:cNvSpPr txBox="1"/>
          <p:nvPr/>
        </p:nvSpPr>
        <p:spPr>
          <a:xfrm>
            <a:off x="4614672" y="2699320"/>
            <a:ext cx="2880360" cy="126187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lnSpcReduction="10000"/>
          </a:bodyPr>
          <a:lstStyle/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Neo4j full-text + vector + keyword fallback</a:t>
            </a:r>
          </a:p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RRF hợp nhất thứ hạng</a:t>
            </a:r>
          </a:p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Graph expansion 1-2 bước</a:t>
            </a:r>
          </a:p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418 node đã có embedding trong báo cáo thực nghiệm</a:t>
            </a:r>
          </a:p>
        </p:txBody>
      </p:sp>
      <p:sp>
        <p:nvSpPr>
          <p:cNvPr id="21" name="Card 19">
            <a:extLst>
              <a:ext uri="{FF2B5EF4-FFF2-40B4-BE49-F238E27FC236}">
                <a16:creationId xmlns:a16="http://schemas.microsoft.com/office/drawing/2014/main" id="{9FBAA7CF-EDF4-350C-836B-6CDDCC609E1B}"/>
              </a:ext>
            </a:extLst>
          </p:cNvPr>
          <p:cNvSpPr/>
          <p:nvPr/>
        </p:nvSpPr>
        <p:spPr>
          <a:xfrm>
            <a:off x="7833360" y="2223832"/>
            <a:ext cx="3611880" cy="1828800"/>
          </a:xfrm>
          <a:prstGeom prst="roundRect">
            <a:avLst/>
          </a:prstGeom>
          <a:solidFill>
            <a:srgbClr val="F7F8FB"/>
          </a:solidFill>
          <a:ln w="9000">
            <a:solidFill>
              <a:srgbClr val="D3D8E2"/>
            </a:solidFill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23" name="Accent 20">
            <a:extLst>
              <a:ext uri="{FF2B5EF4-FFF2-40B4-BE49-F238E27FC236}">
                <a16:creationId xmlns:a16="http://schemas.microsoft.com/office/drawing/2014/main" id="{37A18582-B964-30FA-2CEB-68A0BEC09830}"/>
              </a:ext>
            </a:extLst>
          </p:cNvPr>
          <p:cNvSpPr/>
          <p:nvPr/>
        </p:nvSpPr>
        <p:spPr>
          <a:xfrm>
            <a:off x="7833360" y="2223832"/>
            <a:ext cx="64008" cy="18288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25" name="TextBox 21">
            <a:extLst>
              <a:ext uri="{FF2B5EF4-FFF2-40B4-BE49-F238E27FC236}">
                <a16:creationId xmlns:a16="http://schemas.microsoft.com/office/drawing/2014/main" id="{A7DFD5C6-A92C-658D-64BA-4D1258543CDA}"/>
              </a:ext>
            </a:extLst>
          </p:cNvPr>
          <p:cNvSpPr txBox="1"/>
          <p:nvPr/>
        </p:nvSpPr>
        <p:spPr>
          <a:xfrm>
            <a:off x="7997952" y="2333560"/>
            <a:ext cx="33375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92500" lnSpcReduction="20000"/>
          </a:bodyPr>
          <a:lstStyle/>
          <a:p>
            <a:pPr algn="l">
              <a:spcAft>
                <a:spcPts val="300"/>
              </a:spcAft>
            </a:pPr>
            <a:r>
              <a:rPr lang="vi-VN" sz="1600" b="1" dirty="0">
                <a:solidFill>
                  <a:srgbClr val="0F766E"/>
                </a:solidFill>
                <a:latin typeface="+mj-lt"/>
                <a:ea typeface="Arial"/>
                <a:cs typeface="Arial"/>
              </a:rPr>
              <a:t>Nghiệp vụ</a:t>
            </a:r>
          </a:p>
        </p:txBody>
      </p:sp>
      <p:sp>
        <p:nvSpPr>
          <p:cNvPr id="27" name="TextBox 22">
            <a:extLst>
              <a:ext uri="{FF2B5EF4-FFF2-40B4-BE49-F238E27FC236}">
                <a16:creationId xmlns:a16="http://schemas.microsoft.com/office/drawing/2014/main" id="{B1447A0E-0831-7109-4C1F-55C238DF4682}"/>
              </a:ext>
            </a:extLst>
          </p:cNvPr>
          <p:cNvSpPr txBox="1"/>
          <p:nvPr/>
        </p:nvSpPr>
        <p:spPr>
          <a:xfrm>
            <a:off x="7997952" y="2699320"/>
            <a:ext cx="3337560" cy="126187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Booking/order/staff request tạo dữ liệu thật qua service/repository</a:t>
            </a:r>
          </a:p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Venue context và giá lấy từ DB</a:t>
            </a:r>
          </a:p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Role routing cho customer/staff/admin/partner</a:t>
            </a:r>
          </a:p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Stripe test mode hoạt động trong phạm vi đồ án</a:t>
            </a:r>
          </a:p>
        </p:txBody>
      </p:sp>
      <p:sp>
        <p:nvSpPr>
          <p:cNvPr id="29" name="Card 23">
            <a:extLst>
              <a:ext uri="{FF2B5EF4-FFF2-40B4-BE49-F238E27FC236}">
                <a16:creationId xmlns:a16="http://schemas.microsoft.com/office/drawing/2014/main" id="{CAAFE30B-67E7-70FA-2A59-36B326FBB3A1}"/>
              </a:ext>
            </a:extLst>
          </p:cNvPr>
          <p:cNvSpPr/>
          <p:nvPr/>
        </p:nvSpPr>
        <p:spPr>
          <a:xfrm>
            <a:off x="975360" y="4509832"/>
            <a:ext cx="10469880" cy="1234440"/>
          </a:xfrm>
          <a:prstGeom prst="roundRect">
            <a:avLst/>
          </a:prstGeom>
          <a:solidFill>
            <a:srgbClr val="F7F8FB"/>
          </a:solidFill>
          <a:ln w="9000">
            <a:solidFill>
              <a:srgbClr val="D3D8E2"/>
            </a:solidFill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31" name="Accent 24">
            <a:extLst>
              <a:ext uri="{FF2B5EF4-FFF2-40B4-BE49-F238E27FC236}">
                <a16:creationId xmlns:a16="http://schemas.microsoft.com/office/drawing/2014/main" id="{47553109-7888-E25B-A9A7-3B0745DD4041}"/>
              </a:ext>
            </a:extLst>
          </p:cNvPr>
          <p:cNvSpPr/>
          <p:nvPr/>
        </p:nvSpPr>
        <p:spPr>
          <a:xfrm>
            <a:off x="975360" y="4509832"/>
            <a:ext cx="64008" cy="12344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33" name="TextBox 25">
            <a:extLst>
              <a:ext uri="{FF2B5EF4-FFF2-40B4-BE49-F238E27FC236}">
                <a16:creationId xmlns:a16="http://schemas.microsoft.com/office/drawing/2014/main" id="{7E908F0B-04A8-924B-70EC-6085B3379304}"/>
              </a:ext>
            </a:extLst>
          </p:cNvPr>
          <p:cNvSpPr txBox="1"/>
          <p:nvPr/>
        </p:nvSpPr>
        <p:spPr>
          <a:xfrm>
            <a:off x="1139952" y="4619560"/>
            <a:ext cx="101955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92500" lnSpcReduction="20000"/>
          </a:bodyPr>
          <a:lstStyle/>
          <a:p>
            <a:pPr algn="l">
              <a:spcAft>
                <a:spcPts val="300"/>
              </a:spcAft>
            </a:pPr>
            <a:r>
              <a:rPr lang="vi-VN" sz="1600" b="1" dirty="0">
                <a:solidFill>
                  <a:srgbClr val="B45309"/>
                </a:solidFill>
                <a:latin typeface="+mj-lt"/>
                <a:ea typeface="Arial"/>
                <a:cs typeface="Arial"/>
              </a:rPr>
              <a:t>Kiểm thử và quan sát</a:t>
            </a:r>
          </a:p>
        </p:txBody>
      </p:sp>
      <p:sp>
        <p:nvSpPr>
          <p:cNvPr id="35" name="TextBox 26">
            <a:extLst>
              <a:ext uri="{FF2B5EF4-FFF2-40B4-BE49-F238E27FC236}">
                <a16:creationId xmlns:a16="http://schemas.microsoft.com/office/drawing/2014/main" id="{1077F527-93A6-8F2F-509C-3C64C73347A3}"/>
              </a:ext>
            </a:extLst>
          </p:cNvPr>
          <p:cNvSpPr txBox="1"/>
          <p:nvPr/>
        </p:nvSpPr>
        <p:spPr>
          <a:xfrm>
            <a:off x="1139952" y="4985320"/>
            <a:ext cx="10195560" cy="66751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92500" lnSpcReduction="10000"/>
          </a:bodyPr>
          <a:lstStyle/>
          <a:p>
            <a:pPr algn="l">
              <a:spcAft>
                <a:spcPts val="300"/>
              </a:spcAft>
            </a:pPr>
            <a:r>
              <a:rPr lang="vi-VN" sz="13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Repo có test cho auth, booking, chat, intent router, KG retrieval, tools và payment.</a:t>
            </a:r>
          </a:p>
          <a:p>
            <a:pPr algn="l">
              <a:spcAft>
                <a:spcPts val="300"/>
              </a:spcAft>
            </a:pPr>
            <a:r>
              <a:rPr lang="vi-VN" sz="13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Các lỗi/rủi ro chính được ghi trong báo cáo kỹ thuật: cache, context, booking flow, metadata và fallback.</a:t>
            </a:r>
          </a:p>
          <a:p>
            <a:pPr algn="l">
              <a:spcAft>
                <a:spcPts val="300"/>
              </a:spcAft>
            </a:pPr>
            <a:r>
              <a:rPr lang="vi-VN" sz="13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Trước khi bảo vệ nên chạy lại regression đầy đủ trên môi trường cấu hình thật.</a:t>
            </a:r>
          </a:p>
        </p:txBody>
      </p:sp>
      <p:sp>
        <p:nvSpPr>
          <p:cNvPr id="37" name="Shape 28">
            <a:extLst>
              <a:ext uri="{FF2B5EF4-FFF2-40B4-BE49-F238E27FC236}">
                <a16:creationId xmlns:a16="http://schemas.microsoft.com/office/drawing/2014/main" id="{CD7539E1-EC06-1629-3239-B6CD007DC603}"/>
              </a:ext>
            </a:extLst>
          </p:cNvPr>
          <p:cNvSpPr/>
          <p:nvPr/>
        </p:nvSpPr>
        <p:spPr>
          <a:xfrm>
            <a:off x="995086" y="1331630"/>
            <a:ext cx="73152" cy="502920"/>
          </a:xfrm>
          <a:prstGeom prst="rect">
            <a:avLst/>
          </a:prstGeom>
          <a:solidFill>
            <a:srgbClr val="F2C94C"/>
          </a:solidFill>
          <a:ln>
            <a:noFill/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39" name="TextBox 29">
            <a:extLst>
              <a:ext uri="{FF2B5EF4-FFF2-40B4-BE49-F238E27FC236}">
                <a16:creationId xmlns:a16="http://schemas.microsoft.com/office/drawing/2014/main" id="{3325D2E0-7EE5-E9E5-B108-43CFFED17F51}"/>
              </a:ext>
            </a:extLst>
          </p:cNvPr>
          <p:cNvSpPr txBox="1"/>
          <p:nvPr/>
        </p:nvSpPr>
        <p:spPr>
          <a:xfrm>
            <a:off x="1021080" y="1336864"/>
            <a:ext cx="101498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lnSpcReduction="10000"/>
          </a:bodyPr>
          <a:lstStyle/>
          <a:p>
            <a:pPr algn="l">
              <a:spcAft>
                <a:spcPts val="300"/>
              </a:spcAft>
            </a:pPr>
            <a:r>
              <a:rPr lang="vi-VN" sz="28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Kết quả đạt được</a:t>
            </a:r>
          </a:p>
        </p:txBody>
      </p:sp>
    </p:spTree>
    <p:extLst>
      <p:ext uri="{BB962C8B-B14F-4D97-AF65-F5344CB8AC3E}">
        <p14:creationId xmlns:p14="http://schemas.microsoft.com/office/powerpoint/2010/main" val="5638104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7CD2C-28F7-210F-8456-923486840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F9919F-CA13-4A68-3A0A-3F367EB456EE}"/>
              </a:ext>
            </a:extLst>
          </p:cNvPr>
          <p:cNvSpPr txBox="1"/>
          <p:nvPr/>
        </p:nvSpPr>
        <p:spPr>
          <a:xfrm>
            <a:off x="1950719" y="356486"/>
            <a:ext cx="8290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>
                <a:solidFill>
                  <a:schemeClr val="bg1"/>
                </a:solidFill>
                <a:latin typeface="+mj-lt"/>
              </a:rPr>
              <a:t>ĐẠI HỌC GIAO THÔNG VẬN TẢI PHÂN HIỆ</a:t>
            </a:r>
            <a:r>
              <a:rPr lang="en-US" altLang="vi-VN" b="1" dirty="0">
                <a:solidFill>
                  <a:schemeClr val="bg1"/>
                </a:solidFill>
                <a:latin typeface="+mj-lt"/>
              </a:rPr>
              <a:t>U</a:t>
            </a:r>
            <a:r>
              <a:rPr lang="vi-VN" b="1" dirty="0">
                <a:solidFill>
                  <a:schemeClr val="bg1"/>
                </a:solidFill>
                <a:latin typeface="+mj-lt"/>
              </a:rPr>
              <a:t> THÀNH PHỐ HỒ CHÍ MINH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BAA7008-7F1E-BBA4-EEE2-9FD837577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962" y="6363654"/>
            <a:ext cx="2743200" cy="365125"/>
          </a:xfrm>
        </p:spPr>
        <p:txBody>
          <a:bodyPr/>
          <a:lstStyle/>
          <a:p>
            <a:fld id="{3C4FCFE7-4CFC-4698-A5C8-57D6C94FD847}" type="slidenum">
              <a:rPr lang="en-US" smtClean="0"/>
              <a:t>19</a:t>
            </a:fld>
            <a:endParaRPr lang="en-US"/>
          </a:p>
        </p:txBody>
      </p:sp>
      <p:sp>
        <p:nvSpPr>
          <p:cNvPr id="4" name="Card 11">
            <a:extLst>
              <a:ext uri="{FF2B5EF4-FFF2-40B4-BE49-F238E27FC236}">
                <a16:creationId xmlns:a16="http://schemas.microsoft.com/office/drawing/2014/main" id="{DBEAE9A0-2EED-2DF5-6323-C308794AE574}"/>
              </a:ext>
            </a:extLst>
          </p:cNvPr>
          <p:cNvSpPr/>
          <p:nvPr/>
        </p:nvSpPr>
        <p:spPr>
          <a:xfrm>
            <a:off x="1080602" y="2354580"/>
            <a:ext cx="5166360" cy="2148840"/>
          </a:xfrm>
          <a:prstGeom prst="roundRect">
            <a:avLst/>
          </a:prstGeom>
          <a:solidFill>
            <a:srgbClr val="F7F8FB"/>
          </a:solidFill>
          <a:ln w="9000">
            <a:solidFill>
              <a:srgbClr val="D3D8E2"/>
            </a:solidFill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6" name="Accent 12">
            <a:extLst>
              <a:ext uri="{FF2B5EF4-FFF2-40B4-BE49-F238E27FC236}">
                <a16:creationId xmlns:a16="http://schemas.microsoft.com/office/drawing/2014/main" id="{BCAB3DEF-2C1B-BE34-0A7C-D000915C3306}"/>
              </a:ext>
            </a:extLst>
          </p:cNvPr>
          <p:cNvSpPr/>
          <p:nvPr/>
        </p:nvSpPr>
        <p:spPr>
          <a:xfrm>
            <a:off x="1080602" y="2354580"/>
            <a:ext cx="64008" cy="21488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9" name="TextBox 13">
            <a:extLst>
              <a:ext uri="{FF2B5EF4-FFF2-40B4-BE49-F238E27FC236}">
                <a16:creationId xmlns:a16="http://schemas.microsoft.com/office/drawing/2014/main" id="{FB8E84C5-C758-C878-1F62-D928885EECC9}"/>
              </a:ext>
            </a:extLst>
          </p:cNvPr>
          <p:cNvSpPr txBox="1"/>
          <p:nvPr/>
        </p:nvSpPr>
        <p:spPr>
          <a:xfrm>
            <a:off x="1245194" y="2464308"/>
            <a:ext cx="48920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92500" lnSpcReduction="20000"/>
          </a:bodyPr>
          <a:lstStyle/>
          <a:p>
            <a:pPr algn="l">
              <a:spcAft>
                <a:spcPts val="300"/>
              </a:spcAft>
            </a:pPr>
            <a:r>
              <a:rPr lang="vi-VN" sz="1600" b="1" dirty="0">
                <a:solidFill>
                  <a:srgbClr val="B45309"/>
                </a:solidFill>
                <a:latin typeface="+mj-lt"/>
                <a:ea typeface="Arial"/>
                <a:cs typeface="Arial"/>
              </a:rPr>
              <a:t>Hạn chế hiện tại</a:t>
            </a:r>
          </a:p>
        </p:txBody>
      </p:sp>
      <p:sp>
        <p:nvSpPr>
          <p:cNvPr id="11" name="TextBox 14">
            <a:extLst>
              <a:ext uri="{FF2B5EF4-FFF2-40B4-BE49-F238E27FC236}">
                <a16:creationId xmlns:a16="http://schemas.microsoft.com/office/drawing/2014/main" id="{B365B2DC-12A4-77F0-5A05-6F1DA7505A9C}"/>
              </a:ext>
            </a:extLst>
          </p:cNvPr>
          <p:cNvSpPr txBox="1"/>
          <p:nvPr/>
        </p:nvSpPr>
        <p:spPr>
          <a:xfrm>
            <a:off x="1245194" y="2830068"/>
            <a:ext cx="4892040" cy="158191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92500" lnSpcReduction="10000"/>
          </a:bodyPr>
          <a:lstStyle/>
          <a:p>
            <a:pPr algn="l">
              <a:spcAft>
                <a:spcPts val="300"/>
              </a:spcAft>
            </a:pPr>
            <a:r>
              <a:rPr lang="vi-VN" sz="13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Chưa có benchmark chuẩn cho retrieval: Precision@k, Recall@k, MRR, nDCG.</a:t>
            </a:r>
          </a:p>
          <a:p>
            <a:pPr algn="l">
              <a:spcAft>
                <a:spcPts val="300"/>
              </a:spcAft>
            </a:pPr>
            <a:r>
              <a:rPr lang="vi-VN" sz="13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nomic-embed-text hoạt động về cơ chế nhưng chất lượng semantic tiếng Việt chưa tối ưu.</a:t>
            </a:r>
          </a:p>
          <a:p>
            <a:pPr algn="l">
              <a:spcAft>
                <a:spcPts val="300"/>
              </a:spcAft>
            </a:pPr>
            <a:r>
              <a:rPr lang="vi-VN" sz="13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Một số tính năng phụ thuộc thiết bị/dịch vụ ngoài: camera, microphone, payment gateway.</a:t>
            </a:r>
          </a:p>
          <a:p>
            <a:pPr algn="l">
              <a:spcAft>
                <a:spcPts val="300"/>
              </a:spcAft>
            </a:pPr>
            <a:r>
              <a:rPr lang="vi-VN" sz="13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VNPay chưa có merchant credentials nên mới ở mức nghiên cứu prototype.</a:t>
            </a:r>
          </a:p>
        </p:txBody>
      </p:sp>
      <p:sp>
        <p:nvSpPr>
          <p:cNvPr id="13" name="Card 15">
            <a:extLst>
              <a:ext uri="{FF2B5EF4-FFF2-40B4-BE49-F238E27FC236}">
                <a16:creationId xmlns:a16="http://schemas.microsoft.com/office/drawing/2014/main" id="{2D6E8F7B-1F5F-E947-120E-4B02BE9FB733}"/>
              </a:ext>
            </a:extLst>
          </p:cNvPr>
          <p:cNvSpPr/>
          <p:nvPr/>
        </p:nvSpPr>
        <p:spPr>
          <a:xfrm>
            <a:off x="6567002" y="2354580"/>
            <a:ext cx="5166360" cy="2148840"/>
          </a:xfrm>
          <a:prstGeom prst="roundRect">
            <a:avLst/>
          </a:prstGeom>
          <a:solidFill>
            <a:srgbClr val="F7F8FB"/>
          </a:solidFill>
          <a:ln w="9000">
            <a:solidFill>
              <a:srgbClr val="D3D8E2"/>
            </a:solidFill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15" name="Accent 16">
            <a:extLst>
              <a:ext uri="{FF2B5EF4-FFF2-40B4-BE49-F238E27FC236}">
                <a16:creationId xmlns:a16="http://schemas.microsoft.com/office/drawing/2014/main" id="{6B4A1214-D32B-D4F3-9FE3-C7F05834841A}"/>
              </a:ext>
            </a:extLst>
          </p:cNvPr>
          <p:cNvSpPr/>
          <p:nvPr/>
        </p:nvSpPr>
        <p:spPr>
          <a:xfrm>
            <a:off x="6567002" y="2354580"/>
            <a:ext cx="64008" cy="2148840"/>
          </a:xfrm>
          <a:prstGeom prst="rect">
            <a:avLst/>
          </a:prstGeom>
          <a:solidFill>
            <a:srgbClr val="20135A"/>
          </a:solidFill>
          <a:ln>
            <a:noFill/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C31B16CB-CEDE-5CCD-E468-D00583217FCF}"/>
              </a:ext>
            </a:extLst>
          </p:cNvPr>
          <p:cNvSpPr txBox="1"/>
          <p:nvPr/>
        </p:nvSpPr>
        <p:spPr>
          <a:xfrm>
            <a:off x="6731594" y="2464308"/>
            <a:ext cx="47091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92500" lnSpcReduction="20000"/>
          </a:bodyPr>
          <a:lstStyle/>
          <a:p>
            <a:pPr algn="l">
              <a:spcAft>
                <a:spcPts val="300"/>
              </a:spcAft>
            </a:pPr>
            <a:r>
              <a:rPr lang="vi-VN" sz="16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Hướng nghiên cứu tiếp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759D2A-A171-838B-6912-2D55338228B6}"/>
              </a:ext>
            </a:extLst>
          </p:cNvPr>
          <p:cNvSpPr txBox="1"/>
          <p:nvPr/>
        </p:nvSpPr>
        <p:spPr>
          <a:xfrm>
            <a:off x="6731594" y="2830068"/>
            <a:ext cx="5074920" cy="158191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So sánh embedding đa ngôn ngữ như BGE-M3 và thêm reranker cross-encoder.</a:t>
            </a:r>
          </a:p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Xây bộ câu hỏi đánh giá Graph RAG theo từng môn thể thao và từng loại entity.</a:t>
            </a:r>
          </a:p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Theo dõi latency/tool-call/hallucination bằng logging và dashboard vận hành.</a:t>
            </a:r>
          </a:p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Mở rộng tri thức nhiều môn, nhiều venue; cho admin duyệt/chỉnh sửa KG.</a:t>
            </a:r>
          </a:p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263238"/>
                </a:solidFill>
                <a:latin typeface="+mj-lt"/>
                <a:ea typeface="Arial"/>
                <a:cs typeface="Arial"/>
              </a:rPr>
              <a:t>• Hoàn thiện VNPay sandbox, idempotency payment và load test production.</a:t>
            </a: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8ABB0C39-A37F-D8FF-8959-90341C1378ED}"/>
              </a:ext>
            </a:extLst>
          </p:cNvPr>
          <p:cNvSpPr/>
          <p:nvPr/>
        </p:nvSpPr>
        <p:spPr>
          <a:xfrm>
            <a:off x="1172042" y="4942332"/>
            <a:ext cx="9509760" cy="685800"/>
          </a:xfrm>
          <a:prstGeom prst="roundRect">
            <a:avLst/>
          </a:prstGeom>
          <a:solidFill>
            <a:srgbClr val="EEF2FF"/>
          </a:solidFill>
          <a:ln w="10000">
            <a:solidFill>
              <a:srgbClr val="C7D2FE"/>
            </a:solidFill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23" name="TextBox 20">
            <a:extLst>
              <a:ext uri="{FF2B5EF4-FFF2-40B4-BE49-F238E27FC236}">
                <a16:creationId xmlns:a16="http://schemas.microsoft.com/office/drawing/2014/main" id="{F9F4993F-C823-980B-AE72-22FA9663B6CB}"/>
              </a:ext>
            </a:extLst>
          </p:cNvPr>
          <p:cNvSpPr txBox="1"/>
          <p:nvPr/>
        </p:nvSpPr>
        <p:spPr>
          <a:xfrm>
            <a:off x="1354922" y="5125212"/>
            <a:ext cx="99669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vi-VN" sz="13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Định hướng chính: biến AI từ trợ lý demo thành thành phần vận hành có đo lường, benchmark và kiểm soát rủi ro rõ ràng.</a:t>
            </a:r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F9B90898-7FD5-FDEC-DDED-031864693C08}"/>
              </a:ext>
            </a:extLst>
          </p:cNvPr>
          <p:cNvSpPr/>
          <p:nvPr/>
        </p:nvSpPr>
        <p:spPr>
          <a:xfrm>
            <a:off x="1076030" y="1467612"/>
            <a:ext cx="73152" cy="502920"/>
          </a:xfrm>
          <a:prstGeom prst="rect">
            <a:avLst/>
          </a:prstGeom>
          <a:solidFill>
            <a:srgbClr val="F2C94C"/>
          </a:solidFill>
          <a:ln>
            <a:noFill/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27" name="TextBox 23">
            <a:extLst>
              <a:ext uri="{FF2B5EF4-FFF2-40B4-BE49-F238E27FC236}">
                <a16:creationId xmlns:a16="http://schemas.microsoft.com/office/drawing/2014/main" id="{9019F79F-FFE0-A0F5-D5CF-031119FC3614}"/>
              </a:ext>
            </a:extLst>
          </p:cNvPr>
          <p:cNvSpPr txBox="1"/>
          <p:nvPr/>
        </p:nvSpPr>
        <p:spPr>
          <a:xfrm>
            <a:off x="1126322" y="1467612"/>
            <a:ext cx="101498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lnSpcReduction="10000"/>
          </a:bodyPr>
          <a:lstStyle/>
          <a:p>
            <a:pPr algn="l">
              <a:spcAft>
                <a:spcPts val="300"/>
              </a:spcAft>
            </a:pPr>
            <a:r>
              <a:rPr lang="vi-VN" sz="28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Hạn chế và hướng phát triển</a:t>
            </a:r>
          </a:p>
        </p:txBody>
      </p:sp>
    </p:spTree>
    <p:extLst>
      <p:ext uri="{BB962C8B-B14F-4D97-AF65-F5344CB8AC3E}">
        <p14:creationId xmlns:p14="http://schemas.microsoft.com/office/powerpoint/2010/main" val="10421433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9C921-0913-246F-99BE-C133784B3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9F407D-6F92-CAF5-162E-94FB3E18E4AC}"/>
              </a:ext>
            </a:extLst>
          </p:cNvPr>
          <p:cNvSpPr txBox="1"/>
          <p:nvPr/>
        </p:nvSpPr>
        <p:spPr>
          <a:xfrm>
            <a:off x="1950719" y="356486"/>
            <a:ext cx="8290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>
                <a:solidFill>
                  <a:schemeClr val="bg1"/>
                </a:solidFill>
                <a:latin typeface="+mj-lt"/>
              </a:rPr>
              <a:t>ĐẠI HỌC GIAO THÔNG VẬN TẢI PHÂN HIỆ</a:t>
            </a:r>
            <a:r>
              <a:rPr lang="en-US" altLang="vi-VN" b="1" dirty="0">
                <a:solidFill>
                  <a:schemeClr val="bg1"/>
                </a:solidFill>
                <a:latin typeface="+mj-lt"/>
              </a:rPr>
              <a:t>U</a:t>
            </a:r>
            <a:r>
              <a:rPr lang="vi-VN" b="1" dirty="0">
                <a:solidFill>
                  <a:schemeClr val="bg1"/>
                </a:solidFill>
                <a:latin typeface="+mj-lt"/>
              </a:rPr>
              <a:t> THÀNH PHỐ HỒ CHÍ MINH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4E002F7-0E4C-1B1B-525B-852D1E165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FCFE7-4CFC-4698-A5C8-57D6C94FD847}" type="slidenum">
              <a:rPr lang="en-US" smtClean="0"/>
              <a:t>20</a:t>
            </a:fld>
            <a:endParaRPr lang="en-US"/>
          </a:p>
        </p:txBody>
      </p:sp>
      <p:sp>
        <p:nvSpPr>
          <p:cNvPr id="4" name="Shape 11">
            <a:extLst>
              <a:ext uri="{FF2B5EF4-FFF2-40B4-BE49-F238E27FC236}">
                <a16:creationId xmlns:a16="http://schemas.microsoft.com/office/drawing/2014/main" id="{2141EE59-4324-050D-38E7-22AD6CB30A50}"/>
              </a:ext>
            </a:extLst>
          </p:cNvPr>
          <p:cNvSpPr/>
          <p:nvPr/>
        </p:nvSpPr>
        <p:spPr>
          <a:xfrm>
            <a:off x="1341120" y="2197148"/>
            <a:ext cx="10149840" cy="2331720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CBD5E1"/>
            </a:solidFill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6" name="TextBox 12">
            <a:extLst>
              <a:ext uri="{FF2B5EF4-FFF2-40B4-BE49-F238E27FC236}">
                <a16:creationId xmlns:a16="http://schemas.microsoft.com/office/drawing/2014/main" id="{6FC5E276-90E0-83F3-F8A2-AC1156E6AF9B}"/>
              </a:ext>
            </a:extLst>
          </p:cNvPr>
          <p:cNvSpPr txBox="1"/>
          <p:nvPr/>
        </p:nvSpPr>
        <p:spPr>
          <a:xfrm>
            <a:off x="1615440" y="2425748"/>
            <a:ext cx="964692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85000" lnSpcReduction="20000"/>
          </a:bodyPr>
          <a:lstStyle/>
          <a:p>
            <a:pPr algn="l">
              <a:spcAft>
                <a:spcPts val="300"/>
              </a:spcAft>
            </a:pPr>
            <a:r>
              <a:rPr lang="vi-VN" sz="17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Đồ án đã xây dựng hệ thống quản trị cơ sở thể thao thông minh với app Flutter, backend FastAPI và lớp AI tập trung vào Graph RAG + AI Agent.</a:t>
            </a:r>
          </a:p>
        </p:txBody>
      </p:sp>
      <p:sp>
        <p:nvSpPr>
          <p:cNvPr id="9" name="TextBox 13">
            <a:extLst>
              <a:ext uri="{FF2B5EF4-FFF2-40B4-BE49-F238E27FC236}">
                <a16:creationId xmlns:a16="http://schemas.microsoft.com/office/drawing/2014/main" id="{817F1790-C6B1-C973-DCCF-8A1C9FC869CC}"/>
              </a:ext>
            </a:extLst>
          </p:cNvPr>
          <p:cNvSpPr txBox="1"/>
          <p:nvPr/>
        </p:nvSpPr>
        <p:spPr>
          <a:xfrm>
            <a:off x="1615440" y="3157268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77500" lnSpcReduction="20000"/>
          </a:bodyPr>
          <a:lstStyle/>
          <a:p>
            <a:pPr algn="l">
              <a:spcAft>
                <a:spcPts val="300"/>
              </a:spcAft>
            </a:pPr>
            <a:r>
              <a:rPr lang="vi-VN" sz="1600" b="1" dirty="0">
                <a:solidFill>
                  <a:srgbClr val="B45309"/>
                </a:solidFill>
                <a:latin typeface="+mj-lt"/>
                <a:ea typeface="Arial"/>
                <a:cs typeface="Arial"/>
              </a:rPr>
              <a:t>Đóng góp chính</a:t>
            </a:r>
          </a:p>
        </p:txBody>
      </p:sp>
      <p:sp>
        <p:nvSpPr>
          <p:cNvPr id="11" name="TextBox 14">
            <a:extLst>
              <a:ext uri="{FF2B5EF4-FFF2-40B4-BE49-F238E27FC236}">
                <a16:creationId xmlns:a16="http://schemas.microsoft.com/office/drawing/2014/main" id="{3103BD68-E8D1-09F3-3AB7-91B132425A0B}"/>
              </a:ext>
            </a:extLst>
          </p:cNvPr>
          <p:cNvSpPr txBox="1"/>
          <p:nvPr/>
        </p:nvSpPr>
        <p:spPr>
          <a:xfrm>
            <a:off x="1798320" y="3477308"/>
            <a:ext cx="6327763" cy="10515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334155"/>
                </a:solidFill>
                <a:latin typeface="+mj-lt"/>
                <a:ea typeface="Arial"/>
                <a:cs typeface="Arial"/>
              </a:rPr>
              <a:t>• Graph RAG tổ chức và truy hồi tri thức luật/kỹ thuật theo quan hệ Neo4j.</a:t>
            </a:r>
          </a:p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334155"/>
                </a:solidFill>
                <a:latin typeface="+mj-lt"/>
                <a:ea typeface="Arial"/>
                <a:cs typeface="Arial"/>
              </a:rPr>
              <a:t>• AI Agent chuyển ngôn ngữ tự nhiên thành hành động nghiệp vụ qua tool calling.</a:t>
            </a:r>
          </a:p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334155"/>
                </a:solidFill>
                <a:latin typeface="+mj-lt"/>
                <a:ea typeface="Arial"/>
                <a:cs typeface="Arial"/>
              </a:rPr>
              <a:t>• Dữ liệu tin cậy vẫn được kiểm soát bởi backend service, repository và database.</a:t>
            </a:r>
          </a:p>
          <a:p>
            <a:pPr algn="l">
              <a:spcAft>
                <a:spcPts val="300"/>
              </a:spcAft>
            </a:pPr>
            <a:r>
              <a:rPr lang="vi-VN" sz="1200" dirty="0">
                <a:solidFill>
                  <a:srgbClr val="334155"/>
                </a:solidFill>
                <a:latin typeface="+mj-lt"/>
                <a:ea typeface="Arial"/>
                <a:cs typeface="Arial"/>
              </a:rPr>
              <a:t>• Hệ thống có đủ luồng demo: hỏi tri thức, đặt sân, gọi món, gọi nhân viên, thanh toán test.</a:t>
            </a:r>
          </a:p>
        </p:txBody>
      </p:sp>
      <p:sp>
        <p:nvSpPr>
          <p:cNvPr id="13" name="TextBox 15">
            <a:extLst>
              <a:ext uri="{FF2B5EF4-FFF2-40B4-BE49-F238E27FC236}">
                <a16:creationId xmlns:a16="http://schemas.microsoft.com/office/drawing/2014/main" id="{3BCE82D8-918D-496B-BBDA-ADB7E30B5310}"/>
              </a:ext>
            </a:extLst>
          </p:cNvPr>
          <p:cNvSpPr txBox="1"/>
          <p:nvPr/>
        </p:nvSpPr>
        <p:spPr>
          <a:xfrm>
            <a:off x="1341120" y="5236869"/>
            <a:ext cx="104241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lnSpcReduction="10000"/>
          </a:bodyPr>
          <a:lstStyle/>
          <a:p>
            <a:pPr algn="l">
              <a:spcAft>
                <a:spcPts val="300"/>
              </a:spcAft>
            </a:pPr>
            <a:r>
              <a:rPr lang="vi-VN" sz="22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XIN CẢM ƠN QUÝ THẦY CÔ VÀ HỘI ĐỒNG</a:t>
            </a:r>
          </a:p>
        </p:txBody>
      </p:sp>
      <p:sp>
        <p:nvSpPr>
          <p:cNvPr id="15" name="Shape 17">
            <a:extLst>
              <a:ext uri="{FF2B5EF4-FFF2-40B4-BE49-F238E27FC236}">
                <a16:creationId xmlns:a16="http://schemas.microsoft.com/office/drawing/2014/main" id="{582ABBF0-82F4-7822-D7A7-2025B6B84C63}"/>
              </a:ext>
            </a:extLst>
          </p:cNvPr>
          <p:cNvSpPr/>
          <p:nvPr/>
        </p:nvSpPr>
        <p:spPr>
          <a:xfrm>
            <a:off x="1137077" y="1310180"/>
            <a:ext cx="73152" cy="502920"/>
          </a:xfrm>
          <a:prstGeom prst="rect">
            <a:avLst/>
          </a:prstGeom>
          <a:solidFill>
            <a:srgbClr val="F2C94C"/>
          </a:solidFill>
          <a:ln>
            <a:noFill/>
          </a:ln>
        </p:spPr>
        <p:txBody>
          <a:bodyPr/>
          <a:lstStyle/>
          <a:p>
            <a:endParaRPr>
              <a:latin typeface="+mj-lt"/>
            </a:endParaRPr>
          </a:p>
        </p:txBody>
      </p:sp>
      <p:sp>
        <p:nvSpPr>
          <p:cNvPr id="17" name="TextBox 18">
            <a:extLst>
              <a:ext uri="{FF2B5EF4-FFF2-40B4-BE49-F238E27FC236}">
                <a16:creationId xmlns:a16="http://schemas.microsoft.com/office/drawing/2014/main" id="{53E9F947-D002-97CB-D3E1-F9458F60FF09}"/>
              </a:ext>
            </a:extLst>
          </p:cNvPr>
          <p:cNvSpPr txBox="1"/>
          <p:nvPr/>
        </p:nvSpPr>
        <p:spPr>
          <a:xfrm>
            <a:off x="1203960" y="1310180"/>
            <a:ext cx="101498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lnSpcReduction="10000"/>
          </a:bodyPr>
          <a:lstStyle/>
          <a:p>
            <a:pPr algn="l">
              <a:spcAft>
                <a:spcPts val="300"/>
              </a:spcAft>
            </a:pPr>
            <a:r>
              <a:rPr lang="vi-VN" sz="2800" b="1" dirty="0">
                <a:solidFill>
                  <a:srgbClr val="20135A"/>
                </a:solidFill>
                <a:latin typeface="+mj-lt"/>
                <a:ea typeface="Arial"/>
                <a:cs typeface="Arial"/>
              </a:rPr>
              <a:t>Kết luận</a:t>
            </a:r>
          </a:p>
        </p:txBody>
      </p:sp>
    </p:spTree>
    <p:extLst>
      <p:ext uri="{BB962C8B-B14F-4D97-AF65-F5344CB8AC3E}">
        <p14:creationId xmlns:p14="http://schemas.microsoft.com/office/powerpoint/2010/main" val="13049959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50719" y="356486"/>
            <a:ext cx="8290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>
                <a:solidFill>
                  <a:schemeClr val="bg1"/>
                </a:solidFill>
                <a:latin typeface="+mj-lt"/>
              </a:rPr>
              <a:t>ĐẠI HỌC GIAO THÔNG VẬN TẢI PHÂN HIỆ</a:t>
            </a:r>
            <a:r>
              <a:rPr lang="en-US" altLang="vi-VN" b="1" dirty="0">
                <a:solidFill>
                  <a:schemeClr val="bg1"/>
                </a:solidFill>
                <a:latin typeface="+mj-lt"/>
              </a:rPr>
              <a:t>U</a:t>
            </a:r>
            <a:r>
              <a:rPr lang="vi-VN" b="1" dirty="0">
                <a:solidFill>
                  <a:schemeClr val="bg1"/>
                </a:solidFill>
                <a:latin typeface="+mj-lt"/>
              </a:rPr>
              <a:t> THÀNH PHỐ HỒ CHÍ MINH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FCFE7-4CFC-4698-A5C8-57D6C94FD847}" type="slidenum">
              <a:rPr lang="en-US" smtClean="0"/>
              <a:t>21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46679" y="3187814"/>
            <a:ext cx="6898640" cy="7065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466725" marR="8890" indent="-6350" algn="ctr">
              <a:lnSpc>
                <a:spcPct val="107000"/>
              </a:lnSpc>
              <a:spcAft>
                <a:spcPts val="1225"/>
              </a:spcAft>
            </a:pPr>
            <a:r>
              <a:rPr lang="vi-VN" sz="4000" b="1" kern="100" dirty="0">
                <a:solidFill>
                  <a:srgbClr val="29176D"/>
                </a:solidFill>
                <a:effectLst/>
                <a:latin typeface="Times New Roman" panose="02020603050405020304"/>
                <a:ea typeface="Times New Roman" panose="02020603050405020304" pitchFamily="18" charset="0"/>
                <a:cs typeface="Times New Roman" panose="02020603050405020304"/>
              </a:rPr>
              <a:t>CHƯƠNG </a:t>
            </a:r>
            <a:r>
              <a:rPr lang="vi-VN" sz="4000" b="1" kern="100" dirty="0">
                <a:solidFill>
                  <a:srgbClr val="29176D"/>
                </a:solidFill>
                <a:latin typeface="Times New Roman" panose="02020603050405020304"/>
                <a:ea typeface="Times New Roman" panose="02020603050405020304" pitchFamily="18" charset="0"/>
                <a:cs typeface="Times New Roman" panose="02020603050405020304"/>
              </a:rPr>
              <a:t>2</a:t>
            </a:r>
            <a:r>
              <a:rPr lang="vi-VN" sz="4000" b="1" kern="100" dirty="0">
                <a:solidFill>
                  <a:srgbClr val="29176D"/>
                </a:solidFill>
                <a:effectLst/>
                <a:latin typeface="Times New Roman" panose="02020603050405020304"/>
                <a:ea typeface="Times New Roman" panose="02020603050405020304" pitchFamily="18" charset="0"/>
                <a:cs typeface="Times New Roman" panose="02020603050405020304"/>
              </a:rPr>
              <a:t>. </a:t>
            </a:r>
            <a:r>
              <a:rPr lang="vi-VN" sz="4000" b="1" kern="100" dirty="0">
                <a:solidFill>
                  <a:srgbClr val="29176D"/>
                </a:solidFill>
                <a:latin typeface="Times New Roman" panose="02020603050405020304"/>
                <a:ea typeface="Times New Roman" panose="02020603050405020304" pitchFamily="18" charset="0"/>
                <a:cs typeface="Times New Roman" panose="02020603050405020304"/>
              </a:rPr>
              <a:t>DEMO</a:t>
            </a:r>
            <a:r>
              <a:rPr lang="vi-VN" sz="4000" b="1" kern="100" dirty="0">
                <a:solidFill>
                  <a:srgbClr val="29176D"/>
                </a:solidFill>
                <a:effectLst/>
                <a:latin typeface="Times New Roman" panose="02020603050405020304"/>
                <a:ea typeface="Times New Roman" panose="02020603050405020304" pitchFamily="18" charset="0"/>
                <a:cs typeface="Times New Roman" panose="02020603050405020304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3353</Words>
  <Application>Microsoft Office PowerPoint</Application>
  <PresentationFormat>Widescreen</PresentationFormat>
  <Paragraphs>402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Calibri Light</vt:lpstr>
      <vt:lpstr>Times New Roman</vt:lpstr>
      <vt:lpstr>Office Theme</vt:lpstr>
      <vt:lpstr>1_Custom Design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quoc khanh</dc:creator>
  <cp:lastModifiedBy>叶秋 Oshino</cp:lastModifiedBy>
  <cp:revision>439</cp:revision>
  <dcterms:created xsi:type="dcterms:W3CDTF">2021-04-24T02:00:00Z</dcterms:created>
  <dcterms:modified xsi:type="dcterms:W3CDTF">2026-06-24T08:05:53Z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A219F341D3C94EE1B11FBA59D7049A7D_12</vt:lpwstr>
  </property>
  <property fmtid="{D5CDD505-2E9C-101B-9397-08002B2CF9AE}" pid="3" name="KSOProductBuildVer">
    <vt:lpwstr>1033-12.2.0.19805</vt:lpwstr>
  </property>
</Properties>
</file>